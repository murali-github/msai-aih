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DEEC2A-14B0-7FC3-6F3D-B2F654A136C2}" v="2" dt="2026-07-19T13:47:30.0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ICU stays</c:v>
                </c:pt>
              </c:strCache>
            </c:strRef>
          </c:tx>
          <c:spPr>
            <a:solidFill>
              <a:srgbClr val="028090"/>
            </a:solidFill>
            <a:effectLst/>
          </c:spPr>
          <c:invertIfNegative val="0"/>
          <c:dLbls>
            <c:numFmt formatCode="#,##0" sourceLinked="0"/>
            <c:spPr>
              <a:noFill/>
              <a:ln>
                <a:noFill/>
              </a:ln>
              <a:effectLst/>
            </c:spPr>
            <c:txPr>
              <a:bodyPr/>
              <a:lstStyle/>
              <a:p>
                <a:pPr>
                  <a:defRPr sz="10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All ICU
stays</c:v>
                </c:pt>
                <c:pt idx="1">
                  <c:v>First stay
only</c:v>
                </c:pt>
                <c:pt idx="2">
                  <c:v>LOS ≥
24h</c:v>
                </c:pt>
                <c:pt idx="3">
                  <c:v>Adults,
no newborns</c:v>
                </c:pt>
                <c:pt idx="4">
                  <c:v>After
missingness</c:v>
                </c:pt>
              </c:strCache>
            </c:strRef>
          </c:cat>
          <c:val>
            <c:numRef>
              <c:f>Sheet1!$B$2:$B$6</c:f>
              <c:numCache>
                <c:formatCode>General</c:formatCode>
                <c:ptCount val="5"/>
                <c:pt idx="0">
                  <c:v>61532</c:v>
                </c:pt>
                <c:pt idx="1">
                  <c:v>46476</c:v>
                </c:pt>
                <c:pt idx="2">
                  <c:v>36832</c:v>
                </c:pt>
                <c:pt idx="3">
                  <c:v>33011</c:v>
                </c:pt>
                <c:pt idx="4">
                  <c:v>32233</c:v>
                </c:pt>
              </c:numCache>
            </c:numRef>
          </c:val>
          <c:extLst>
            <c:ext xmlns:c16="http://schemas.microsoft.com/office/drawing/2014/chart" uri="{C3380CC4-5D6E-409C-BE32-E72D297353CC}">
              <c16:uniqueId val="{00000000-3364-48CD-9C68-B4569EC21B3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464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Mortality rate</c:v>
                </c:pt>
              </c:strCache>
            </c:strRef>
          </c:tx>
          <c:spPr>
            <a:solidFill>
              <a:srgbClr val="00A896"/>
            </a:solidFill>
            <a:effectLst/>
          </c:spPr>
          <c:invertIfNegative val="0"/>
          <c:dPt>
            <c:idx val="0"/>
            <c:invertIfNegative val="0"/>
            <c:bubble3D val="0"/>
            <c:extLst>
              <c:ext xmlns:c16="http://schemas.microsoft.com/office/drawing/2014/chart" uri="{C3380CC4-5D6E-409C-BE32-E72D297353CC}">
                <c16:uniqueId val="{00000001-8574-4437-96CE-01182AF71F1A}"/>
              </c:ext>
            </c:extLst>
          </c:dPt>
          <c:dPt>
            <c:idx val="1"/>
            <c:invertIfNegative val="0"/>
            <c:bubble3D val="0"/>
            <c:spPr>
              <a:solidFill>
                <a:srgbClr val="028090"/>
              </a:solidFill>
              <a:effectLst/>
            </c:spPr>
            <c:extLst>
              <c:ext xmlns:c16="http://schemas.microsoft.com/office/drawing/2014/chart" uri="{C3380CC4-5D6E-409C-BE32-E72D297353CC}">
                <c16:uniqueId val="{00000003-8574-4437-96CE-01182AF71F1A}"/>
              </c:ext>
            </c:extLst>
          </c:dPt>
          <c:dLbls>
            <c:numFmt formatCode="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
(n=19,855)
stable</c:v>
                </c:pt>
                <c:pt idx="1">
                  <c:v>Cluster 1
(n=12,378)
acute</c:v>
                </c:pt>
              </c:strCache>
            </c:strRef>
          </c:cat>
          <c:val>
            <c:numRef>
              <c:f>Sheet1!$B$2:$B$3</c:f>
              <c:numCache>
                <c:formatCode>General</c:formatCode>
                <c:ptCount val="2"/>
                <c:pt idx="0">
                  <c:v>6.4000000000000001E-2</c:v>
                </c:pt>
                <c:pt idx="1">
                  <c:v>0.17699999999999999</c:v>
                </c:pt>
              </c:numCache>
            </c:numRef>
          </c:val>
          <c:extLst>
            <c:ext xmlns:c16="http://schemas.microsoft.com/office/drawing/2014/chart" uri="{C3380CC4-5D6E-409C-BE32-E72D297353CC}">
              <c16:uniqueId val="{00000004-8574-4437-96CE-01182AF71F1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64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Mortality rate</c:v>
                </c:pt>
              </c:strCache>
            </c:strRef>
          </c:tx>
          <c:spPr>
            <a:solidFill>
              <a:srgbClr val="028090"/>
            </a:solidFill>
            <a:effectLst/>
          </c:spPr>
          <c:invertIfNegative val="0"/>
          <c:dLbls>
            <c:numFmt formatCode="0%" sourceLinked="0"/>
            <c:spPr>
              <a:noFill/>
              <a:ln>
                <a:noFill/>
              </a:ln>
              <a:effectLst/>
            </c:spPr>
            <c:txPr>
              <a:bodyPr/>
              <a:lstStyle/>
              <a:p>
                <a:pPr>
                  <a:defRPr sz="10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C0</c:v>
                </c:pt>
                <c:pt idx="1">
                  <c:v>C1</c:v>
                </c:pt>
                <c:pt idx="2">
                  <c:v>C2</c:v>
                </c:pt>
                <c:pt idx="3">
                  <c:v>C3</c:v>
                </c:pt>
                <c:pt idx="4">
                  <c:v>C4</c:v>
                </c:pt>
                <c:pt idx="5">
                  <c:v>C5</c:v>
                </c:pt>
                <c:pt idx="6">
                  <c:v>C6</c:v>
                </c:pt>
              </c:strCache>
            </c:strRef>
          </c:cat>
          <c:val>
            <c:numRef>
              <c:f>Sheet1!$B$2:$B$8</c:f>
              <c:numCache>
                <c:formatCode>General</c:formatCode>
                <c:ptCount val="7"/>
                <c:pt idx="0">
                  <c:v>0.14199999999999999</c:v>
                </c:pt>
                <c:pt idx="1">
                  <c:v>0.16900000000000001</c:v>
                </c:pt>
                <c:pt idx="2">
                  <c:v>8.4000000000000005E-2</c:v>
                </c:pt>
                <c:pt idx="3">
                  <c:v>6.3E-2</c:v>
                </c:pt>
                <c:pt idx="4">
                  <c:v>0.104</c:v>
                </c:pt>
                <c:pt idx="5">
                  <c:v>0.105</c:v>
                </c:pt>
                <c:pt idx="6">
                  <c:v>0.13500000000000001</c:v>
                </c:pt>
              </c:numCache>
            </c:numRef>
          </c:val>
          <c:extLst>
            <c:ext xmlns:c16="http://schemas.microsoft.com/office/drawing/2014/chart" uri="{C3380CC4-5D6E-409C-BE32-E72D297353CC}">
              <c16:uniqueId val="{00000000-B625-4C4D-820E-9EF2B5E2C8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64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Cramer's V</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5C73-45DA-9D98-4FC9F9FAD6F0}"/>
              </c:ext>
            </c:extLst>
          </c:dPt>
          <c:dPt>
            <c:idx val="1"/>
            <c:invertIfNegative val="0"/>
            <c:bubble3D val="0"/>
            <c:spPr>
              <a:solidFill>
                <a:srgbClr val="00A896"/>
              </a:solidFill>
              <a:effectLst/>
            </c:spPr>
            <c:extLst>
              <c:ext xmlns:c16="http://schemas.microsoft.com/office/drawing/2014/chart" uri="{C3380CC4-5D6E-409C-BE32-E72D297353CC}">
                <c16:uniqueId val="{00000003-5C73-45DA-9D98-4FC9F9FAD6F0}"/>
              </c:ext>
            </c:extLst>
          </c:dPt>
          <c:dLbls>
            <c:numFmt formatCode="#,##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Vitals clusters</c:v>
                </c:pt>
                <c:pt idx="1">
                  <c:v>Comorbidity clusters</c:v>
                </c:pt>
              </c:strCache>
            </c:strRef>
          </c:cat>
          <c:val>
            <c:numRef>
              <c:f>Sheet1!$B$2:$B$3</c:f>
              <c:numCache>
                <c:formatCode>General</c:formatCode>
                <c:ptCount val="2"/>
                <c:pt idx="0">
                  <c:v>0.17799999999999999</c:v>
                </c:pt>
                <c:pt idx="1">
                  <c:v>9.6000000000000002E-2</c:v>
                </c:pt>
              </c:numCache>
            </c:numRef>
          </c:val>
          <c:extLst>
            <c:ext xmlns:c16="http://schemas.microsoft.com/office/drawing/2014/chart" uri="{C3380CC4-5D6E-409C-BE32-E72D297353CC}">
              <c16:uniqueId val="{00000004-5C73-45DA-9D98-4FC9F9FAD6F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464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eta-squared</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9BA8-4086-AFC9-0E7F0ACE446C}"/>
              </c:ext>
            </c:extLst>
          </c:dPt>
          <c:dPt>
            <c:idx val="1"/>
            <c:invertIfNegative val="0"/>
            <c:bubble3D val="0"/>
            <c:spPr>
              <a:solidFill>
                <a:srgbClr val="00A896"/>
              </a:solidFill>
              <a:effectLst/>
            </c:spPr>
            <c:extLst>
              <c:ext xmlns:c16="http://schemas.microsoft.com/office/drawing/2014/chart" uri="{C3380CC4-5D6E-409C-BE32-E72D297353CC}">
                <c16:uniqueId val="{00000003-9BA8-4086-AFC9-0E7F0ACE446C}"/>
              </c:ext>
            </c:extLst>
          </c:dPt>
          <c:dLbls>
            <c:numFmt formatCode="#,##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Vitals clusters</c:v>
                </c:pt>
                <c:pt idx="1">
                  <c:v>Comorbidity clusters</c:v>
                </c:pt>
              </c:strCache>
            </c:strRef>
          </c:cat>
          <c:val>
            <c:numRef>
              <c:f>Sheet1!$B$2:$B$3</c:f>
              <c:numCache>
                <c:formatCode>General</c:formatCode>
                <c:ptCount val="2"/>
                <c:pt idx="0">
                  <c:v>3.2000000000000001E-2</c:v>
                </c:pt>
                <c:pt idx="1">
                  <c:v>1.4E-2</c:v>
                </c:pt>
              </c:numCache>
            </c:numRef>
          </c:val>
          <c:extLst>
            <c:ext xmlns:c16="http://schemas.microsoft.com/office/drawing/2014/chart" uri="{C3380CC4-5D6E-409C-BE32-E72D297353CC}">
              <c16:uniqueId val="{00000004-9BA8-4086-AFC9-0E7F0ACE446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464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difference, Cluster 1 vs Cluster 0</c:v>
                </c:pt>
              </c:strCache>
            </c:strRef>
          </c:tx>
          <c:spPr>
            <a:solidFill>
              <a:srgbClr val="028090"/>
            </a:solidFill>
            <a:effectLst/>
          </c:spPr>
          <c:invertIfNegative val="0"/>
          <c:dLbls>
            <c:numFmt formatCode="\+0.0%;\-0.0%" sourceLinked="0"/>
            <c:spPr>
              <a:noFill/>
              <a:ln>
                <a:noFill/>
              </a:ln>
              <a:effectLst/>
            </c:spPr>
            <c:txPr>
              <a:bodyPr/>
              <a:lstStyle/>
              <a:p>
                <a:pPr>
                  <a:defRPr sz="11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GCS
(consciousness)</c:v>
                </c:pt>
                <c:pt idx="1">
                  <c:v>Lactate</c:v>
                </c:pt>
                <c:pt idx="2">
                  <c:v>WBC</c:v>
                </c:pt>
                <c:pt idx="3">
                  <c:v>Heart rate</c:v>
                </c:pt>
              </c:strCache>
            </c:strRef>
          </c:cat>
          <c:val>
            <c:numRef>
              <c:f>Sheet1!$B$2:$B$5</c:f>
              <c:numCache>
                <c:formatCode>General</c:formatCode>
                <c:ptCount val="4"/>
                <c:pt idx="0">
                  <c:v>-25.9</c:v>
                </c:pt>
                <c:pt idx="1">
                  <c:v>64.7</c:v>
                </c:pt>
                <c:pt idx="2">
                  <c:v>34.6</c:v>
                </c:pt>
                <c:pt idx="3">
                  <c:v>8.9</c:v>
                </c:pt>
              </c:numCache>
            </c:numRef>
          </c:val>
          <c:extLst>
            <c:ext xmlns:c16="http://schemas.microsoft.com/office/drawing/2014/chart" uri="{C3380CC4-5D6E-409C-BE32-E72D297353CC}">
              <c16:uniqueId val="{00000000-2E88-439C-A199-5506EBC78D5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464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98F3D3F-B782-46A3-BFDE-5061CCC3BBF6}" type="datetimeFigureOut">
              <a:t>7/19/2026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4E76152-0411-4688-8097-3C11A73AEC1A}" type="slidenum">
              <a:t>‹#›</a:t>
            </a:fld>
            <a:endParaRPr lang="en-US"/>
          </a:p>
        </p:txBody>
      </p:sp>
    </p:spTree>
    <p:extLst>
      <p:ext uri="{BB962C8B-B14F-4D97-AF65-F5344CB8AC3E}">
        <p14:creationId xmlns:p14="http://schemas.microsoft.com/office/powerpoint/2010/main" val="2718090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link: [add your GitHub or Colab link here before submitting]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828800"/>
            <a:ext cx="10515600" cy="1828800"/>
          </a:xfrm>
          <a:prstGeom prst="rect">
            <a:avLst/>
          </a:prstGeom>
          <a:noFill/>
          <a:ln/>
        </p:spPr>
        <p:txBody>
          <a:bodyPr wrap="square" rtlCol="0" anchor="ctr"/>
          <a:lstStyle/>
          <a:p>
            <a:pPr marL="0" indent="0">
              <a:lnSpc>
                <a:spcPct val="105000"/>
              </a:lnSpc>
              <a:buNone/>
            </a:pPr>
            <a:r>
              <a:rPr lang="en-US" sz="4200" b="1" dirty="0">
                <a:solidFill>
                  <a:srgbClr val="1E2761"/>
                </a:solidFill>
                <a:latin typeface="Cambria" pitchFamily="34" charset="0"/>
                <a:ea typeface="Cambria" pitchFamily="34" charset="-122"/>
                <a:cs typeface="Cambria" pitchFamily="34" charset="-120"/>
              </a:rPr>
              <a:t>ICU Patient Phenotypes</a:t>
            </a:r>
            <a:endParaRPr lang="en-US" sz="4200" dirty="0"/>
          </a:p>
          <a:p>
            <a:pPr marL="0" indent="0">
              <a:lnSpc>
                <a:spcPct val="105000"/>
              </a:lnSpc>
              <a:buNone/>
            </a:pPr>
            <a:r>
              <a:rPr lang="en-US" sz="4200" b="1" dirty="0">
                <a:solidFill>
                  <a:srgbClr val="1E2761"/>
                </a:solidFill>
                <a:latin typeface="Cambria" pitchFamily="34" charset="0"/>
                <a:ea typeface="Cambria" pitchFamily="34" charset="-122"/>
                <a:cs typeface="Cambria" pitchFamily="34" charset="-120"/>
              </a:rPr>
              <a:t>from MIMIC-III</a:t>
            </a:r>
            <a:endParaRPr lang="en-US" sz="4200" dirty="0"/>
          </a:p>
        </p:txBody>
      </p:sp>
      <p:sp>
        <p:nvSpPr>
          <p:cNvPr id="3" name="Text 1"/>
          <p:cNvSpPr/>
          <p:nvPr/>
        </p:nvSpPr>
        <p:spPr>
          <a:xfrm>
            <a:off x="548640" y="3429000"/>
            <a:ext cx="8686800" cy="914400"/>
          </a:xfrm>
          <a:prstGeom prst="rect">
            <a:avLst/>
          </a:prstGeom>
          <a:noFill/>
          <a:ln/>
        </p:spPr>
        <p:txBody>
          <a:bodyPr wrap="square" rtlCol="0" anchor="ctr"/>
          <a:lstStyle/>
          <a:p>
            <a:pPr marL="0" indent="0">
              <a:lnSpc>
                <a:spcPct val="130000"/>
              </a:lnSpc>
              <a:buNone/>
            </a:pPr>
            <a:r>
              <a:rPr lang="en-US" sz="1600" dirty="0">
                <a:solidFill>
                  <a:srgbClr val="6B7280"/>
                </a:solidFill>
                <a:latin typeface="Calibri" pitchFamily="34" charset="0"/>
                <a:ea typeface="Calibri" pitchFamily="34" charset="-122"/>
                <a:cs typeface="Calibri" pitchFamily="34" charset="-120"/>
              </a:rPr>
              <a:t>Grouping ICU patients two different ways - by how sick they look right now, and by what chronic conditions they came in with - then checking whether the two groupings agree.</a:t>
            </a:r>
            <a:endParaRPr lang="en-US" sz="1600" dirty="0"/>
          </a:p>
        </p:txBody>
      </p:sp>
      <p:sp>
        <p:nvSpPr>
          <p:cNvPr id="4" name="Shape 2"/>
          <p:cNvSpPr/>
          <p:nvPr/>
        </p:nvSpPr>
        <p:spPr>
          <a:xfrm>
            <a:off x="548640" y="5989320"/>
            <a:ext cx="2743200" cy="0"/>
          </a:xfrm>
          <a:prstGeom prst="line">
            <a:avLst/>
          </a:prstGeom>
          <a:noFill/>
          <a:ln w="25400">
            <a:solidFill>
              <a:srgbClr val="00A896"/>
            </a:solidFill>
            <a:prstDash val="solid"/>
          </a:ln>
        </p:spPr>
      </p:sp>
      <p:sp>
        <p:nvSpPr>
          <p:cNvPr id="5" name="Text 3"/>
          <p:cNvSpPr/>
          <p:nvPr/>
        </p:nvSpPr>
        <p:spPr>
          <a:xfrm>
            <a:off x="548640" y="6126480"/>
            <a:ext cx="91440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A SELF-LEARNING TUTORIAL  |  MIMIC-III + BIGQUERY + PYTHON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Look at This?</a:t>
            </a:r>
            <a:endParaRPr lang="en-US" sz="3000" dirty="0"/>
          </a:p>
        </p:txBody>
      </p:sp>
      <p:sp>
        <p:nvSpPr>
          <p:cNvPr id="4" name="Shape 2"/>
          <p:cNvSpPr/>
          <p:nvPr/>
        </p:nvSpPr>
        <p:spPr>
          <a:xfrm>
            <a:off x="548640" y="1828800"/>
            <a:ext cx="342900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029968"/>
            <a:ext cx="297180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Doctors already do this</a:t>
            </a:r>
            <a:endParaRPr lang="en-US" sz="1600" dirty="0"/>
          </a:p>
        </p:txBody>
      </p:sp>
      <p:sp>
        <p:nvSpPr>
          <p:cNvPr id="6" name="Text 4"/>
          <p:cNvSpPr/>
          <p:nvPr/>
        </p:nvSpPr>
        <p:spPr>
          <a:xfrm>
            <a:off x="777240" y="2450592"/>
            <a:ext cx="297180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Clinicians informally sort patients into "the sick ones" and "the stable ones," and separately track who has a long medical history. We rarely check whether those two mental categories actually line up.</a:t>
            </a:r>
            <a:endParaRPr lang="en-US" sz="1250" dirty="0"/>
          </a:p>
        </p:txBody>
      </p:sp>
      <p:sp>
        <p:nvSpPr>
          <p:cNvPr id="7" name="Shape 5"/>
          <p:cNvSpPr/>
          <p:nvPr/>
        </p:nvSpPr>
        <p:spPr>
          <a:xfrm>
            <a:off x="4297680" y="1828800"/>
            <a:ext cx="342900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8" name="Text 6"/>
          <p:cNvSpPr/>
          <p:nvPr/>
        </p:nvSpPr>
        <p:spPr>
          <a:xfrm>
            <a:off x="4526280" y="2029968"/>
            <a:ext cx="297180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No labels required</a:t>
            </a:r>
            <a:endParaRPr lang="en-US" sz="1600" dirty="0"/>
          </a:p>
        </p:txBody>
      </p:sp>
      <p:sp>
        <p:nvSpPr>
          <p:cNvPr id="9" name="Text 7"/>
          <p:cNvSpPr/>
          <p:nvPr/>
        </p:nvSpPr>
        <p:spPr>
          <a:xfrm>
            <a:off x="4526280" y="2450592"/>
            <a:ext cx="297180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Clustering doesn't need a known outcome to work from - it just groups patients who look similar to each other. That's different from a model trained to predict a specific label.</a:t>
            </a:r>
            <a:endParaRPr lang="en-US" sz="1250" dirty="0"/>
          </a:p>
        </p:txBody>
      </p:sp>
      <p:sp>
        <p:nvSpPr>
          <p:cNvPr id="10" name="Shape 8"/>
          <p:cNvSpPr/>
          <p:nvPr/>
        </p:nvSpPr>
        <p:spPr>
          <a:xfrm>
            <a:off x="8046720" y="1828800"/>
            <a:ext cx="342900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11" name="Text 9"/>
          <p:cNvSpPr/>
          <p:nvPr/>
        </p:nvSpPr>
        <p:spPr>
          <a:xfrm>
            <a:off x="8275320" y="2029968"/>
            <a:ext cx="297180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Something we can test</a:t>
            </a:r>
            <a:endParaRPr lang="en-US" sz="1600" dirty="0"/>
          </a:p>
        </p:txBody>
      </p:sp>
      <p:sp>
        <p:nvSpPr>
          <p:cNvPr id="12" name="Text 10"/>
          <p:cNvSpPr/>
          <p:nvPr/>
        </p:nvSpPr>
        <p:spPr>
          <a:xfrm>
            <a:off x="8275320" y="2450592"/>
            <a:ext cx="297180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MIMIC-III lets us build both views of the same patients and directly check whether acute severity and chronic burden move together, or apart.</a:t>
            </a:r>
            <a:endParaRPr lang="en-US" sz="1250" dirty="0"/>
          </a:p>
        </p:txBody>
      </p:sp>
      <p:sp>
        <p:nvSpPr>
          <p:cNvPr id="13" name="Text 11"/>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SETUP</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Setting Up the Problem</a:t>
            </a:r>
            <a:endParaRPr lang="en-US" sz="3000" dirty="0"/>
          </a:p>
        </p:txBody>
      </p:sp>
      <p:sp>
        <p:nvSpPr>
          <p:cNvPr id="4" name="Shape 2"/>
          <p:cNvSpPr/>
          <p:nvPr/>
        </p:nvSpPr>
        <p:spPr>
          <a:xfrm>
            <a:off x="548640" y="1828800"/>
            <a:ext cx="539496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029968"/>
            <a:ext cx="493776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The Cohort</a:t>
            </a:r>
            <a:endParaRPr lang="en-US" sz="1600" dirty="0"/>
          </a:p>
        </p:txBody>
      </p:sp>
      <p:sp>
        <p:nvSpPr>
          <p:cNvPr id="6" name="Text 4"/>
          <p:cNvSpPr/>
          <p:nvPr/>
        </p:nvSpPr>
        <p:spPr>
          <a:xfrm>
            <a:off x="777240" y="2450592"/>
            <a:ext cx="4937760" cy="310896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One row = one ICU stay. We use each patient's first ICU stay only, so a patient who came back several times doesn't skew the clustering toward their pattern alone.</a:t>
            </a:r>
            <a:endParaRPr lang="en-US" sz="1250" dirty="0"/>
          </a:p>
          <a:p>
            <a:pPr marL="0" indent="0">
              <a:lnSpc>
                <a:spcPct val="125000"/>
              </a:lnSpc>
              <a:buNone/>
            </a:pPr>
            <a:endParaRPr lang="en-US" sz="1250" dirty="0"/>
          </a:p>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Other cohort rules: adults only (18+), stay of at least 24 hours (we need a full first-day window), and newborn admissions excluded, since they behave very differently from adult stays.</a:t>
            </a:r>
            <a:endParaRPr lang="en-US" sz="1250" dirty="0"/>
          </a:p>
          <a:p>
            <a:pPr marL="0" indent="0">
              <a:lnSpc>
                <a:spcPct val="125000"/>
              </a:lnSpc>
              <a:buNone/>
            </a:pPr>
            <a:endParaRPr lang="en-US" sz="1250" dirty="0"/>
          </a:p>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Data: MIMIC-III, pulled through Google BigQuery.</a:t>
            </a:r>
            <a:endParaRPr lang="en-US" sz="1250" dirty="0"/>
          </a:p>
        </p:txBody>
      </p:sp>
      <p:sp>
        <p:nvSpPr>
          <p:cNvPr id="7" name="Shape 5"/>
          <p:cNvSpPr/>
          <p:nvPr/>
        </p:nvSpPr>
        <p:spPr>
          <a:xfrm>
            <a:off x="6446520" y="1828800"/>
            <a:ext cx="516636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8" name="Text 6"/>
          <p:cNvSpPr/>
          <p:nvPr/>
        </p:nvSpPr>
        <p:spPr>
          <a:xfrm>
            <a:off x="6675120" y="2029968"/>
            <a:ext cx="470916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Two Feature Sets, One Cohort</a:t>
            </a:r>
            <a:endParaRPr lang="en-US" sz="1600" dirty="0"/>
          </a:p>
        </p:txBody>
      </p:sp>
      <p:sp>
        <p:nvSpPr>
          <p:cNvPr id="9" name="Text 7"/>
          <p:cNvSpPr/>
          <p:nvPr/>
        </p:nvSpPr>
        <p:spPr>
          <a:xfrm>
            <a:off x="6675120" y="2450592"/>
            <a:ext cx="4709160" cy="310896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We build two separate descriptions of the same patients:</a:t>
            </a:r>
            <a:endParaRPr lang="en-US" sz="1250" dirty="0"/>
          </a:p>
          <a:p>
            <a:pPr marL="0" indent="0">
              <a:lnSpc>
                <a:spcPct val="125000"/>
              </a:lnSpc>
              <a:buNone/>
            </a:pPr>
            <a:endParaRPr lang="en-US" sz="1250" dirty="0"/>
          </a:p>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1. Vitals &amp; labs (first 24h) - how sick the patient looks right now.</a:t>
            </a:r>
            <a:endParaRPr lang="en-US" sz="1250" dirty="0"/>
          </a:p>
          <a:p>
            <a:pPr marL="0" indent="0">
              <a:lnSpc>
                <a:spcPct val="125000"/>
              </a:lnSpc>
              <a:buNone/>
            </a:pPr>
            <a:endParaRPr lang="en-US" sz="1250" dirty="0"/>
          </a:p>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2. Comorbidities (diagnosis codes) - what chronic conditions the patient came in with.</a:t>
            </a:r>
            <a:endParaRPr lang="en-US" sz="1250" dirty="0"/>
          </a:p>
          <a:p>
            <a:pPr marL="0" indent="0">
              <a:lnSpc>
                <a:spcPct val="125000"/>
              </a:lnSpc>
              <a:buNone/>
            </a:pPr>
            <a:endParaRPr lang="en-US" sz="1250" dirty="0"/>
          </a:p>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Each gets its own clustering. Then we check whether the two clusterings agree.</a:t>
            </a:r>
            <a:endParaRPr lang="en-US" sz="1250" dirty="0"/>
          </a:p>
        </p:txBody>
      </p:sp>
      <p:sp>
        <p:nvSpPr>
          <p:cNvPr id="10" name="Text 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FEATURES</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We Feed Each Clustering</a:t>
            </a:r>
            <a:endParaRPr lang="en-US" sz="3000" dirty="0"/>
          </a:p>
        </p:txBody>
      </p:sp>
      <p:sp>
        <p:nvSpPr>
          <p:cNvPr id="4" name="Shape 2"/>
          <p:cNvSpPr/>
          <p:nvPr/>
        </p:nvSpPr>
        <p:spPr>
          <a:xfrm>
            <a:off x="548640" y="1828800"/>
            <a:ext cx="539496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029968"/>
            <a:ext cx="493776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Vitals &amp; Labs</a:t>
            </a:r>
            <a:endParaRPr lang="en-US" sz="1600" dirty="0"/>
          </a:p>
        </p:txBody>
      </p:sp>
      <p:sp>
        <p:nvSpPr>
          <p:cNvPr id="6" name="Text 4"/>
          <p:cNvSpPr/>
          <p:nvPr/>
        </p:nvSpPr>
        <p:spPr>
          <a:xfrm>
            <a:off x="777240" y="2450592"/>
            <a:ext cx="4937760" cy="310896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Heart rate, blood pressure, respiratory rate, temperature, SpO2, and GCS (consciousness score), plus creatinine, WBC, lactate, glucose, bicarbonate, potassium, and hemoglobin.</a:t>
            </a:r>
            <a:endParaRPr lang="en-US" sz="1250" dirty="0"/>
          </a:p>
          <a:p>
            <a:pPr marL="0" indent="0">
              <a:lnSpc>
                <a:spcPct val="125000"/>
              </a:lnSpc>
              <a:buNone/>
            </a:pPr>
            <a:endParaRPr lang="en-US" sz="1250" dirty="0"/>
          </a:p>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Each one is measured many times in the first 24 hours, so we summarize it as mean, min, max, and std (how much it fluctuated) - 49 columns in total before reduction.</a:t>
            </a:r>
            <a:endParaRPr lang="en-US" sz="1250" dirty="0"/>
          </a:p>
        </p:txBody>
      </p:sp>
      <p:sp>
        <p:nvSpPr>
          <p:cNvPr id="7" name="Shape 5"/>
          <p:cNvSpPr/>
          <p:nvPr/>
        </p:nvSpPr>
        <p:spPr>
          <a:xfrm>
            <a:off x="6446520" y="1828800"/>
            <a:ext cx="5166360" cy="3931920"/>
          </a:xfrm>
          <a:prstGeom prst="roundRect">
            <a:avLst>
              <a:gd name="adj" fmla="val 1860"/>
            </a:avLst>
          </a:prstGeom>
          <a:solidFill>
            <a:srgbClr val="FDF1E3"/>
          </a:solidFill>
          <a:ln w="12700">
            <a:solidFill>
              <a:srgbClr val="E3E7EA"/>
            </a:solidFill>
            <a:prstDash val="solid"/>
          </a:ln>
        </p:spPr>
      </p:sp>
      <p:sp>
        <p:nvSpPr>
          <p:cNvPr id="8" name="Text 6"/>
          <p:cNvSpPr/>
          <p:nvPr/>
        </p:nvSpPr>
        <p:spPr>
          <a:xfrm>
            <a:off x="6675120" y="1993392"/>
            <a:ext cx="4709160" cy="228600"/>
          </a:xfrm>
          <a:prstGeom prst="rect">
            <a:avLst/>
          </a:prstGeom>
          <a:noFill/>
          <a:ln/>
        </p:spPr>
        <p:txBody>
          <a:bodyPr wrap="square" rtlCol="0" anchor="ctr"/>
          <a:lstStyle/>
          <a:p>
            <a:pPr marL="0" indent="0">
              <a:buNone/>
            </a:pPr>
            <a:r>
              <a:rPr lang="en-US" sz="1000" b="1" kern="0" spc="200" dirty="0">
                <a:solidFill>
                  <a:srgbClr val="B25E09"/>
                </a:solidFill>
                <a:latin typeface="Calibri" pitchFamily="34" charset="0"/>
                <a:ea typeface="Calibri" pitchFamily="34" charset="-122"/>
                <a:cs typeface="Calibri" pitchFamily="34" charset="-120"/>
              </a:rPr>
              <a:t>FINDING</a:t>
            </a:r>
            <a:endParaRPr lang="en-US" sz="1000" dirty="0"/>
          </a:p>
        </p:txBody>
      </p:sp>
      <p:sp>
        <p:nvSpPr>
          <p:cNvPr id="9" name="Text 7"/>
          <p:cNvSpPr/>
          <p:nvPr/>
        </p:nvSpPr>
        <p:spPr>
          <a:xfrm>
            <a:off x="6675120" y="2286000"/>
            <a:ext cx="4709160" cy="3337560"/>
          </a:xfrm>
          <a:prstGeom prst="rect">
            <a:avLst/>
          </a:prstGeom>
          <a:noFill/>
          <a:ln/>
        </p:spPr>
        <p:txBody>
          <a:bodyPr wrap="square" rtlCol="0" anchor="ctr"/>
          <a:lstStyle/>
          <a:p>
            <a:pPr marL="0" indent="0">
              <a:lnSpc>
                <a:spcPct val="125000"/>
              </a:lnSpc>
              <a:buNone/>
            </a:pPr>
            <a:r>
              <a:rPr lang="en-US" sz="1300" dirty="0">
                <a:solidFill>
                  <a:srgbClr val="44464B"/>
                </a:solidFill>
                <a:latin typeface="Calibri" pitchFamily="34" charset="0"/>
                <a:ea typeface="Calibri" pitchFamily="34" charset="-122"/>
                <a:cs typeface="Calibri" pitchFamily="34" charset="-120"/>
              </a:rPr>
              <a:t>MIMIC-III occasionally contains charting errors - a misplaced decimal can turn a respiratory rate of 23.5 into 2,355,555. Before any averaging happens, every reading is checked against a plausible physiological range (e.g. 0-80 breaths/min) and dropped if it falls outside it, so one bad entry can't distort a patient's whole feature row.</a:t>
            </a:r>
            <a:endParaRPr lang="en-US" sz="1300" dirty="0"/>
          </a:p>
          <a:p>
            <a:pPr marL="0" indent="0">
              <a:lnSpc>
                <a:spcPct val="125000"/>
              </a:lnSpc>
              <a:buNone/>
            </a:pPr>
            <a:endParaRPr lang="en-US" sz="1300" dirty="0"/>
          </a:p>
          <a:p>
            <a:pPr marL="0" indent="0">
              <a:lnSpc>
                <a:spcPct val="125000"/>
              </a:lnSpc>
              <a:buNone/>
            </a:pPr>
            <a:r>
              <a:rPr lang="en-US" sz="1300" dirty="0">
                <a:solidFill>
                  <a:srgbClr val="44464B"/>
                </a:solidFill>
                <a:latin typeface="Calibri" pitchFamily="34" charset="0"/>
                <a:ea typeface="Calibri" pitchFamily="34" charset="-122"/>
                <a:cs typeface="Calibri" pitchFamily="34" charset="-120"/>
              </a:rPr>
              <a:t>Comorbidities come from diagnosis codes (ICD-9), grouped into 15 chronic-condition categories - each one a simple yes/no flag.</a:t>
            </a:r>
            <a:endParaRPr lang="en-US" sz="1300" dirty="0"/>
          </a:p>
        </p:txBody>
      </p:sp>
      <p:sp>
        <p:nvSpPr>
          <p:cNvPr id="10" name="Text 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BEFORE MODELING</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Where the Cohort Came From</a:t>
            </a:r>
            <a:endParaRPr lang="en-US" sz="3000" dirty="0"/>
          </a:p>
        </p:txBody>
      </p:sp>
      <p:sp>
        <p:nvSpPr>
          <p:cNvPr id="4" name="Shape 2"/>
          <p:cNvSpPr/>
          <p:nvPr/>
        </p:nvSpPr>
        <p:spPr>
          <a:xfrm>
            <a:off x="548640" y="1828800"/>
            <a:ext cx="685800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011680"/>
            <a:ext cx="6400800" cy="32004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Cohort Funnel</a:t>
            </a:r>
            <a:endParaRPr lang="en-US" sz="1600" dirty="0"/>
          </a:p>
        </p:txBody>
      </p:sp>
      <p:graphicFrame>
        <p:nvGraphicFramePr>
          <p:cNvPr id="6" name="Chart 0"/>
          <p:cNvGraphicFramePr/>
          <p:nvPr/>
        </p:nvGraphicFramePr>
        <p:xfrm>
          <a:off x="685800" y="2423160"/>
          <a:ext cx="65836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178040" y="1828800"/>
            <a:ext cx="4434840" cy="3931920"/>
          </a:xfrm>
          <a:prstGeom prst="roundRect">
            <a:avLst>
              <a:gd name="adj" fmla="val 1860"/>
            </a:avLst>
          </a:prstGeom>
          <a:solidFill>
            <a:srgbClr val="FDF1E3"/>
          </a:solidFill>
          <a:ln w="12700">
            <a:solidFill>
              <a:srgbClr val="E3E7EA"/>
            </a:solidFill>
            <a:prstDash val="solid"/>
          </a:ln>
        </p:spPr>
      </p:sp>
      <p:sp>
        <p:nvSpPr>
          <p:cNvPr id="8" name="Text 5"/>
          <p:cNvSpPr/>
          <p:nvPr/>
        </p:nvSpPr>
        <p:spPr>
          <a:xfrm>
            <a:off x="7406640" y="1993392"/>
            <a:ext cx="3977640" cy="228600"/>
          </a:xfrm>
          <a:prstGeom prst="rect">
            <a:avLst/>
          </a:prstGeom>
          <a:noFill/>
          <a:ln/>
        </p:spPr>
        <p:txBody>
          <a:bodyPr wrap="square" rtlCol="0" anchor="ctr"/>
          <a:lstStyle/>
          <a:p>
            <a:pPr marL="0" indent="0">
              <a:buNone/>
            </a:pPr>
            <a:r>
              <a:rPr lang="en-US" sz="1000" b="1" kern="0" spc="200" dirty="0">
                <a:solidFill>
                  <a:srgbClr val="B25E09"/>
                </a:solidFill>
                <a:latin typeface="Calibri" pitchFamily="34" charset="0"/>
                <a:ea typeface="Calibri" pitchFamily="34" charset="-122"/>
                <a:cs typeface="Calibri" pitchFamily="34" charset="-120"/>
              </a:rPr>
              <a:t>FINDING</a:t>
            </a:r>
            <a:endParaRPr lang="en-US" sz="1000" dirty="0"/>
          </a:p>
        </p:txBody>
      </p:sp>
      <p:sp>
        <p:nvSpPr>
          <p:cNvPr id="9" name="Text 6"/>
          <p:cNvSpPr/>
          <p:nvPr/>
        </p:nvSpPr>
        <p:spPr>
          <a:xfrm>
            <a:off x="7406640" y="2286000"/>
            <a:ext cx="3977640" cy="777240"/>
          </a:xfrm>
          <a:prstGeom prst="rect">
            <a:avLst/>
          </a:prstGeom>
          <a:noFill/>
          <a:ln/>
        </p:spPr>
        <p:txBody>
          <a:bodyPr wrap="square" rtlCol="0" anchor="ctr"/>
          <a:lstStyle/>
          <a:p>
            <a:pPr marL="0" indent="0">
              <a:buNone/>
            </a:pPr>
            <a:r>
              <a:rPr lang="en-US" sz="4800" b="1" dirty="0">
                <a:solidFill>
                  <a:srgbClr val="B25E09"/>
                </a:solidFill>
                <a:latin typeface="Cambria" pitchFamily="34" charset="0"/>
                <a:ea typeface="Cambria" pitchFamily="34" charset="-122"/>
                <a:cs typeface="Cambria" pitchFamily="34" charset="-120"/>
              </a:rPr>
              <a:t>10.8%</a:t>
            </a:r>
            <a:endParaRPr lang="en-US" sz="4800" dirty="0"/>
          </a:p>
        </p:txBody>
      </p:sp>
      <p:sp>
        <p:nvSpPr>
          <p:cNvPr id="10" name="Text 7"/>
          <p:cNvSpPr/>
          <p:nvPr/>
        </p:nvSpPr>
        <p:spPr>
          <a:xfrm>
            <a:off x="7406640" y="3063240"/>
            <a:ext cx="3977640" cy="2560320"/>
          </a:xfrm>
          <a:prstGeom prst="rect">
            <a:avLst/>
          </a:prstGeom>
          <a:noFill/>
          <a:ln/>
        </p:spPr>
        <p:txBody>
          <a:bodyPr wrap="square" rtlCol="0" anchor="ctr"/>
          <a:lstStyle/>
          <a:p>
            <a:pPr marL="0" indent="0">
              <a:lnSpc>
                <a:spcPct val="120000"/>
              </a:lnSpc>
              <a:buNone/>
            </a:pPr>
            <a:r>
              <a:rPr lang="en-US" sz="1300" dirty="0">
                <a:solidFill>
                  <a:srgbClr val="44464B"/>
                </a:solidFill>
                <a:latin typeface="Calibri" pitchFamily="34" charset="0"/>
                <a:ea typeface="Calibri" pitchFamily="34" charset="-122"/>
                <a:cs typeface="Calibri" pitchFamily="34" charset="-120"/>
              </a:rPr>
              <a:t>of ICU stays in the final cohort ended in in-hospital death.</a:t>
            </a:r>
            <a:endParaRPr lang="en-US" sz="1300" dirty="0"/>
          </a:p>
        </p:txBody>
      </p:sp>
      <p:sp>
        <p:nvSpPr>
          <p:cNvPr id="11" name="Text 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PIPELINE</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Getting the Data Model-Ready</a:t>
            </a:r>
            <a:endParaRPr lang="en-US" sz="3000" dirty="0"/>
          </a:p>
        </p:txBody>
      </p:sp>
      <p:sp>
        <p:nvSpPr>
          <p:cNvPr id="4" name="Shape 2"/>
          <p:cNvSpPr/>
          <p:nvPr/>
        </p:nvSpPr>
        <p:spPr>
          <a:xfrm>
            <a:off x="548640" y="1920240"/>
            <a:ext cx="356616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121408"/>
            <a:ext cx="310896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1. Filter implausible readings</a:t>
            </a:r>
            <a:endParaRPr lang="en-US" sz="1600" dirty="0"/>
          </a:p>
        </p:txBody>
      </p:sp>
      <p:sp>
        <p:nvSpPr>
          <p:cNvPr id="6" name="Text 4"/>
          <p:cNvSpPr/>
          <p:nvPr/>
        </p:nvSpPr>
        <p:spPr>
          <a:xfrm>
            <a:off x="777240" y="2542032"/>
            <a:ext cx="310896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Every vital/lab reading is checked against a plausible clinical range before it's ever averaged, so one bad entry can't distort a patient's whole row.</a:t>
            </a:r>
            <a:endParaRPr lang="en-US" sz="1250" dirty="0"/>
          </a:p>
        </p:txBody>
      </p:sp>
      <p:sp>
        <p:nvSpPr>
          <p:cNvPr id="7" name="Shape 5"/>
          <p:cNvSpPr/>
          <p:nvPr/>
        </p:nvSpPr>
        <p:spPr>
          <a:xfrm>
            <a:off x="4389120" y="1920240"/>
            <a:ext cx="356616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8" name="Text 6"/>
          <p:cNvSpPr/>
          <p:nvPr/>
        </p:nvSpPr>
        <p:spPr>
          <a:xfrm>
            <a:off x="4617720" y="2121408"/>
            <a:ext cx="310896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2. Impute + scale</a:t>
            </a:r>
            <a:endParaRPr lang="en-US" sz="1600" dirty="0"/>
          </a:p>
        </p:txBody>
      </p:sp>
      <p:sp>
        <p:nvSpPr>
          <p:cNvPr id="9" name="Text 7"/>
          <p:cNvSpPr/>
          <p:nvPr/>
        </p:nvSpPr>
        <p:spPr>
          <a:xfrm>
            <a:off x="4617720" y="2542032"/>
            <a:ext cx="310896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Missing vitals/labs are filled with the median, then every column is standardized (mean 0, std 1) so no single measurement dominates just because of its natural scale.</a:t>
            </a:r>
            <a:endParaRPr lang="en-US" sz="1250" dirty="0"/>
          </a:p>
        </p:txBody>
      </p:sp>
      <p:sp>
        <p:nvSpPr>
          <p:cNvPr id="10" name="Shape 8"/>
          <p:cNvSpPr/>
          <p:nvPr/>
        </p:nvSpPr>
        <p:spPr>
          <a:xfrm>
            <a:off x="8229600" y="1920240"/>
            <a:ext cx="356616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11" name="Text 9"/>
          <p:cNvSpPr/>
          <p:nvPr/>
        </p:nvSpPr>
        <p:spPr>
          <a:xfrm>
            <a:off x="8458200" y="2121408"/>
            <a:ext cx="310896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3. Reduce with PCA</a:t>
            </a:r>
            <a:endParaRPr lang="en-US" sz="1600" dirty="0"/>
          </a:p>
        </p:txBody>
      </p:sp>
      <p:sp>
        <p:nvSpPr>
          <p:cNvPr id="12" name="Text 10"/>
          <p:cNvSpPr/>
          <p:nvPr/>
        </p:nvSpPr>
        <p:spPr>
          <a:xfrm>
            <a:off x="8458200" y="2542032"/>
            <a:ext cx="310896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Mean/min/max/std of the same vital are highly correlated. PCA collapses 49 columns to 19 components that still capture 90% of the variance, without the redundancy.</a:t>
            </a:r>
            <a:endParaRPr lang="en-US" sz="1250" dirty="0"/>
          </a:p>
        </p:txBody>
      </p:sp>
      <p:sp>
        <p:nvSpPr>
          <p:cNvPr id="13" name="Text 11"/>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GOING DEEPER</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From Raw Vitals to Clusters</a:t>
            </a:r>
            <a:endParaRPr lang="en-US" sz="3000" dirty="0"/>
          </a:p>
        </p:txBody>
      </p:sp>
      <p:sp>
        <p:nvSpPr>
          <p:cNvPr id="4" name="Shape 2"/>
          <p:cNvSpPr/>
          <p:nvPr/>
        </p:nvSpPr>
        <p:spPr>
          <a:xfrm>
            <a:off x="822960" y="2651760"/>
            <a:ext cx="2377440" cy="1463040"/>
          </a:xfrm>
          <a:prstGeom prst="roundRect">
            <a:avLst>
              <a:gd name="adj" fmla="val 5000"/>
            </a:avLst>
          </a:prstGeom>
          <a:solidFill>
            <a:srgbClr val="F7F9FA"/>
          </a:solidFill>
          <a:ln w="19050">
            <a:solidFill>
              <a:srgbClr val="028090"/>
            </a:solidFill>
            <a:prstDash val="solid"/>
          </a:ln>
        </p:spPr>
      </p:sp>
      <p:sp>
        <p:nvSpPr>
          <p:cNvPr id="5" name="Text 3"/>
          <p:cNvSpPr/>
          <p:nvPr/>
        </p:nvSpPr>
        <p:spPr>
          <a:xfrm>
            <a:off x="822960" y="2907792"/>
            <a:ext cx="237744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Input</a:t>
            </a:r>
            <a:endParaRPr lang="en-US" sz="1600" dirty="0"/>
          </a:p>
        </p:txBody>
      </p:sp>
      <p:sp>
        <p:nvSpPr>
          <p:cNvPr id="6" name="Text 4"/>
          <p:cNvSpPr/>
          <p:nvPr/>
        </p:nvSpPr>
        <p:spPr>
          <a:xfrm>
            <a:off x="960120" y="3337560"/>
            <a:ext cx="2103120" cy="640080"/>
          </a:xfrm>
          <a:prstGeom prst="rect">
            <a:avLst/>
          </a:prstGeom>
          <a:noFill/>
          <a:ln/>
        </p:spPr>
        <p:txBody>
          <a:bodyPr wrap="square" rtlCol="0" anchor="ctr"/>
          <a:lstStyle/>
          <a:p>
            <a:pPr marL="0" indent="0" algn="ctr">
              <a:lnSpc>
                <a:spcPct val="115000"/>
              </a:lnSpc>
              <a:buNone/>
            </a:pPr>
            <a:r>
              <a:rPr lang="en-US" sz="1200" dirty="0">
                <a:solidFill>
                  <a:srgbClr val="6B7280"/>
                </a:solidFill>
                <a:latin typeface="Calibri" pitchFamily="34" charset="0"/>
                <a:ea typeface="Calibri" pitchFamily="34" charset="-122"/>
                <a:cs typeface="Calibri" pitchFamily="34" charset="-120"/>
              </a:rPr>
              <a:t>49 columns</a:t>
            </a:r>
            <a:endParaRPr lang="en-US" sz="1200" dirty="0"/>
          </a:p>
        </p:txBody>
      </p:sp>
      <p:sp>
        <p:nvSpPr>
          <p:cNvPr id="7" name="Text 5"/>
          <p:cNvSpPr/>
          <p:nvPr/>
        </p:nvSpPr>
        <p:spPr>
          <a:xfrm>
            <a:off x="3200400" y="3108960"/>
            <a:ext cx="502920" cy="548640"/>
          </a:xfrm>
          <a:prstGeom prst="rect">
            <a:avLst/>
          </a:prstGeom>
          <a:noFill/>
          <a:ln/>
        </p:spPr>
        <p:txBody>
          <a:bodyPr wrap="square" rtlCol="0" anchor="ctr"/>
          <a:lstStyle/>
          <a:p>
            <a:pPr marL="0" indent="0" algn="ctr">
              <a:buNone/>
            </a:pPr>
            <a:r>
              <a:rPr lang="en-US" sz="2600" b="1" dirty="0">
                <a:solidFill>
                  <a:srgbClr val="00A896"/>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703320" y="2651760"/>
            <a:ext cx="2377440" cy="1463040"/>
          </a:xfrm>
          <a:prstGeom prst="roundRect">
            <a:avLst>
              <a:gd name="adj" fmla="val 5000"/>
            </a:avLst>
          </a:prstGeom>
          <a:solidFill>
            <a:srgbClr val="F7F9FA"/>
          </a:solidFill>
          <a:ln w="19050">
            <a:solidFill>
              <a:srgbClr val="028090"/>
            </a:solidFill>
            <a:prstDash val="solid"/>
          </a:ln>
        </p:spPr>
      </p:sp>
      <p:sp>
        <p:nvSpPr>
          <p:cNvPr id="9" name="Text 7"/>
          <p:cNvSpPr/>
          <p:nvPr/>
        </p:nvSpPr>
        <p:spPr>
          <a:xfrm>
            <a:off x="3703320" y="2907792"/>
            <a:ext cx="237744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PCA</a:t>
            </a:r>
            <a:endParaRPr lang="en-US" sz="1600" dirty="0"/>
          </a:p>
        </p:txBody>
      </p:sp>
      <p:sp>
        <p:nvSpPr>
          <p:cNvPr id="10" name="Text 8"/>
          <p:cNvSpPr/>
          <p:nvPr/>
        </p:nvSpPr>
        <p:spPr>
          <a:xfrm>
            <a:off x="3840480" y="3337560"/>
            <a:ext cx="2103120" cy="640080"/>
          </a:xfrm>
          <a:prstGeom prst="rect">
            <a:avLst/>
          </a:prstGeom>
          <a:noFill/>
          <a:ln/>
        </p:spPr>
        <p:txBody>
          <a:bodyPr wrap="square" rtlCol="0" anchor="ctr"/>
          <a:lstStyle/>
          <a:p>
            <a:pPr marL="0" indent="0" algn="ctr">
              <a:lnSpc>
                <a:spcPct val="115000"/>
              </a:lnSpc>
              <a:buNone/>
            </a:pPr>
            <a:r>
              <a:rPr lang="en-US" sz="1200" dirty="0">
                <a:solidFill>
                  <a:srgbClr val="6B7280"/>
                </a:solidFill>
                <a:latin typeface="Calibri" pitchFamily="34" charset="0"/>
                <a:ea typeface="Calibri" pitchFamily="34" charset="-122"/>
                <a:cs typeface="Calibri" pitchFamily="34" charset="-120"/>
              </a:rPr>
              <a:t>19 components</a:t>
            </a:r>
            <a:endParaRPr lang="en-US" sz="1200" dirty="0"/>
          </a:p>
          <a:p>
            <a:pPr marL="0" indent="0" algn="ctr">
              <a:lnSpc>
                <a:spcPct val="115000"/>
              </a:lnSpc>
              <a:buNone/>
            </a:pPr>
            <a:r>
              <a:rPr lang="en-US" sz="1200" dirty="0">
                <a:solidFill>
                  <a:srgbClr val="6B7280"/>
                </a:solidFill>
                <a:latin typeface="Calibri" pitchFamily="34" charset="0"/>
                <a:ea typeface="Calibri" pitchFamily="34" charset="-122"/>
                <a:cs typeface="Calibri" pitchFamily="34" charset="-120"/>
              </a:rPr>
              <a:t>(90% variance)</a:t>
            </a:r>
            <a:endParaRPr lang="en-US" sz="1200" dirty="0"/>
          </a:p>
        </p:txBody>
      </p:sp>
      <p:sp>
        <p:nvSpPr>
          <p:cNvPr id="11" name="Text 9"/>
          <p:cNvSpPr/>
          <p:nvPr/>
        </p:nvSpPr>
        <p:spPr>
          <a:xfrm>
            <a:off x="6080760" y="3108960"/>
            <a:ext cx="502920" cy="548640"/>
          </a:xfrm>
          <a:prstGeom prst="rect">
            <a:avLst/>
          </a:prstGeom>
          <a:noFill/>
          <a:ln/>
        </p:spPr>
        <p:txBody>
          <a:bodyPr wrap="square" rtlCol="0" anchor="ctr"/>
          <a:lstStyle/>
          <a:p>
            <a:pPr marL="0" indent="0" algn="ctr">
              <a:buNone/>
            </a:pPr>
            <a:r>
              <a:rPr lang="en-US" sz="2600" b="1" dirty="0">
                <a:solidFill>
                  <a:srgbClr val="00A896"/>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583680" y="2651760"/>
            <a:ext cx="2377440" cy="1463040"/>
          </a:xfrm>
          <a:prstGeom prst="roundRect">
            <a:avLst>
              <a:gd name="adj" fmla="val 5000"/>
            </a:avLst>
          </a:prstGeom>
          <a:solidFill>
            <a:srgbClr val="F7F9FA"/>
          </a:solidFill>
          <a:ln w="19050">
            <a:solidFill>
              <a:srgbClr val="028090"/>
            </a:solidFill>
            <a:prstDash val="solid"/>
          </a:ln>
        </p:spPr>
      </p:sp>
      <p:sp>
        <p:nvSpPr>
          <p:cNvPr id="13" name="Text 11"/>
          <p:cNvSpPr/>
          <p:nvPr/>
        </p:nvSpPr>
        <p:spPr>
          <a:xfrm>
            <a:off x="6583680" y="2907792"/>
            <a:ext cx="237744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K-Means</a:t>
            </a:r>
            <a:endParaRPr lang="en-US" sz="1600" dirty="0"/>
          </a:p>
        </p:txBody>
      </p:sp>
      <p:sp>
        <p:nvSpPr>
          <p:cNvPr id="14" name="Text 12"/>
          <p:cNvSpPr/>
          <p:nvPr/>
        </p:nvSpPr>
        <p:spPr>
          <a:xfrm>
            <a:off x="6720840" y="3337560"/>
            <a:ext cx="2103120" cy="640080"/>
          </a:xfrm>
          <a:prstGeom prst="rect">
            <a:avLst/>
          </a:prstGeom>
          <a:noFill/>
          <a:ln/>
        </p:spPr>
        <p:txBody>
          <a:bodyPr wrap="square" rtlCol="0" anchor="ctr"/>
          <a:lstStyle/>
          <a:p>
            <a:pPr marL="0" indent="0" algn="ctr">
              <a:lnSpc>
                <a:spcPct val="115000"/>
              </a:lnSpc>
              <a:buNone/>
            </a:pPr>
            <a:r>
              <a:rPr lang="en-US" sz="1200" dirty="0">
                <a:solidFill>
                  <a:srgbClr val="6B7280"/>
                </a:solidFill>
                <a:latin typeface="Calibri" pitchFamily="34" charset="0"/>
                <a:ea typeface="Calibri" pitchFamily="34" charset="-122"/>
                <a:cs typeface="Calibri" pitchFamily="34" charset="-120"/>
              </a:rPr>
              <a:t>k chosen by</a:t>
            </a:r>
            <a:endParaRPr lang="en-US" sz="1200" dirty="0"/>
          </a:p>
          <a:p>
            <a:pPr marL="0" indent="0" algn="ctr">
              <a:lnSpc>
                <a:spcPct val="115000"/>
              </a:lnSpc>
              <a:buNone/>
            </a:pPr>
            <a:r>
              <a:rPr lang="en-US" sz="1200" dirty="0">
                <a:solidFill>
                  <a:srgbClr val="6B7280"/>
                </a:solidFill>
                <a:latin typeface="Calibri" pitchFamily="34" charset="0"/>
                <a:ea typeface="Calibri" pitchFamily="34" charset="-122"/>
                <a:cs typeface="Calibri" pitchFamily="34" charset="-120"/>
              </a:rPr>
              <a:t>silhouette score</a:t>
            </a:r>
            <a:endParaRPr lang="en-US" sz="1200" dirty="0"/>
          </a:p>
        </p:txBody>
      </p:sp>
      <p:sp>
        <p:nvSpPr>
          <p:cNvPr id="15" name="Text 13"/>
          <p:cNvSpPr/>
          <p:nvPr/>
        </p:nvSpPr>
        <p:spPr>
          <a:xfrm>
            <a:off x="8961120" y="3108960"/>
            <a:ext cx="502920" cy="548640"/>
          </a:xfrm>
          <a:prstGeom prst="rect">
            <a:avLst/>
          </a:prstGeom>
          <a:noFill/>
          <a:ln/>
        </p:spPr>
        <p:txBody>
          <a:bodyPr wrap="square" rtlCol="0" anchor="ctr"/>
          <a:lstStyle/>
          <a:p>
            <a:pPr marL="0" indent="0" algn="ctr">
              <a:buNone/>
            </a:pPr>
            <a:r>
              <a:rPr lang="en-US" sz="2600" b="1" dirty="0">
                <a:solidFill>
                  <a:srgbClr val="00A896"/>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464040" y="2651760"/>
            <a:ext cx="2377440" cy="1463040"/>
          </a:xfrm>
          <a:prstGeom prst="roundRect">
            <a:avLst>
              <a:gd name="adj" fmla="val 5000"/>
            </a:avLst>
          </a:prstGeom>
          <a:solidFill>
            <a:srgbClr val="1E2761"/>
          </a:solidFill>
          <a:ln w="19050">
            <a:solidFill>
              <a:srgbClr val="028090"/>
            </a:solidFill>
            <a:prstDash val="solid"/>
          </a:ln>
        </p:spPr>
      </p:sp>
      <p:sp>
        <p:nvSpPr>
          <p:cNvPr id="17" name="Text 15"/>
          <p:cNvSpPr/>
          <p:nvPr/>
        </p:nvSpPr>
        <p:spPr>
          <a:xfrm>
            <a:off x="9464040" y="2907792"/>
            <a:ext cx="237744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Output</a:t>
            </a:r>
            <a:endParaRPr lang="en-US" sz="1600" dirty="0"/>
          </a:p>
        </p:txBody>
      </p:sp>
      <p:sp>
        <p:nvSpPr>
          <p:cNvPr id="18" name="Text 16"/>
          <p:cNvSpPr/>
          <p:nvPr/>
        </p:nvSpPr>
        <p:spPr>
          <a:xfrm>
            <a:off x="9601200" y="3337560"/>
            <a:ext cx="2103120" cy="640080"/>
          </a:xfrm>
          <a:prstGeom prst="rect">
            <a:avLst/>
          </a:prstGeom>
          <a:noFill/>
          <a:ln/>
        </p:spPr>
        <p:txBody>
          <a:bodyPr wrap="square" rtlCol="0" anchor="ctr"/>
          <a:lstStyle/>
          <a:p>
            <a:pPr marL="0" indent="0" algn="ctr">
              <a:lnSpc>
                <a:spcPct val="115000"/>
              </a:lnSpc>
              <a:buNone/>
            </a:pPr>
            <a:r>
              <a:rPr lang="en-US" sz="1200" dirty="0">
                <a:solidFill>
                  <a:srgbClr val="CADCFC"/>
                </a:solidFill>
                <a:latin typeface="Calibri" pitchFamily="34" charset="0"/>
                <a:ea typeface="Calibri" pitchFamily="34" charset="-122"/>
                <a:cs typeface="Calibri" pitchFamily="34" charset="-120"/>
              </a:rPr>
              <a:t>2 patient</a:t>
            </a:r>
            <a:endParaRPr lang="en-US" sz="1200" dirty="0"/>
          </a:p>
          <a:p>
            <a:pPr marL="0" indent="0" algn="ctr">
              <a:lnSpc>
                <a:spcPct val="115000"/>
              </a:lnSpc>
              <a:buNone/>
            </a:pPr>
            <a:r>
              <a:rPr lang="en-US" sz="1200" dirty="0">
                <a:solidFill>
                  <a:srgbClr val="CADCFC"/>
                </a:solidFill>
                <a:latin typeface="Calibri" pitchFamily="34" charset="0"/>
                <a:ea typeface="Calibri" pitchFamily="34" charset="-122"/>
                <a:cs typeface="Calibri" pitchFamily="34" charset="-120"/>
              </a:rPr>
              <a:t>clusters</a:t>
            </a:r>
            <a:endParaRPr lang="en-US" sz="1200" dirty="0"/>
          </a:p>
        </p:txBody>
      </p:sp>
      <p:sp>
        <p:nvSpPr>
          <p:cNvPr id="19" name="Text 17"/>
          <p:cNvSpPr/>
          <p:nvPr/>
        </p:nvSpPr>
        <p:spPr>
          <a:xfrm>
            <a:off x="548640" y="4709160"/>
            <a:ext cx="10789920" cy="822960"/>
          </a:xfrm>
          <a:prstGeom prst="rect">
            <a:avLst/>
          </a:prstGeom>
          <a:noFill/>
          <a:ln/>
        </p:spPr>
        <p:txBody>
          <a:bodyPr wrap="square" rtlCol="0" anchor="ctr"/>
          <a:lstStyle/>
          <a:p>
            <a:pPr marL="0" indent="0">
              <a:lnSpc>
                <a:spcPct val="130000"/>
              </a:lnSpc>
              <a:buNone/>
            </a:pPr>
            <a:r>
              <a:rPr lang="en-US" sz="1300" i="1" dirty="0">
                <a:solidFill>
                  <a:srgbClr val="6B7280"/>
                </a:solidFill>
                <a:latin typeface="Calibri" pitchFamily="34" charset="0"/>
                <a:ea typeface="Calibri" pitchFamily="34" charset="-122"/>
                <a:cs typeface="Calibri" pitchFamily="34" charset="-120"/>
              </a:rPr>
              <a:t>Why PCA before clustering: heart_rate_mean, _min, _max, and _std are four separate columns describing one signal. Without reducing them first, vitals with more derived columns would quietly get more influence over which patients end up in the same cluster.</a:t>
            </a:r>
            <a:endParaRPr lang="en-US" sz="1300" dirty="0"/>
          </a:p>
        </p:txBody>
      </p:sp>
      <p:sp>
        <p:nvSpPr>
          <p:cNvPr id="20" name="Text 1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RESULT 1</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Cluster on Vitals &amp; Labs</a:t>
            </a:r>
            <a:endParaRPr lang="en-US" sz="3000" dirty="0"/>
          </a:p>
        </p:txBody>
      </p:sp>
      <p:sp>
        <p:nvSpPr>
          <p:cNvPr id="4" name="Shape 2"/>
          <p:cNvSpPr/>
          <p:nvPr/>
        </p:nvSpPr>
        <p:spPr>
          <a:xfrm>
            <a:off x="548640" y="1828800"/>
            <a:ext cx="4206240" cy="3931920"/>
          </a:xfrm>
          <a:prstGeom prst="roundRect">
            <a:avLst>
              <a:gd name="adj" fmla="val 1860"/>
            </a:avLst>
          </a:prstGeom>
          <a:solidFill>
            <a:srgbClr val="FDF1E3"/>
          </a:solidFill>
          <a:ln w="12700">
            <a:solidFill>
              <a:srgbClr val="E3E7EA"/>
            </a:solidFill>
            <a:prstDash val="solid"/>
          </a:ln>
        </p:spPr>
      </p:sp>
      <p:sp>
        <p:nvSpPr>
          <p:cNvPr id="5" name="Text 3"/>
          <p:cNvSpPr/>
          <p:nvPr/>
        </p:nvSpPr>
        <p:spPr>
          <a:xfrm>
            <a:off x="777240" y="1993392"/>
            <a:ext cx="3749040" cy="228600"/>
          </a:xfrm>
          <a:prstGeom prst="rect">
            <a:avLst/>
          </a:prstGeom>
          <a:noFill/>
          <a:ln/>
        </p:spPr>
        <p:txBody>
          <a:bodyPr wrap="square" rtlCol="0" anchor="ctr"/>
          <a:lstStyle/>
          <a:p>
            <a:pPr marL="0" indent="0">
              <a:buNone/>
            </a:pPr>
            <a:r>
              <a:rPr lang="en-US" sz="1000" b="1" kern="0" spc="200" dirty="0">
                <a:solidFill>
                  <a:srgbClr val="B25E09"/>
                </a:solidFill>
                <a:latin typeface="Calibri" pitchFamily="34" charset="0"/>
                <a:ea typeface="Calibri" pitchFamily="34" charset="-122"/>
                <a:cs typeface="Calibri" pitchFamily="34" charset="-120"/>
              </a:rPr>
              <a:t>FINDING</a:t>
            </a:r>
            <a:endParaRPr lang="en-US" sz="1000" dirty="0"/>
          </a:p>
        </p:txBody>
      </p:sp>
      <p:sp>
        <p:nvSpPr>
          <p:cNvPr id="6" name="Text 4"/>
          <p:cNvSpPr/>
          <p:nvPr/>
        </p:nvSpPr>
        <p:spPr>
          <a:xfrm>
            <a:off x="777240" y="2286000"/>
            <a:ext cx="3749040" cy="777240"/>
          </a:xfrm>
          <a:prstGeom prst="rect">
            <a:avLst/>
          </a:prstGeom>
          <a:noFill/>
          <a:ln/>
        </p:spPr>
        <p:txBody>
          <a:bodyPr wrap="square" rtlCol="0" anchor="ctr"/>
          <a:lstStyle/>
          <a:p>
            <a:pPr marL="0" indent="0">
              <a:buNone/>
            </a:pPr>
            <a:r>
              <a:rPr lang="en-US" sz="4000" b="1" dirty="0">
                <a:solidFill>
                  <a:srgbClr val="B25E09"/>
                </a:solidFill>
                <a:latin typeface="Cambria" pitchFamily="34" charset="0"/>
                <a:ea typeface="Cambria" pitchFamily="34" charset="-122"/>
                <a:cs typeface="Cambria" pitchFamily="34" charset="-120"/>
              </a:rPr>
              <a:t>k = 2</a:t>
            </a:r>
            <a:endParaRPr lang="en-US" sz="4000" dirty="0"/>
          </a:p>
        </p:txBody>
      </p:sp>
      <p:sp>
        <p:nvSpPr>
          <p:cNvPr id="7" name="Text 5"/>
          <p:cNvSpPr/>
          <p:nvPr/>
        </p:nvSpPr>
        <p:spPr>
          <a:xfrm>
            <a:off x="777240" y="3063240"/>
            <a:ext cx="3749040" cy="2560320"/>
          </a:xfrm>
          <a:prstGeom prst="rect">
            <a:avLst/>
          </a:prstGeom>
          <a:noFill/>
          <a:ln/>
        </p:spPr>
        <p:txBody>
          <a:bodyPr wrap="square" rtlCol="0" anchor="ctr"/>
          <a:lstStyle/>
          <a:p>
            <a:pPr marL="0" indent="0">
              <a:lnSpc>
                <a:spcPct val="120000"/>
              </a:lnSpc>
              <a:buNone/>
            </a:pPr>
            <a:r>
              <a:rPr lang="en-US" sz="1300" dirty="0">
                <a:solidFill>
                  <a:srgbClr val="44464B"/>
                </a:solidFill>
                <a:latin typeface="Calibri" pitchFamily="34" charset="0"/>
                <a:ea typeface="Calibri" pitchFamily="34" charset="-122"/>
                <a:cs typeface="Calibri" pitchFamily="34" charset="-120"/>
              </a:rPr>
              <a:t>silhouette score = 0.121</a:t>
            </a:r>
            <a:endParaRPr lang="en-US" sz="1300" dirty="0"/>
          </a:p>
          <a:p>
            <a:pPr marL="0" indent="0">
              <a:lnSpc>
                <a:spcPct val="120000"/>
              </a:lnSpc>
              <a:buNone/>
            </a:pPr>
            <a:endParaRPr lang="en-US" sz="1300" dirty="0"/>
          </a:p>
          <a:p>
            <a:pPr marL="0" indent="0">
              <a:lnSpc>
                <a:spcPct val="120000"/>
              </a:lnSpc>
              <a:buNone/>
            </a:pPr>
            <a:r>
              <a:rPr lang="en-US" sz="1300" dirty="0">
                <a:solidFill>
                  <a:srgbClr val="44464B"/>
                </a:solidFill>
                <a:latin typeface="Calibri" pitchFamily="34" charset="0"/>
                <a:ea typeface="Calibri" pitchFamily="34" charset="-122"/>
                <a:cs typeface="Calibri" pitchFamily="34" charset="-120"/>
              </a:rPr>
              <a:t>Chosen by silhouette score - the highest of k=2 through k=7 tried. A modest score, meaning real but overlapping structure, not a dramatic split.</a:t>
            </a:r>
            <a:endParaRPr lang="en-US" sz="1300" dirty="0"/>
          </a:p>
        </p:txBody>
      </p:sp>
      <p:sp>
        <p:nvSpPr>
          <p:cNvPr id="8" name="Shape 6"/>
          <p:cNvSpPr/>
          <p:nvPr/>
        </p:nvSpPr>
        <p:spPr>
          <a:xfrm>
            <a:off x="5486400" y="1828800"/>
            <a:ext cx="612648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9" name="Text 7"/>
          <p:cNvSpPr/>
          <p:nvPr/>
        </p:nvSpPr>
        <p:spPr>
          <a:xfrm>
            <a:off x="5715000" y="2011680"/>
            <a:ext cx="5669280" cy="32004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Mortality Rate by Cluster</a:t>
            </a:r>
            <a:endParaRPr lang="en-US" sz="1600" dirty="0"/>
          </a:p>
        </p:txBody>
      </p:sp>
      <p:graphicFrame>
        <p:nvGraphicFramePr>
          <p:cNvPr id="10" name="Chart 0"/>
          <p:cNvGraphicFramePr/>
          <p:nvPr/>
        </p:nvGraphicFramePr>
        <p:xfrm>
          <a:off x="5577840" y="2423160"/>
          <a:ext cx="58521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RESULT 2</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Cluster on Comorbidities</a:t>
            </a:r>
            <a:endParaRPr lang="en-US" sz="3000" dirty="0"/>
          </a:p>
        </p:txBody>
      </p:sp>
      <p:sp>
        <p:nvSpPr>
          <p:cNvPr id="4" name="Shape 2"/>
          <p:cNvSpPr/>
          <p:nvPr/>
        </p:nvSpPr>
        <p:spPr>
          <a:xfrm>
            <a:off x="548640" y="1828800"/>
            <a:ext cx="4206240" cy="3931920"/>
          </a:xfrm>
          <a:prstGeom prst="roundRect">
            <a:avLst>
              <a:gd name="adj" fmla="val 1860"/>
            </a:avLst>
          </a:prstGeom>
          <a:solidFill>
            <a:srgbClr val="FDF1E3"/>
          </a:solidFill>
          <a:ln w="12700">
            <a:solidFill>
              <a:srgbClr val="E3E7EA"/>
            </a:solidFill>
            <a:prstDash val="solid"/>
          </a:ln>
        </p:spPr>
      </p:sp>
      <p:sp>
        <p:nvSpPr>
          <p:cNvPr id="5" name="Text 3"/>
          <p:cNvSpPr/>
          <p:nvPr/>
        </p:nvSpPr>
        <p:spPr>
          <a:xfrm>
            <a:off x="777240" y="1993392"/>
            <a:ext cx="3749040" cy="228600"/>
          </a:xfrm>
          <a:prstGeom prst="rect">
            <a:avLst/>
          </a:prstGeom>
          <a:noFill/>
          <a:ln/>
        </p:spPr>
        <p:txBody>
          <a:bodyPr wrap="square" rtlCol="0" anchor="ctr"/>
          <a:lstStyle/>
          <a:p>
            <a:pPr marL="0" indent="0">
              <a:buNone/>
            </a:pPr>
            <a:r>
              <a:rPr lang="en-US" sz="1000" b="1" kern="0" spc="200" dirty="0">
                <a:solidFill>
                  <a:srgbClr val="B25E09"/>
                </a:solidFill>
                <a:latin typeface="Calibri" pitchFamily="34" charset="0"/>
                <a:ea typeface="Calibri" pitchFamily="34" charset="-122"/>
                <a:cs typeface="Calibri" pitchFamily="34" charset="-120"/>
              </a:rPr>
              <a:t>FINDING</a:t>
            </a:r>
            <a:endParaRPr lang="en-US" sz="1000" dirty="0"/>
          </a:p>
        </p:txBody>
      </p:sp>
      <p:sp>
        <p:nvSpPr>
          <p:cNvPr id="6" name="Text 4"/>
          <p:cNvSpPr/>
          <p:nvPr/>
        </p:nvSpPr>
        <p:spPr>
          <a:xfrm>
            <a:off x="777240" y="2286000"/>
            <a:ext cx="3749040" cy="777240"/>
          </a:xfrm>
          <a:prstGeom prst="rect">
            <a:avLst/>
          </a:prstGeom>
          <a:noFill/>
          <a:ln/>
        </p:spPr>
        <p:txBody>
          <a:bodyPr wrap="square" rtlCol="0" anchor="ctr"/>
          <a:lstStyle/>
          <a:p>
            <a:pPr marL="0" indent="0">
              <a:buNone/>
            </a:pPr>
            <a:r>
              <a:rPr lang="en-US" sz="4000" b="1" dirty="0">
                <a:solidFill>
                  <a:srgbClr val="B25E09"/>
                </a:solidFill>
                <a:latin typeface="Cambria" pitchFamily="34" charset="0"/>
                <a:ea typeface="Cambria" pitchFamily="34" charset="-122"/>
                <a:cs typeface="Cambria" pitchFamily="34" charset="-120"/>
              </a:rPr>
              <a:t>k = 7</a:t>
            </a:r>
            <a:endParaRPr lang="en-US" sz="4000" dirty="0"/>
          </a:p>
        </p:txBody>
      </p:sp>
      <p:sp>
        <p:nvSpPr>
          <p:cNvPr id="7" name="Text 5"/>
          <p:cNvSpPr/>
          <p:nvPr/>
        </p:nvSpPr>
        <p:spPr>
          <a:xfrm>
            <a:off x="777240" y="3063240"/>
            <a:ext cx="3749040" cy="2560320"/>
          </a:xfrm>
          <a:prstGeom prst="rect">
            <a:avLst/>
          </a:prstGeom>
          <a:noFill/>
          <a:ln/>
        </p:spPr>
        <p:txBody>
          <a:bodyPr wrap="square" rtlCol="0" anchor="ctr"/>
          <a:lstStyle/>
          <a:p>
            <a:pPr marL="0" indent="0">
              <a:lnSpc>
                <a:spcPct val="120000"/>
              </a:lnSpc>
              <a:buNone/>
            </a:pPr>
            <a:r>
              <a:rPr lang="en-US" sz="1300" dirty="0">
                <a:solidFill>
                  <a:srgbClr val="44464B"/>
                </a:solidFill>
                <a:latin typeface="Calibri" pitchFamily="34" charset="0"/>
                <a:ea typeface="Calibri" pitchFamily="34" charset="-122"/>
                <a:cs typeface="Calibri" pitchFamily="34" charset="-120"/>
              </a:rPr>
              <a:t>silhouette score = 0.196</a:t>
            </a:r>
            <a:endParaRPr lang="en-US" sz="1300" dirty="0"/>
          </a:p>
          <a:p>
            <a:pPr marL="0" indent="0">
              <a:lnSpc>
                <a:spcPct val="120000"/>
              </a:lnSpc>
              <a:buNone/>
            </a:pPr>
            <a:endParaRPr lang="en-US" sz="1300" dirty="0"/>
          </a:p>
          <a:p>
            <a:pPr marL="0" indent="0">
              <a:lnSpc>
                <a:spcPct val="120000"/>
              </a:lnSpc>
              <a:buNone/>
            </a:pPr>
            <a:r>
              <a:rPr lang="en-US" sz="1300" dirty="0">
                <a:solidFill>
                  <a:srgbClr val="44464B"/>
                </a:solidFill>
                <a:latin typeface="Calibri" pitchFamily="34" charset="0"/>
                <a:ea typeface="Calibri" pitchFamily="34" charset="-122"/>
                <a:cs typeface="Calibri" pitchFamily="34" charset="-120"/>
              </a:rPr>
              <a:t>Chosen by silhouette score - slightly higher than the vitals clustering, since binary yes/no combinations tend to separate a bit more crisply than overlapping continuous vitals.</a:t>
            </a:r>
            <a:endParaRPr lang="en-US" sz="1300" dirty="0"/>
          </a:p>
        </p:txBody>
      </p:sp>
      <p:sp>
        <p:nvSpPr>
          <p:cNvPr id="8" name="Shape 6"/>
          <p:cNvSpPr/>
          <p:nvPr/>
        </p:nvSpPr>
        <p:spPr>
          <a:xfrm>
            <a:off x="5486400" y="1828800"/>
            <a:ext cx="612648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9" name="Text 7"/>
          <p:cNvSpPr/>
          <p:nvPr/>
        </p:nvSpPr>
        <p:spPr>
          <a:xfrm>
            <a:off x="5715000" y="2011680"/>
            <a:ext cx="5669280" cy="32004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Mortality Rate by Cluster</a:t>
            </a:r>
            <a:endParaRPr lang="en-US" sz="1600" dirty="0"/>
          </a:p>
        </p:txBody>
      </p:sp>
      <p:graphicFrame>
        <p:nvGraphicFramePr>
          <p:cNvPr id="10" name="Chart 0"/>
          <p:cNvGraphicFramePr/>
          <p:nvPr/>
        </p:nvGraphicFramePr>
        <p:xfrm>
          <a:off x="5577840" y="2423160"/>
          <a:ext cx="58521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5577840" y="5532120"/>
            <a:ext cx="5852160" cy="457200"/>
          </a:xfrm>
          <a:prstGeom prst="rect">
            <a:avLst/>
          </a:prstGeom>
          <a:noFill/>
          <a:ln/>
        </p:spPr>
        <p:txBody>
          <a:bodyPr wrap="square" rtlCol="0" anchor="ctr"/>
          <a:lstStyle/>
          <a:p>
            <a:pPr marL="0" indent="0">
              <a:lnSpc>
                <a:spcPct val="120000"/>
              </a:lnSpc>
              <a:buNone/>
            </a:pPr>
            <a:r>
              <a:rPr lang="en-US" sz="1050" i="1" dirty="0">
                <a:solidFill>
                  <a:srgbClr val="6B7280"/>
                </a:solidFill>
                <a:latin typeface="Calibri" pitchFamily="34" charset="0"/>
                <a:ea typeface="Calibri" pitchFamily="34" charset="-122"/>
                <a:cs typeface="Calibri" pitchFamily="34" charset="-120"/>
              </a:rPr>
              <a:t>C6 = high CHF, diabetes, renal failure   |   C4 = cardiac arrhythmia + hypertension   |   C3 = lowest mortality, mostly anemia + hypertension</a:t>
            </a:r>
            <a:endParaRPr lang="en-US" sz="1050" dirty="0"/>
          </a:p>
        </p:txBody>
      </p:sp>
      <p:sp>
        <p:nvSpPr>
          <p:cNvPr id="12" name="Text 9"/>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We Don't Trust P-Values Alone</a:t>
            </a:r>
            <a:endParaRPr lang="en-US" sz="3000" dirty="0"/>
          </a:p>
        </p:txBody>
      </p:sp>
      <p:sp>
        <p:nvSpPr>
          <p:cNvPr id="4" name="Shape 2"/>
          <p:cNvSpPr/>
          <p:nvPr/>
        </p:nvSpPr>
        <p:spPr>
          <a:xfrm>
            <a:off x="548640" y="1828800"/>
            <a:ext cx="342900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029968"/>
            <a:ext cx="297180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P-value</a:t>
            </a:r>
            <a:endParaRPr lang="en-US" sz="1600" dirty="0"/>
          </a:p>
        </p:txBody>
      </p:sp>
      <p:sp>
        <p:nvSpPr>
          <p:cNvPr id="6" name="Text 4"/>
          <p:cNvSpPr/>
          <p:nvPr/>
        </p:nvSpPr>
        <p:spPr>
          <a:xfrm>
            <a:off x="777240" y="2450592"/>
            <a:ext cx="297180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Tells you whether a difference is likely real. With 32,233 patients, almost any real difference becomes "significant," so a tiny p-value alone doesn't tell you how much the clusters actually differ.</a:t>
            </a:r>
            <a:endParaRPr lang="en-US" sz="1250" dirty="0"/>
          </a:p>
        </p:txBody>
      </p:sp>
      <p:sp>
        <p:nvSpPr>
          <p:cNvPr id="7" name="Shape 5"/>
          <p:cNvSpPr/>
          <p:nvPr/>
        </p:nvSpPr>
        <p:spPr>
          <a:xfrm>
            <a:off x="4297680" y="1828800"/>
            <a:ext cx="342900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8" name="Text 6"/>
          <p:cNvSpPr/>
          <p:nvPr/>
        </p:nvSpPr>
        <p:spPr>
          <a:xfrm>
            <a:off x="4526280" y="2029968"/>
            <a:ext cx="297180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Cramer's V</a:t>
            </a:r>
            <a:endParaRPr lang="en-US" sz="1600" dirty="0"/>
          </a:p>
        </p:txBody>
      </p:sp>
      <p:sp>
        <p:nvSpPr>
          <p:cNvPr id="9" name="Text 7"/>
          <p:cNvSpPr/>
          <p:nvPr/>
        </p:nvSpPr>
        <p:spPr>
          <a:xfrm>
            <a:off x="4526280" y="2450592"/>
            <a:ext cx="297180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Measures how strongly cluster membership is associated with mortality, on a 0-1 scale. Roughly: 0.1 = small, 0.3 = medium, 0.5+ = large effect.</a:t>
            </a:r>
            <a:endParaRPr lang="en-US" sz="1250" dirty="0"/>
          </a:p>
        </p:txBody>
      </p:sp>
      <p:sp>
        <p:nvSpPr>
          <p:cNvPr id="10" name="Shape 8"/>
          <p:cNvSpPr/>
          <p:nvPr/>
        </p:nvSpPr>
        <p:spPr>
          <a:xfrm>
            <a:off x="8046720" y="1828800"/>
            <a:ext cx="3429000" cy="3291840"/>
          </a:xfrm>
          <a:prstGeom prst="roundRect">
            <a:avLst>
              <a:gd name="adj" fmla="val 222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11" name="Text 9"/>
          <p:cNvSpPr/>
          <p:nvPr/>
        </p:nvSpPr>
        <p:spPr>
          <a:xfrm>
            <a:off x="8275320" y="2029968"/>
            <a:ext cx="297180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Eta-squared</a:t>
            </a:r>
            <a:endParaRPr lang="en-US" sz="1600" dirty="0"/>
          </a:p>
        </p:txBody>
      </p:sp>
      <p:sp>
        <p:nvSpPr>
          <p:cNvPr id="12" name="Text 10"/>
          <p:cNvSpPr/>
          <p:nvPr/>
        </p:nvSpPr>
        <p:spPr>
          <a:xfrm>
            <a:off x="8275320" y="2450592"/>
            <a:ext cx="2971800" cy="2468880"/>
          </a:xfrm>
          <a:prstGeom prst="rect">
            <a:avLst/>
          </a:prstGeom>
          <a:noFill/>
          <a:ln/>
        </p:spPr>
        <p:txBody>
          <a:bodyPr wrap="square" rtlCol="0" anchor="ctr"/>
          <a:lstStyle/>
          <a:p>
            <a:pPr marL="0" indent="0">
              <a:lnSpc>
                <a:spcPct val="125000"/>
              </a:lnSpc>
              <a:buNone/>
            </a:pPr>
            <a:r>
              <a:rPr lang="en-US" sz="1250" dirty="0">
                <a:solidFill>
                  <a:srgbClr val="44464B"/>
                </a:solidFill>
                <a:latin typeface="Calibri" pitchFamily="34" charset="0"/>
                <a:ea typeface="Calibri" pitchFamily="34" charset="-122"/>
                <a:cs typeface="Calibri" pitchFamily="34" charset="-120"/>
              </a:rPr>
              <a:t>The share of variance in length of stay explained by which cluster a patient falls into, also 0-1. Same rough scale as Cramer's V.</a:t>
            </a:r>
            <a:endParaRPr lang="en-US" sz="1250" dirty="0"/>
          </a:p>
        </p:txBody>
      </p:sp>
      <p:sp>
        <p:nvSpPr>
          <p:cNvPr id="13" name="Text 11"/>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Effect Sizes: Vitals vs. Comorbidity Clusters</a:t>
            </a:r>
            <a:endParaRPr lang="en-US" sz="3000" dirty="0"/>
          </a:p>
        </p:txBody>
      </p:sp>
      <p:sp>
        <p:nvSpPr>
          <p:cNvPr id="4" name="Text 2"/>
          <p:cNvSpPr/>
          <p:nvPr/>
        </p:nvSpPr>
        <p:spPr>
          <a:xfrm>
            <a:off x="548640" y="1783080"/>
            <a:ext cx="10789920" cy="457200"/>
          </a:xfrm>
          <a:prstGeom prst="rect">
            <a:avLst/>
          </a:prstGeom>
          <a:noFill/>
          <a:ln/>
        </p:spPr>
        <p:txBody>
          <a:bodyPr wrap="square" rtlCol="0" anchor="ctr"/>
          <a:lstStyle/>
          <a:p>
            <a:pPr marL="0" indent="0">
              <a:buNone/>
            </a:pPr>
            <a:r>
              <a:rPr lang="en-US" sz="1400" dirty="0">
                <a:solidFill>
                  <a:srgbClr val="44464B"/>
                </a:solidFill>
                <a:latin typeface="Calibri" pitchFamily="34" charset="0"/>
                <a:ea typeface="Calibri" pitchFamily="34" charset="-122"/>
                <a:cs typeface="Calibri" pitchFamily="34" charset="-120"/>
              </a:rPr>
              <a:t>Both clusterings are statistically associated with outcomes (p &lt; 0.0001 in every test) - but the effect sizes tell a more honest, more modest story.</a:t>
            </a:r>
            <a:endParaRPr lang="en-US" sz="1400" dirty="0"/>
          </a:p>
        </p:txBody>
      </p:sp>
      <p:sp>
        <p:nvSpPr>
          <p:cNvPr id="5" name="Shape 3"/>
          <p:cNvSpPr/>
          <p:nvPr/>
        </p:nvSpPr>
        <p:spPr>
          <a:xfrm>
            <a:off x="548640" y="2377440"/>
            <a:ext cx="5394960" cy="3383280"/>
          </a:xfrm>
          <a:prstGeom prst="roundRect">
            <a:avLst>
              <a:gd name="adj" fmla="val 216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6" name="Text 4"/>
          <p:cNvSpPr/>
          <p:nvPr/>
        </p:nvSpPr>
        <p:spPr>
          <a:xfrm>
            <a:off x="777240" y="2560320"/>
            <a:ext cx="4937760" cy="32004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Mortality (Cramer's V)</a:t>
            </a:r>
            <a:endParaRPr lang="en-US" sz="1500" dirty="0"/>
          </a:p>
        </p:txBody>
      </p:sp>
      <p:graphicFrame>
        <p:nvGraphicFramePr>
          <p:cNvPr id="7" name="Chart 0"/>
          <p:cNvGraphicFramePr/>
          <p:nvPr/>
        </p:nvGraphicFramePr>
        <p:xfrm>
          <a:off x="640080" y="2926080"/>
          <a:ext cx="52120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446520" y="2377440"/>
            <a:ext cx="5166360" cy="3383280"/>
          </a:xfrm>
          <a:prstGeom prst="roundRect">
            <a:avLst>
              <a:gd name="adj" fmla="val 2162"/>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9" name="Text 6"/>
          <p:cNvSpPr/>
          <p:nvPr/>
        </p:nvSpPr>
        <p:spPr>
          <a:xfrm>
            <a:off x="6675120" y="2560320"/>
            <a:ext cx="4709160" cy="32004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Length of Stay (eta-squared)</a:t>
            </a:r>
            <a:endParaRPr lang="en-US" sz="1500" dirty="0"/>
          </a:p>
        </p:txBody>
      </p:sp>
      <p:graphicFrame>
        <p:nvGraphicFramePr>
          <p:cNvPr id="10" name="Chart 1"/>
          <p:cNvGraphicFramePr/>
          <p:nvPr/>
        </p:nvGraphicFramePr>
        <p:xfrm>
          <a:off x="6537960" y="2926080"/>
          <a:ext cx="493776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THE KEY QUESTION</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Do the Two Views Agree?</a:t>
            </a:r>
            <a:endParaRPr lang="en-US" sz="3000" dirty="0"/>
          </a:p>
        </p:txBody>
      </p:sp>
      <p:sp>
        <p:nvSpPr>
          <p:cNvPr id="4" name="Shape 2"/>
          <p:cNvSpPr/>
          <p:nvPr/>
        </p:nvSpPr>
        <p:spPr>
          <a:xfrm>
            <a:off x="548640" y="1828800"/>
            <a:ext cx="5029200" cy="3931920"/>
          </a:xfrm>
          <a:prstGeom prst="roundRect">
            <a:avLst>
              <a:gd name="adj" fmla="val 1860"/>
            </a:avLst>
          </a:prstGeom>
          <a:solidFill>
            <a:srgbClr val="FDF1E3"/>
          </a:solidFill>
          <a:ln w="12700">
            <a:solidFill>
              <a:srgbClr val="E3E7EA"/>
            </a:solidFill>
            <a:prstDash val="solid"/>
          </a:ln>
        </p:spPr>
      </p:sp>
      <p:sp>
        <p:nvSpPr>
          <p:cNvPr id="5" name="Text 3"/>
          <p:cNvSpPr/>
          <p:nvPr/>
        </p:nvSpPr>
        <p:spPr>
          <a:xfrm>
            <a:off x="777240" y="1993392"/>
            <a:ext cx="4572000" cy="228600"/>
          </a:xfrm>
          <a:prstGeom prst="rect">
            <a:avLst/>
          </a:prstGeom>
          <a:noFill/>
          <a:ln/>
        </p:spPr>
        <p:txBody>
          <a:bodyPr wrap="square" rtlCol="0" anchor="ctr"/>
          <a:lstStyle/>
          <a:p>
            <a:pPr marL="0" indent="0">
              <a:buNone/>
            </a:pPr>
            <a:r>
              <a:rPr lang="en-US" sz="1000" b="1" kern="0" spc="200" dirty="0">
                <a:solidFill>
                  <a:srgbClr val="B25E09"/>
                </a:solidFill>
                <a:latin typeface="Calibri" pitchFamily="34" charset="0"/>
                <a:ea typeface="Calibri" pitchFamily="34" charset="-122"/>
                <a:cs typeface="Calibri" pitchFamily="34" charset="-120"/>
              </a:rPr>
              <a:t>FINDING</a:t>
            </a:r>
            <a:endParaRPr lang="en-US" sz="1000" dirty="0"/>
          </a:p>
        </p:txBody>
      </p:sp>
      <p:sp>
        <p:nvSpPr>
          <p:cNvPr id="6" name="Text 4"/>
          <p:cNvSpPr/>
          <p:nvPr/>
        </p:nvSpPr>
        <p:spPr>
          <a:xfrm>
            <a:off x="777240" y="2286000"/>
            <a:ext cx="4572000" cy="1371600"/>
          </a:xfrm>
          <a:prstGeom prst="rect">
            <a:avLst/>
          </a:prstGeom>
          <a:noFill/>
          <a:ln/>
        </p:spPr>
        <p:txBody>
          <a:bodyPr wrap="square" rtlCol="0" anchor="ctr"/>
          <a:lstStyle/>
          <a:p>
            <a:pPr marL="0" indent="0">
              <a:buNone/>
            </a:pPr>
            <a:r>
              <a:rPr lang="en-US" sz="3400" b="1" dirty="0">
                <a:solidFill>
                  <a:srgbClr val="B25E09"/>
                </a:solidFill>
                <a:latin typeface="Cambria" pitchFamily="34" charset="0"/>
                <a:ea typeface="Cambria" pitchFamily="34" charset="-122"/>
                <a:cs typeface="Cambria" pitchFamily="34" charset="-120"/>
              </a:rPr>
              <a:t>ARI 0.012</a:t>
            </a:r>
            <a:endParaRPr lang="en-US" sz="3400" dirty="0"/>
          </a:p>
          <a:p>
            <a:pPr marL="0" indent="0">
              <a:buNone/>
            </a:pPr>
            <a:r>
              <a:rPr lang="en-US" sz="3400" b="1" dirty="0">
                <a:solidFill>
                  <a:srgbClr val="B25E09"/>
                </a:solidFill>
                <a:latin typeface="Cambria" pitchFamily="34" charset="0"/>
                <a:ea typeface="Cambria" pitchFamily="34" charset="-122"/>
                <a:cs typeface="Cambria" pitchFamily="34" charset="-120"/>
              </a:rPr>
              <a:t>NMI 0.008</a:t>
            </a:r>
            <a:endParaRPr lang="en-US" sz="3400" dirty="0"/>
          </a:p>
        </p:txBody>
      </p:sp>
      <p:sp>
        <p:nvSpPr>
          <p:cNvPr id="7" name="Text 5"/>
          <p:cNvSpPr/>
          <p:nvPr/>
        </p:nvSpPr>
        <p:spPr>
          <a:xfrm>
            <a:off x="777240" y="3657600"/>
            <a:ext cx="4572000" cy="1965960"/>
          </a:xfrm>
          <a:prstGeom prst="rect">
            <a:avLst/>
          </a:prstGeom>
          <a:noFill/>
          <a:ln/>
        </p:spPr>
        <p:txBody>
          <a:bodyPr wrap="square" rtlCol="0" anchor="ctr"/>
          <a:lstStyle/>
          <a:p>
            <a:pPr marL="0" indent="0">
              <a:lnSpc>
                <a:spcPct val="120000"/>
              </a:lnSpc>
              <a:buNone/>
            </a:pPr>
            <a:r>
              <a:rPr lang="en-US" sz="1300" dirty="0">
                <a:solidFill>
                  <a:srgbClr val="44464B"/>
                </a:solidFill>
                <a:latin typeface="Calibri" pitchFamily="34" charset="0"/>
                <a:ea typeface="Calibri" pitchFamily="34" charset="-122"/>
                <a:cs typeface="Calibri" pitchFamily="34" charset="-120"/>
              </a:rPr>
              <a:t>Both scores run 0 to 1, where 1 means the two clusterings are identical and 0 means no better than random agreement. Close to zero means a patient's acute-vitals cluster tells you almost nothing about which comorbidity cluster they're in.</a:t>
            </a:r>
            <a:endParaRPr lang="en-US" sz="1300" dirty="0"/>
          </a:p>
        </p:txBody>
      </p:sp>
      <p:sp>
        <p:nvSpPr>
          <p:cNvPr id="8" name="Shape 6"/>
          <p:cNvSpPr/>
          <p:nvPr/>
        </p:nvSpPr>
        <p:spPr>
          <a:xfrm>
            <a:off x="6446520" y="1828800"/>
            <a:ext cx="516636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9" name="Text 7"/>
          <p:cNvSpPr/>
          <p:nvPr/>
        </p:nvSpPr>
        <p:spPr>
          <a:xfrm>
            <a:off x="6675120" y="2011680"/>
            <a:ext cx="4709160" cy="32004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What This Means</a:t>
            </a:r>
            <a:endParaRPr lang="en-US" sz="1600" dirty="0"/>
          </a:p>
        </p:txBody>
      </p:sp>
      <p:sp>
        <p:nvSpPr>
          <p:cNvPr id="10" name="Text 8"/>
          <p:cNvSpPr/>
          <p:nvPr/>
        </p:nvSpPr>
        <p:spPr>
          <a:xfrm>
            <a:off x="6675120" y="2423160"/>
            <a:ext cx="4709160" cy="3200400"/>
          </a:xfrm>
          <a:prstGeom prst="rect">
            <a:avLst/>
          </a:prstGeom>
          <a:noFill/>
          <a:ln/>
        </p:spPr>
        <p:txBody>
          <a:bodyPr wrap="square" rtlCol="0" anchor="ctr"/>
          <a:lstStyle/>
          <a:p>
            <a:pPr marL="0" indent="0">
              <a:lnSpc>
                <a:spcPct val="130000"/>
              </a:lnSpc>
              <a:buNone/>
            </a:pPr>
            <a:r>
              <a:rPr lang="en-US" sz="1300" dirty="0">
                <a:solidFill>
                  <a:srgbClr val="44464B"/>
                </a:solidFill>
                <a:latin typeface="Calibri" pitchFamily="34" charset="0"/>
                <a:ea typeface="Calibri" pitchFamily="34" charset="-122"/>
                <a:cs typeface="Calibri" pitchFamily="34" charset="-120"/>
              </a:rPr>
              <a:t>Acute severity and chronic burden behave like two largely independent axes in this cohort.
A patient can be chronically ill with few visible signs of acute distress right now - or acutely crashing with a light comorbidity history.
</a:t>
            </a:r>
            <a:r>
              <a:rPr lang="en-US" sz="1300" b="1" dirty="0">
                <a:solidFill>
                  <a:srgbClr val="1E2761"/>
                </a:solidFill>
                <a:latin typeface="Calibri" pitchFamily="34" charset="0"/>
                <a:ea typeface="Calibri" pitchFamily="34" charset="-122"/>
                <a:cs typeface="Calibri" pitchFamily="34" charset="-120"/>
              </a:rPr>
              <a:t>Neither view can substitute for the other.</a:t>
            </a:r>
            <a:endParaRPr lang="en-US" sz="1300" dirty="0"/>
          </a:p>
        </p:txBody>
      </p:sp>
      <p:sp>
        <p:nvSpPr>
          <p:cNvPr id="11" name="Text 9"/>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INTERPRETATION</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Actually Distinguishes the Clusters?</a:t>
            </a:r>
            <a:endParaRPr lang="en-US" sz="3000" dirty="0"/>
          </a:p>
        </p:txBody>
      </p:sp>
      <p:sp>
        <p:nvSpPr>
          <p:cNvPr id="4" name="Shape 2"/>
          <p:cNvSpPr/>
          <p:nvPr/>
        </p:nvSpPr>
        <p:spPr>
          <a:xfrm>
            <a:off x="548640" y="1828800"/>
            <a:ext cx="6675120" cy="3931920"/>
          </a:xfrm>
          <a:prstGeom prst="roundRect">
            <a:avLst>
              <a:gd name="adj" fmla="val 1860"/>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011680"/>
            <a:ext cx="6217920" cy="32004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Cluster 1 ("acute") vs. Cluster 0 ("stable") - % difference</a:t>
            </a:r>
            <a:endParaRPr lang="en-US" sz="1500" dirty="0"/>
          </a:p>
        </p:txBody>
      </p:sp>
      <p:graphicFrame>
        <p:nvGraphicFramePr>
          <p:cNvPr id="6" name="Chart 0"/>
          <p:cNvGraphicFramePr/>
          <p:nvPr/>
        </p:nvGraphicFramePr>
        <p:xfrm>
          <a:off x="640080" y="2468880"/>
          <a:ext cx="64922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40080" y="5577840"/>
            <a:ext cx="6492240" cy="36576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Averages: Cluster 0 - GCS 13.5, lactate 1.7, WBC 10.7, HR 82.8   |   Cluster 1 - GCS 10.0, lactate 2.8, WBC 14.4, HR 90.2</a:t>
            </a:r>
            <a:endParaRPr lang="en-US" sz="950" dirty="0"/>
          </a:p>
        </p:txBody>
      </p:sp>
      <p:sp>
        <p:nvSpPr>
          <p:cNvPr id="8" name="Shape 5"/>
          <p:cNvSpPr/>
          <p:nvPr/>
        </p:nvSpPr>
        <p:spPr>
          <a:xfrm>
            <a:off x="7772400" y="1828800"/>
            <a:ext cx="3840480" cy="3931920"/>
          </a:xfrm>
          <a:prstGeom prst="roundRect">
            <a:avLst>
              <a:gd name="adj" fmla="val 1905"/>
            </a:avLst>
          </a:prstGeom>
          <a:solidFill>
            <a:srgbClr val="FDF1E3"/>
          </a:solidFill>
          <a:ln w="12700">
            <a:solidFill>
              <a:srgbClr val="E3E7EA"/>
            </a:solidFill>
            <a:prstDash val="solid"/>
          </a:ln>
        </p:spPr>
      </p:sp>
      <p:sp>
        <p:nvSpPr>
          <p:cNvPr id="9" name="Text 6"/>
          <p:cNvSpPr/>
          <p:nvPr/>
        </p:nvSpPr>
        <p:spPr>
          <a:xfrm>
            <a:off x="8001000" y="1993392"/>
            <a:ext cx="3383280" cy="228600"/>
          </a:xfrm>
          <a:prstGeom prst="rect">
            <a:avLst/>
          </a:prstGeom>
          <a:noFill/>
          <a:ln/>
        </p:spPr>
        <p:txBody>
          <a:bodyPr wrap="square" rtlCol="0" anchor="ctr"/>
          <a:lstStyle/>
          <a:p>
            <a:pPr marL="0" indent="0">
              <a:buNone/>
            </a:pPr>
            <a:r>
              <a:rPr lang="en-US" sz="1000" b="1" kern="0" spc="200" dirty="0">
                <a:solidFill>
                  <a:srgbClr val="B25E09"/>
                </a:solidFill>
                <a:latin typeface="Calibri" pitchFamily="34" charset="0"/>
                <a:ea typeface="Calibri" pitchFamily="34" charset="-122"/>
                <a:cs typeface="Calibri" pitchFamily="34" charset="-120"/>
              </a:rPr>
              <a:t>FINDING</a:t>
            </a:r>
            <a:endParaRPr lang="en-US" sz="1000" dirty="0"/>
          </a:p>
        </p:txBody>
      </p:sp>
      <p:sp>
        <p:nvSpPr>
          <p:cNvPr id="10" name="Text 7"/>
          <p:cNvSpPr/>
          <p:nvPr/>
        </p:nvSpPr>
        <p:spPr>
          <a:xfrm>
            <a:off x="8001000" y="2286000"/>
            <a:ext cx="3383280" cy="3337560"/>
          </a:xfrm>
          <a:prstGeom prst="rect">
            <a:avLst/>
          </a:prstGeom>
          <a:noFill/>
          <a:ln/>
        </p:spPr>
        <p:txBody>
          <a:bodyPr wrap="square" rtlCol="0" anchor="ctr"/>
          <a:lstStyle/>
          <a:p>
            <a:pPr marL="0" indent="0">
              <a:lnSpc>
                <a:spcPct val="125000"/>
              </a:lnSpc>
              <a:buNone/>
            </a:pPr>
            <a:r>
              <a:rPr lang="en-US" sz="1300" dirty="0">
                <a:solidFill>
                  <a:srgbClr val="44464B"/>
                </a:solidFill>
                <a:latin typeface="Calibri" pitchFamily="34" charset="0"/>
                <a:ea typeface="Calibri" pitchFamily="34" charset="-122"/>
                <a:cs typeface="Calibri" pitchFamily="34" charset="-120"/>
              </a:rPr>
              <a:t>Cluster 1 has lower consciousness (GCS), higher lactate (poor tissue oxygenation), and higher white cell count - a coherent "sicker right now" signature the clustering found without ever being told the outcome.</a:t>
            </a:r>
            <a:endParaRPr lang="en-US" sz="1300" dirty="0"/>
          </a:p>
        </p:txBody>
      </p:sp>
      <p:sp>
        <p:nvSpPr>
          <p:cNvPr id="11" name="Text 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WRAP-UP</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We Learned</a:t>
            </a:r>
            <a:endParaRPr lang="en-US" sz="3000" dirty="0"/>
          </a:p>
        </p:txBody>
      </p:sp>
      <p:sp>
        <p:nvSpPr>
          <p:cNvPr id="4" name="Shape 2"/>
          <p:cNvSpPr/>
          <p:nvPr/>
        </p:nvSpPr>
        <p:spPr>
          <a:xfrm>
            <a:off x="548640" y="1828800"/>
            <a:ext cx="5394960" cy="4114800"/>
          </a:xfrm>
          <a:prstGeom prst="roundRect">
            <a:avLst>
              <a:gd name="adj" fmla="val 1778"/>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5" name="Text 3"/>
          <p:cNvSpPr/>
          <p:nvPr/>
        </p:nvSpPr>
        <p:spPr>
          <a:xfrm>
            <a:off x="777240" y="2011680"/>
            <a:ext cx="4937760" cy="32004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Takeaways</a:t>
            </a:r>
            <a:endParaRPr lang="en-US" sz="1600" dirty="0"/>
          </a:p>
        </p:txBody>
      </p:sp>
      <p:sp>
        <p:nvSpPr>
          <p:cNvPr id="6" name="Text 4"/>
          <p:cNvSpPr/>
          <p:nvPr/>
        </p:nvSpPr>
        <p:spPr>
          <a:xfrm>
            <a:off x="777240" y="2423160"/>
            <a:ext cx="4937760" cy="3383280"/>
          </a:xfrm>
          <a:prstGeom prst="rect">
            <a:avLst/>
          </a:prstGeom>
          <a:noFill/>
          <a:ln/>
        </p:spPr>
        <p:txBody>
          <a:bodyPr wrap="square" rtlCol="0" anchor="ctr"/>
          <a:lstStyle/>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Acute vitals cluster into a real, if modest, “sicker vs. stable” split (silhouette 0.121).
</a:t>
            </a:r>
            <a:endParaRPr lang="en-US" sz="1300" dirty="0"/>
          </a:p>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Comorbidities cluster into 7 distinct chronic-disease profiles (silhouette 0.196).
</a:t>
            </a:r>
            <a:endParaRPr lang="en-US" sz="1300" dirty="0"/>
          </a:p>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The two clusterings barely agree with each other (ARI 0.012) - the main finding of this project.
</a:t>
            </a:r>
            <a:endParaRPr lang="en-US" sz="1300" dirty="0"/>
          </a:p>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Both associate with mortality/LOS, but with small effect sizes - real, not dominant.</a:t>
            </a:r>
            <a:endParaRPr lang="en-US" sz="1300" dirty="0"/>
          </a:p>
        </p:txBody>
      </p:sp>
      <p:sp>
        <p:nvSpPr>
          <p:cNvPr id="7" name="Shape 5"/>
          <p:cNvSpPr/>
          <p:nvPr/>
        </p:nvSpPr>
        <p:spPr>
          <a:xfrm>
            <a:off x="6446520" y="1828800"/>
            <a:ext cx="5166360" cy="4114800"/>
          </a:xfrm>
          <a:prstGeom prst="roundRect">
            <a:avLst>
              <a:gd name="adj" fmla="val 1778"/>
            </a:avLst>
          </a:prstGeom>
          <a:solidFill>
            <a:srgbClr val="F7F9FA"/>
          </a:solidFill>
          <a:ln w="12700">
            <a:solidFill>
              <a:srgbClr val="E3E7EA"/>
            </a:solidFill>
            <a:prstDash val="solid"/>
          </a:ln>
          <a:effectLst>
            <a:outerShdw blurRad="76200" dist="25400" dir="5400000" algn="bl" rotWithShape="0">
              <a:srgbClr val="9AA5B1">
                <a:alpha val="25000"/>
              </a:srgbClr>
            </a:outerShdw>
          </a:effectLst>
        </p:spPr>
      </p:sp>
      <p:sp>
        <p:nvSpPr>
          <p:cNvPr id="8" name="Text 6"/>
          <p:cNvSpPr/>
          <p:nvPr/>
        </p:nvSpPr>
        <p:spPr>
          <a:xfrm>
            <a:off x="6675120" y="2011680"/>
            <a:ext cx="4709160" cy="32004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Limitations</a:t>
            </a:r>
            <a:endParaRPr lang="en-US" sz="1600" dirty="0"/>
          </a:p>
        </p:txBody>
      </p:sp>
      <p:sp>
        <p:nvSpPr>
          <p:cNvPr id="9" name="Text 7"/>
          <p:cNvSpPr/>
          <p:nvPr/>
        </p:nvSpPr>
        <p:spPr>
          <a:xfrm>
            <a:off x="6675120" y="2423160"/>
            <a:ext cx="4709160" cy="3383280"/>
          </a:xfrm>
          <a:prstGeom prst="rect">
            <a:avLst/>
          </a:prstGeom>
          <a:noFill/>
          <a:ln/>
        </p:spPr>
        <p:txBody>
          <a:bodyPr wrap="square" rtlCol="0" anchor="ctr"/>
          <a:lstStyle/>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Comorbidity mapping is a simplified 15-category subset of Elixhauser, not the full validated index.
</a:t>
            </a:r>
            <a:endParaRPr lang="en-US" sz="1300" dirty="0"/>
          </a:p>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Vitals only cover the first 24 hours - a patient who crashes on day 3 looks the same as one who stayed stable.
</a:t>
            </a:r>
            <a:endParaRPr lang="en-US" sz="1300" dirty="0"/>
          </a:p>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K-Means isn't the ideal method for binary comorbidity data - used for both sets for direct comparability.
</a:t>
            </a:r>
            <a:endParaRPr lang="en-US" sz="1300" dirty="0"/>
          </a:p>
          <a:p>
            <a:pPr marL="342900" indent="-342900">
              <a:lnSpc>
                <a:spcPct val="130000"/>
              </a:lnSpc>
              <a:spcAft>
                <a:spcPts val="1000"/>
              </a:spcAft>
              <a:buSzPct val="100000"/>
              <a:buChar char="•"/>
            </a:pPr>
            <a:r>
              <a:rPr lang="en-US" sz="1300" dirty="0">
                <a:solidFill>
                  <a:srgbClr val="44464B"/>
                </a:solidFill>
                <a:latin typeface="Calibri" pitchFamily="34" charset="0"/>
                <a:ea typeface="Calibri" pitchFamily="34" charset="-122"/>
                <a:cs typeface="Calibri" pitchFamily="34" charset="-120"/>
              </a:rPr>
              <a:t>No comparison against other clustering algorithms (GMM, hierarchical) or hyperparameter search.</a:t>
            </a:r>
            <a:endParaRPr lang="en-US" sz="1300" dirty="0"/>
          </a:p>
        </p:txBody>
      </p:sp>
      <p:sp>
        <p:nvSpPr>
          <p:cNvPr id="10" name="Text 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82296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Try It Yourself</a:t>
            </a:r>
            <a:endParaRPr lang="en-US" sz="3200" dirty="0"/>
          </a:p>
        </p:txBody>
      </p:sp>
      <p:sp>
        <p:nvSpPr>
          <p:cNvPr id="3" name="Shape 1"/>
          <p:cNvSpPr/>
          <p:nvPr/>
        </p:nvSpPr>
        <p:spPr>
          <a:xfrm>
            <a:off x="548640" y="1920240"/>
            <a:ext cx="457200" cy="457200"/>
          </a:xfrm>
          <a:prstGeom prst="ellipse">
            <a:avLst/>
          </a:prstGeom>
          <a:solidFill>
            <a:srgbClr val="00A896"/>
          </a:solidFill>
          <a:ln/>
        </p:spPr>
      </p:sp>
      <p:sp>
        <p:nvSpPr>
          <p:cNvPr id="4" name="Text 2"/>
          <p:cNvSpPr/>
          <p:nvPr/>
        </p:nvSpPr>
        <p:spPr>
          <a:xfrm>
            <a:off x="548640" y="1920240"/>
            <a:ext cx="457200" cy="45720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5" name="Text 3"/>
          <p:cNvSpPr/>
          <p:nvPr/>
        </p:nvSpPr>
        <p:spPr>
          <a:xfrm>
            <a:off x="1234440" y="1874520"/>
            <a:ext cx="9601200" cy="548640"/>
          </a:xfrm>
          <a:prstGeom prst="rect">
            <a:avLst/>
          </a:prstGeom>
          <a:noFill/>
          <a:ln/>
        </p:spPr>
        <p:txBody>
          <a:bodyPr wrap="square" rtlCol="0" anchor="ctr"/>
          <a:lstStyle/>
          <a:p>
            <a:pPr marL="0" indent="0">
              <a:buNone/>
            </a:pPr>
            <a:r>
              <a:rPr lang="en-US" sz="1500" dirty="0">
                <a:solidFill>
                  <a:srgbClr val="E3E8F0"/>
                </a:solidFill>
                <a:latin typeface="Calibri" pitchFamily="34" charset="0"/>
                <a:ea typeface="Calibri" pitchFamily="34" charset="-122"/>
                <a:cs typeface="Calibri" pitchFamily="34" charset="-120"/>
              </a:rPr>
              <a:t>Get PhysioNet-credentialed access to MIMIC-III, and load it into Google BigQuery.</a:t>
            </a:r>
            <a:endParaRPr lang="en-US" sz="1500" dirty="0"/>
          </a:p>
        </p:txBody>
      </p:sp>
      <p:sp>
        <p:nvSpPr>
          <p:cNvPr id="6" name="Shape 4"/>
          <p:cNvSpPr/>
          <p:nvPr/>
        </p:nvSpPr>
        <p:spPr>
          <a:xfrm>
            <a:off x="548640" y="2788920"/>
            <a:ext cx="457200" cy="457200"/>
          </a:xfrm>
          <a:prstGeom prst="ellipse">
            <a:avLst/>
          </a:prstGeom>
          <a:solidFill>
            <a:srgbClr val="00A896"/>
          </a:solidFill>
          <a:ln/>
        </p:spPr>
      </p:sp>
      <p:sp>
        <p:nvSpPr>
          <p:cNvPr id="7" name="Text 5"/>
          <p:cNvSpPr/>
          <p:nvPr/>
        </p:nvSpPr>
        <p:spPr>
          <a:xfrm>
            <a:off x="548640" y="2788920"/>
            <a:ext cx="457200" cy="45720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8" name="Text 6"/>
          <p:cNvSpPr/>
          <p:nvPr/>
        </p:nvSpPr>
        <p:spPr>
          <a:xfrm>
            <a:off x="1234440" y="2743200"/>
            <a:ext cx="9601200" cy="548640"/>
          </a:xfrm>
          <a:prstGeom prst="rect">
            <a:avLst/>
          </a:prstGeom>
          <a:noFill/>
          <a:ln/>
        </p:spPr>
        <p:txBody>
          <a:bodyPr wrap="square" rtlCol="0" anchor="ctr"/>
          <a:lstStyle/>
          <a:p>
            <a:pPr marL="0" indent="0">
              <a:buNone/>
            </a:pPr>
            <a:r>
              <a:rPr lang="en-US" sz="1500" dirty="0">
                <a:solidFill>
                  <a:srgbClr val="E3E8F0"/>
                </a:solidFill>
                <a:latin typeface="Calibri" pitchFamily="34" charset="0"/>
                <a:ea typeface="Calibri" pitchFamily="34" charset="-122"/>
                <a:cs typeface="Calibri" pitchFamily="34" charset="-120"/>
              </a:rPr>
              <a:t>Run the SQL queries in the notebook to build the cohort, vitals/labs, and comorbidity tables.</a:t>
            </a:r>
            <a:endParaRPr lang="en-US" sz="1500" dirty="0"/>
          </a:p>
        </p:txBody>
      </p:sp>
      <p:sp>
        <p:nvSpPr>
          <p:cNvPr id="9" name="Shape 7"/>
          <p:cNvSpPr/>
          <p:nvPr/>
        </p:nvSpPr>
        <p:spPr>
          <a:xfrm>
            <a:off x="548640" y="3657600"/>
            <a:ext cx="457200" cy="457200"/>
          </a:xfrm>
          <a:prstGeom prst="ellipse">
            <a:avLst/>
          </a:prstGeom>
          <a:solidFill>
            <a:srgbClr val="00A896"/>
          </a:solidFill>
          <a:ln/>
        </p:spPr>
      </p:sp>
      <p:sp>
        <p:nvSpPr>
          <p:cNvPr id="10" name="Text 8"/>
          <p:cNvSpPr/>
          <p:nvPr/>
        </p:nvSpPr>
        <p:spPr>
          <a:xfrm>
            <a:off x="548640" y="3657600"/>
            <a:ext cx="457200" cy="45720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11" name="Text 9"/>
          <p:cNvSpPr/>
          <p:nvPr/>
        </p:nvSpPr>
        <p:spPr>
          <a:xfrm>
            <a:off x="1234440" y="3611880"/>
            <a:ext cx="9601200" cy="548640"/>
          </a:xfrm>
          <a:prstGeom prst="rect">
            <a:avLst/>
          </a:prstGeom>
          <a:noFill/>
          <a:ln/>
        </p:spPr>
        <p:txBody>
          <a:bodyPr wrap="square" rtlCol="0" anchor="ctr"/>
          <a:lstStyle/>
          <a:p>
            <a:pPr marL="0" indent="0">
              <a:buNone/>
            </a:pPr>
            <a:r>
              <a:rPr lang="en-US" sz="1500" dirty="0">
                <a:solidFill>
                  <a:srgbClr val="E3E8F0"/>
                </a:solidFill>
                <a:latin typeface="Calibri" pitchFamily="34" charset="0"/>
                <a:ea typeface="Calibri" pitchFamily="34" charset="-122"/>
                <a:cs typeface="Calibri" pitchFamily="34" charset="-120"/>
              </a:rPr>
              <a:t>Install scikit-learn, scipy, and umap-learn.</a:t>
            </a:r>
            <a:endParaRPr lang="en-US" sz="1500" dirty="0"/>
          </a:p>
        </p:txBody>
      </p:sp>
      <p:sp>
        <p:nvSpPr>
          <p:cNvPr id="12" name="Shape 10"/>
          <p:cNvSpPr/>
          <p:nvPr/>
        </p:nvSpPr>
        <p:spPr>
          <a:xfrm>
            <a:off x="548640" y="4526280"/>
            <a:ext cx="457200" cy="457200"/>
          </a:xfrm>
          <a:prstGeom prst="ellipse">
            <a:avLst/>
          </a:prstGeom>
          <a:solidFill>
            <a:srgbClr val="00A896"/>
          </a:solidFill>
          <a:ln/>
        </p:spPr>
      </p:sp>
      <p:sp>
        <p:nvSpPr>
          <p:cNvPr id="13" name="Text 11"/>
          <p:cNvSpPr/>
          <p:nvPr/>
        </p:nvSpPr>
        <p:spPr>
          <a:xfrm>
            <a:off x="548640" y="4526280"/>
            <a:ext cx="457200" cy="45720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14" name="Text 12"/>
          <p:cNvSpPr/>
          <p:nvPr/>
        </p:nvSpPr>
        <p:spPr>
          <a:xfrm>
            <a:off x="1234440" y="4480560"/>
            <a:ext cx="9601200" cy="548640"/>
          </a:xfrm>
          <a:prstGeom prst="rect">
            <a:avLst/>
          </a:prstGeom>
          <a:noFill/>
          <a:ln/>
        </p:spPr>
        <p:txBody>
          <a:bodyPr wrap="square" rtlCol="0" anchor="ctr"/>
          <a:lstStyle/>
          <a:p>
            <a:pPr marL="0" indent="0">
              <a:buNone/>
            </a:pPr>
            <a:r>
              <a:rPr lang="en-US" sz="1500" dirty="0">
                <a:solidFill>
                  <a:srgbClr val="E3E8F0"/>
                </a:solidFill>
                <a:latin typeface="Calibri" pitchFamily="34" charset="0"/>
                <a:ea typeface="Calibri" pitchFamily="34" charset="-122"/>
                <a:cs typeface="Calibri" pitchFamily="34" charset="-120"/>
              </a:rPr>
              <a:t>Run the notebook top to bottom - no manual steps needed in between.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cp:revision>
  <dcterms:created xsi:type="dcterms:W3CDTF">2026-07-19T13:37:20Z</dcterms:created>
  <dcterms:modified xsi:type="dcterms:W3CDTF">2026-07-19T13:47:48Z</dcterms:modified>
</cp:coreProperties>
</file>