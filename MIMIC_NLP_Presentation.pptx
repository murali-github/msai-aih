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9B3153-CE56-36E2-0E37-96C1DD391315}" v="86" dt="2026-07-09T01:10:59.8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Entity count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QUANTITY</c:v>
                </c:pt>
                <c:pt idx="1">
                  <c:v>PRODUCT</c:v>
                </c:pt>
                <c:pt idx="2">
                  <c:v>PERCENT</c:v>
                </c:pt>
                <c:pt idx="3">
                  <c:v>GPE</c:v>
                </c:pt>
                <c:pt idx="4">
                  <c:v>TIME</c:v>
                </c:pt>
                <c:pt idx="5">
                  <c:v>DATE</c:v>
                </c:pt>
                <c:pt idx="6">
                  <c:v>PERSON</c:v>
                </c:pt>
                <c:pt idx="7">
                  <c:v>ORG</c:v>
                </c:pt>
                <c:pt idx="8">
                  <c:v>CARDINAL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</c:v>
                </c:pt>
                <c:pt idx="1">
                  <c:v>41</c:v>
                </c:pt>
                <c:pt idx="2">
                  <c:v>44</c:v>
                </c:pt>
                <c:pt idx="3">
                  <c:v>81</c:v>
                </c:pt>
                <c:pt idx="4">
                  <c:v>117</c:v>
                </c:pt>
                <c:pt idx="5">
                  <c:v>231</c:v>
                </c:pt>
                <c:pt idx="6">
                  <c:v>312</c:v>
                </c:pt>
                <c:pt idx="7">
                  <c:v>906</c:v>
                </c:pt>
                <c:pt idx="8">
                  <c:v>1246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40-4DD3-859E-14C4CB8D25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Entity count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DISEASE</c:v>
                </c:pt>
                <c:pt idx="1">
                  <c:v>CHEMICAL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1207</c:v>
                </c:pt>
                <c:pt idx="1">
                  <c:v>779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E0-4986-AE03-ED9EC003CAB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Entity count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CONDITION</c:v>
                </c:pt>
                <c:pt idx="1">
                  <c:v>SYMPTOM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6A-4C4B-877E-3F180CDA23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F3073E-6672-46EE-A8E5-BF0CFCA79A80}" type="datetimeFigureOut"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52B5F-5495-46D3-863F-A7BE5027D20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2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38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MIMIC-III NLP Assignment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822960" y="34290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spaCy, scispaCy, and medspaCy on Real ICU Discharge Notes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8FA3C4"/>
                </a:solidFill>
                <a:latin typeface="Calibri"/>
                <a:ea typeface="Calibri"/>
                <a:cs typeface="Calibri"/>
              </a:rPr>
              <a:t>AI 395T — AI for Healthcare  |  Summer 2026  | Murali Balarama Chakaravarthy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Compare Three NLP Tools on Clinical Text?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27889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It Solves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33375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NLP tools miss a lot of clinical meaning - they don't know 'MI' means heart attack, or that 'denies pain' is a negative finding.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89120" y="18745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663440" y="27889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663440" y="33375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is general-purpose. scispaCy adds biomedical training. medspaCy adds clinical context - negation, family history, hypothetical statements.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229600" y="18745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503920" y="27889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503920" y="33375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NLP tool changes what information you can reliably pull out of real patient notes.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Cohort: MIMIC-III discharge summaries, patients diagnosed with subarachnoid hemorrhage (ICD-9 430)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Pipeline Is Structured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463040" y="21214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&amp; Data Source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pulled from Google BigQuery (MIMIC-III public dataset)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Cohort: patients with ICD-9 code 430 (subarachnoid hemorrhage)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type: Discharge summaries only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matching notes found; a smaller sample used for processing speed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 brackets and extra whitespace cleaned before NLP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8288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32320" y="21214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Tool Does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extraction: find clinical terms in the text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word2vec: turn words into number vectors based on context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t-SNE: compress those vectors down to 2D so we can plot and compare them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steps run for spaCy, scispaCy, and medspaCy on the same notes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spaCy — General-Purpose NLP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baseline: fast, well-tested, not trained on medical text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9436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240280"/>
            <a:ext cx="534924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standard named entity recognition (people, places, dates, numbers) plus word2vec and t-SNE on the same notes.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fair baseline to measure the other two tools against - free of any medical training.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b="1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How it was run: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Load </a:t>
            </a:r>
            <a:r>
              <a:rPr lang="en-US" sz="140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en_core_web_sm</a:t>
            </a: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, extract entities, tokenize, train word2vec, plot tuned t-SNE.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720840" y="1965960"/>
            <a:ext cx="4892040" cy="3977640"/>
          </a:xfrm>
          <a:prstGeom prst="roundRect">
            <a:avLst>
              <a:gd name="adj" fmla="val 1839"/>
            </a:avLst>
          </a:prstGeom>
          <a:solidFill>
            <a:srgbClr val="FEF7EC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589520" y="2258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95160" y="2834640"/>
            <a:ext cx="4343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3,104 entities found across 17 label types, but the top ones were CARDINAL, ORG, and PERSON - mostly noise like numbers and section headers, not clinical concepts.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95160" y="470916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vocabulary size: 2,306 words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en_core_web_sm  |  Output: entity counts, word2vec, tuned t-SNE plot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                    </a:t>
            </a:r>
            <a:r>
              <a:rPr lang="en-US" sz="2600" b="1" dirty="0" err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spaCy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 — Extracted Entities &amp; word2vec</a:t>
            </a:r>
            <a:endParaRPr lang="en-US" sz="2600" dirty="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9494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417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Entities (by label)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5564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"Addendum" -&gt; PERSON, "PO" -&gt; ORG, "30" -&gt; CARDINAL (mostly noise)</a:t>
            </a:r>
            <a:endParaRPr lang="en-US" sz="11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777240" y="2103120"/>
          <a:ext cx="64008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1234440"/>
            <a:ext cx="3931920" cy="5074920"/>
          </a:xfrm>
          <a:prstGeom prst="roundRect">
            <a:avLst>
              <a:gd name="adj" fmla="val 1860"/>
            </a:avLst>
          </a:prstGeom>
          <a:solidFill>
            <a:srgbClr val="EAFBF6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14173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2,306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955280" y="2880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words learned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955280" y="342900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size: 100 dimensions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5 words of context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count: 2 occurrences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on: tokenized note text from this tool's pipeline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                       </a:t>
            </a:r>
            <a:r>
              <a:rPr lang="en-US" sz="2600" b="1" dirty="0" err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spaCy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 — Tuned t-SNE Plot</a:t>
            </a:r>
            <a:endParaRPr lang="en-US" sz="2600" dirty="0">
              <a:latin typeface="Cambria"/>
              <a:ea typeface="Cambria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 projected to 2D across four perplexity values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/home/claude/tsne_images/spacy_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93862"/>
            <a:ext cx="10515600" cy="23274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623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swept at 5, 15, 30, and 50 to check the clustering held up across settings, per the Distill.pub tuning guidance.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scispaCy — Biomedical NLP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trained on biomedical and clinical text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9436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240280"/>
            <a:ext cx="534924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models trained on biomedical literature to recognize diseases, chemicals, and other domain-specific terms.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It understands clinical vocabulary that general </a:t>
            </a:r>
            <a:r>
              <a:rPr lang="en-US" sz="140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spaCy</a:t>
            </a: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simply doesn't recognize.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How it was </a:t>
            </a:r>
            <a:r>
              <a:rPr lang="en-US" sz="1400" b="1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 run: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Load </a:t>
            </a:r>
            <a:r>
              <a:rPr lang="en-US" sz="140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en_core_sci_sm</a:t>
            </a: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and en_ner_bc5cdr_md, extract entities, tokenize, train word2vec, plot tuned t-SNE.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720840" y="1965960"/>
            <a:ext cx="4892040" cy="3977640"/>
          </a:xfrm>
          <a:prstGeom prst="roundRect">
            <a:avLst>
              <a:gd name="adj" fmla="val 1839"/>
            </a:avLst>
          </a:prstGeom>
          <a:solidFill>
            <a:srgbClr val="EAFBF6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589520" y="2258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95160" y="2834640"/>
            <a:ext cx="4343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1,986 entities found - almost entirely DISEASE (1,207) and CHEMICAL (779) - a far more clinically useful breakdown than spaCy's 17 generic categories.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95160" y="470916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vocabulary size: 2,455 words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en_core_sci_sm, en_ner_bc5cdr_md  |  Output: entity counts, word2vec, tuned t-SNE plot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</a:t>
            </a:r>
            <a:r>
              <a:rPr lang="en-US" sz="2600" b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    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scispaCy — Extracted Entities &amp; word2vec</a:t>
            </a:r>
            <a:endParaRPr lang="en-US" sz="2600" dirty="0">
              <a:latin typeface="Cambria"/>
              <a:ea typeface="Cambria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9494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417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Entities (by label)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5564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"aneurysm" -&gt; DISEASE, "nimodipine" -&gt; CHEMICAL, "atrial fibrillation" -&gt; DISEASE</a:t>
            </a:r>
            <a:endParaRPr lang="en-US" sz="11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777240" y="2103120"/>
          <a:ext cx="64008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1234440"/>
            <a:ext cx="3931920" cy="5074920"/>
          </a:xfrm>
          <a:prstGeom prst="roundRect">
            <a:avLst>
              <a:gd name="adj" fmla="val 1860"/>
            </a:avLst>
          </a:prstGeom>
          <a:solidFill>
            <a:srgbClr val="EAFBF6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14173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2,455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955280" y="2880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words learned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955280" y="342900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size: 100 dimensions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5 words of context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count: 2 occurrences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on: tokenized note text from this tool's pipeline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     </a:t>
            </a:r>
            <a:r>
              <a:rPr lang="en-US" sz="2600" b="1" dirty="0" err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scispaCy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 — Tuned t-SNE Plot</a:t>
            </a:r>
            <a:endParaRPr lang="en-US" sz="2600" dirty="0">
              <a:latin typeface="Cambria"/>
              <a:ea typeface="Cambria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 projected to 2D across four perplexity values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/home/claude/tsne_images/scispacy_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93862"/>
            <a:ext cx="10515600" cy="23274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623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vocabulary (disease and chemical terms) forms tighter, more separable clusters than spaCy's general-purpose embeddings.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medspaCy — Clinical Context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negation, family history, and hypothetical detection on top of entities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9436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240280"/>
            <a:ext cx="534924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whether a clinical concept is negated, historical, hypothetical, or about a family member - not just whether it's mentioned.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'Denies chest pain' and 'has chest pain' are opposite findings. Only </a:t>
            </a:r>
            <a:r>
              <a:rPr lang="en-US" sz="140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medspaCy</a:t>
            </a: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tells them apart.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How it was </a:t>
            </a:r>
            <a:r>
              <a:rPr lang="en-US" sz="1400" b="1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 run: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Load </a:t>
            </a:r>
            <a:r>
              <a:rPr lang="en-US" sz="1400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medspaCy</a:t>
            </a:r>
            <a:r>
              <a:rPr lang="en-US" sz="140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, add target rules for SAH-related concepts, run context detection over the sample.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720840" y="1965960"/>
            <a:ext cx="4892040" cy="3977640"/>
          </a:xfrm>
          <a:prstGeom prst="roundRect">
            <a:avLst>
              <a:gd name="adj" fmla="val 1839"/>
            </a:avLst>
          </a:prstGeom>
          <a:solidFill>
            <a:srgbClr val="EAFBF6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589520" y="2258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95160" y="2834640"/>
            <a:ext cx="4343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entities found (needed 15 custom target rules first). Of these, 58 were flagged as negated - catching findings spaCy and scispaCy can't tell apart from a positive mention.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95160" y="470916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vocabulary size: 2,386 words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Package: medspaCy  |  Output: entity + negation/context flags, word2vec, tuned t-SNE plot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     </a:t>
            </a:r>
            <a:r>
              <a:rPr lang="en-US" sz="2600" b="1" dirty="0" err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medspaCy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 — Extracted Entities &amp; word2vec</a:t>
            </a:r>
            <a:endParaRPr lang="en-US" sz="2600" dirty="0">
              <a:latin typeface="Cambria"/>
              <a:ea typeface="Cambria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9494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417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Entities (by label)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5564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"hemorrhage" -&gt; CONDITION, negated=True; "headache" -&gt; SYMPTOM, negated=False</a:t>
            </a:r>
            <a:endParaRPr lang="en-US" sz="11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777240" y="2103120"/>
          <a:ext cx="64008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1234440"/>
            <a:ext cx="3931920" cy="5074920"/>
          </a:xfrm>
          <a:prstGeom prst="roundRect">
            <a:avLst>
              <a:gd name="adj" fmla="val 1860"/>
            </a:avLst>
          </a:prstGeom>
          <a:solidFill>
            <a:srgbClr val="EAFBF6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14173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2,386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955280" y="2880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words learned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955280" y="342900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size: 100 dimensions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5 words of context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count: 2 occurrences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on: tokenized note text from this tool's pipeline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9728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    </a:t>
            </a:r>
            <a:r>
              <a:rPr lang="en-US" sz="2600" b="1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   </a:t>
            </a:r>
            <a:r>
              <a:rPr lang="en-US" sz="2600" b="1" dirty="0">
                <a:solidFill>
                  <a:srgbClr val="1E293B"/>
                </a:solidFill>
                <a:latin typeface="Cambria"/>
                <a:ea typeface="Cambria"/>
                <a:cs typeface="Cambria" pitchFamily="34" charset="-120"/>
              </a:rPr>
              <a:t>medspaCy — Tuned t-SNE Plot</a:t>
            </a:r>
            <a:endParaRPr lang="en-US" sz="2600" dirty="0">
              <a:latin typeface="Cambria"/>
              <a:ea typeface="Cambria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embeddings projected to 2D across four perplexity values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/home/claude/tsne_images/medspacy_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92883"/>
            <a:ext cx="10515600" cy="23294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623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same token vocabulary as the entity pipeline above, independent of how many entities the target rules matched.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Comparison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709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scispaCy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medspaCy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entities found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focus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(people, orgs, dates)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Biomedical (disease, chemical)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context (negation, etc.)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categories found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CARDINAL, ORG, PERSON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DISEASE, CHEMICAL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CONDITION, SYMPTOM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custom setup?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target rules 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Negation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negations found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word2vec vocab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Quick, general text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concept extraction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Negation &amp; context 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38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Entities to Clinical Insight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NLP misses most clinical meaning in notes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training (scispaCy) surfaces real clinical concepts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detection (medspaCy) tells a positive finding from a negative one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the right tool changes what you can reliably extract from notes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Reproduce This Analysis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187452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PhysioNet access to MIMIC-III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MIMIC-III into Google BigQuery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cohort query in the notebook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spaCy, scispaCy, and medspaCy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5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entity extraction, word2vec, and t-SNE for each tool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MIMIC-III NLP Assignment</dc:title>
  <dc:subject>PptxGenJS Presentation</dc:subject>
  <dc:creator>AI 395T</dc:creator>
  <cp:lastModifiedBy>AI 395T</cp:lastModifiedBy>
  <cp:revision>33</cp:revision>
  <dcterms:created xsi:type="dcterms:W3CDTF">2026-07-09T01:00:41Z</dcterms:created>
  <dcterms:modified xsi:type="dcterms:W3CDTF">2026-07-09T01:11:20Z</dcterms:modified>
</cp:coreProperties>
</file>