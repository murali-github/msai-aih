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7879F2-7E0A-C942-57C3-F580642F31F7}" v="20" dt="2026-07-12T21:51:04.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Percent</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C4A6-4579-A77A-50715DC30CD5}"/>
              </c:ext>
            </c:extLst>
          </c:dPt>
          <c:dPt>
            <c:idx val="1"/>
            <c:invertIfNegative val="0"/>
            <c:bubble3D val="0"/>
            <c:spPr>
              <a:solidFill>
                <a:srgbClr val="00A896"/>
              </a:solidFill>
              <a:effectLst/>
            </c:spPr>
            <c:extLst>
              <c:ext xmlns:c16="http://schemas.microsoft.com/office/drawing/2014/chart" uri="{C3380CC4-5D6E-409C-BE32-E72D297353CC}">
                <c16:uniqueId val="{00000003-C4A6-4579-A77A-50715DC30CD5}"/>
              </c:ext>
            </c:extLst>
          </c:dPt>
          <c:dLbls>
            <c:numFmt formatCode="0.0&quot;%&quot;" sourceLinked="0"/>
            <c:spPr>
              <a:noFill/>
              <a:ln>
                <a:noFill/>
              </a:ln>
              <a:effectLst/>
            </c:spPr>
            <c:txPr>
              <a:bodyPr/>
              <a:lstStyle/>
              <a:p>
                <a:pPr>
                  <a:defRPr sz="1300" b="1"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Not readmitted</c:v>
                </c:pt>
                <c:pt idx="1">
                  <c:v>Readmitted ≤30 days</c:v>
                </c:pt>
              </c:strCache>
            </c:strRef>
          </c:cat>
          <c:val>
            <c:numRef>
              <c:f>Sheet1!$B$2:$B$3</c:f>
              <c:numCache>
                <c:formatCode>General</c:formatCode>
                <c:ptCount val="2"/>
                <c:pt idx="0">
                  <c:v>93.7</c:v>
                </c:pt>
                <c:pt idx="1">
                  <c:v>6.3</c:v>
                </c:pt>
              </c:numCache>
            </c:numRef>
          </c:val>
          <c:extLst>
            <c:ext xmlns:c16="http://schemas.microsoft.com/office/drawing/2014/chart" uri="{C3380CC4-5D6E-409C-BE32-E72D297353CC}">
              <c16:uniqueId val="{00000004-C4A6-4579-A77A-50715DC30CD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12700" cap="flat">
              <a:solidFill>
                <a:srgbClr val="EEF2F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A3FFCA1-B2BA-4BC0-A5A0-888A8B83681C}" type="datetimeFigureOut">
              <a:t>7/12/2026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69E3F5C-E52E-415C-B3F7-4ACB554FFEA0}" type="slidenum">
              <a:t>‹#›</a:t>
            </a:fld>
            <a:endParaRPr lang="en-US"/>
          </a:p>
        </p:txBody>
      </p:sp>
    </p:spTree>
    <p:extLst>
      <p:ext uri="{BB962C8B-B14F-4D97-AF65-F5344CB8AC3E}">
        <p14:creationId xmlns:p14="http://schemas.microsoft.com/office/powerpoint/2010/main" val="671058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tutorial builds a model that predicts whether a patient will be readmitted to the hospital within 30 days of discharge, using MIMIC-III data. We compare a simple baseline model against a small neural network and look honestly at which one actually wins.
FULL CODE :  Attached the </a:t>
            </a:r>
            <a:r>
              <a:rPr lang="en-US" dirty="0" err="1"/>
              <a:t>colab</a:t>
            </a:r>
            <a:r>
              <a:rPr lang="en-US" dirty="0"/>
              <a:t> notebook</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this framing short - one slide, then move into the mechanics. The goal is to go from 'we can describe who comes back' to 'we can flag who's at risk before they leave.'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Slow down on the label definition - this is the part people get confused by. We check each admission's NEXT admission and see if it starts within 30 days of discharge. Newborns are excluded from the cohort for the reason stated.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 feature by feature, one plain reason each. Save the one-hot encoding explanation for the next relevant slide - just flag here that it's coming.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split before building anything. Say it plainly: a model that always predicts 'no' would already be about 94% accurate while catching zero real readmissions. This sets up why AUROC and AUPRC matter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mechanical slide - don't dwell here. The one thing worth a sentence: keeping the same readmission rate in both the train and test sets matters because the positive class is so rare to begin with.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Always start with a simple, interpretable baseline before reaching for deep learning - say this out loud, it's a good habit for a peer to pick up. 0.657 AUROC means the model ranks meaningfully better than random guessing. Keep this number in mind for the comparison slide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carries the architecture-justification argument - spend real time here, since a peer reviewer specifically checks whether you can explain design choices instead of just picking numbers. Two hidden layers is enough for this few columns; more depth mostly adds overfitting risk, not signal.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each metric in plain language before showing results - this slide is why the next two slides make sense. Precision = of the patients flagged high-risk, how many actually came back. Recall = of the patients who did come back, how many did we catch.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the result plainly: AUROC 0.657 vs 0.659, AUPRC 0.135 vs 0.140 - essentially tied. Resist spinning this as the neural network 'winning' - the honest takeaway is that a simple, interpretable model gets you almost all the way there on this dataset.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Slow down here -  this is the most clinically relevant slide. The two models make different kinds of mistakes. Which one a hospital would prefer is a clinical decision, not something the model decides on its 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chart top to bottom - these are the real logistic regression coefficients from the run. Then spend real time on the finding box: this is the kind of critical reading a model's output needs, not just reporting numbers at face value.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technical content with an honest, balanced summary. Don't skip the limitations column - naming them clearly is part of what makes the work credible to a reviewer.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by pointing back to the code link on the title slide. Invite questions on any step - especially the architecture reasoning and the metric choices, since those are the parts most worth discussing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86B"/>
        </a:solidFill>
        <a:effectLst/>
      </p:bgPr>
    </p:bg>
    <p:spTree>
      <p:nvGrpSpPr>
        <p:cNvPr id="1" name=""/>
        <p:cNvGrpSpPr/>
        <p:nvPr/>
      </p:nvGrpSpPr>
      <p:grpSpPr>
        <a:xfrm>
          <a:off x="0" y="0"/>
          <a:ext cx="0" cy="0"/>
          <a:chOff x="0" y="0"/>
          <a:chExt cx="0" cy="0"/>
        </a:xfrm>
      </p:grpSpPr>
      <p:sp>
        <p:nvSpPr>
          <p:cNvPr id="2" name="Text 0"/>
          <p:cNvSpPr/>
          <p:nvPr/>
        </p:nvSpPr>
        <p:spPr>
          <a:xfrm>
            <a:off x="822960" y="2377440"/>
            <a:ext cx="10515600" cy="146304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Predicting 30-Day</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Hospital Readmission</a:t>
            </a:r>
            <a:endParaRPr lang="en-US" sz="4000" dirty="0"/>
          </a:p>
        </p:txBody>
      </p:sp>
      <p:sp>
        <p:nvSpPr>
          <p:cNvPr id="3" name="Text 1"/>
          <p:cNvSpPr/>
          <p:nvPr/>
        </p:nvSpPr>
        <p:spPr>
          <a:xfrm>
            <a:off x="822960" y="3840480"/>
            <a:ext cx="10058400" cy="64008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Using MIMIC-III data to estimate, ahead of time, which patients are likely to come back within 30 days.</a:t>
            </a:r>
            <a:endParaRPr lang="en-US" sz="2000" dirty="0"/>
          </a:p>
        </p:txBody>
      </p:sp>
      <p:sp>
        <p:nvSpPr>
          <p:cNvPr id="4" name="Text 2"/>
          <p:cNvSpPr/>
          <p:nvPr/>
        </p:nvSpPr>
        <p:spPr>
          <a:xfrm>
            <a:off x="822960" y="5943600"/>
            <a:ext cx="10058400" cy="365760"/>
          </a:xfrm>
          <a:prstGeom prst="rect">
            <a:avLst/>
          </a:prstGeom>
          <a:noFill/>
          <a:ln/>
        </p:spPr>
        <p:txBody>
          <a:bodyPr wrap="square" lIns="0" tIns="0" rIns="0" bIns="0" rtlCol="0" anchor="ctr"/>
          <a:lstStyle/>
          <a:p>
            <a:pPr marL="0" indent="0">
              <a:buNone/>
            </a:pPr>
            <a:r>
              <a:rPr lang="en-US" sz="1400" dirty="0">
                <a:solidFill>
                  <a:srgbClr val="8FA3C4"/>
                </a:solidFill>
                <a:latin typeface="Calibri" pitchFamily="34" charset="0"/>
                <a:ea typeface="Calibri" pitchFamily="34" charset="-122"/>
                <a:cs typeface="Calibri" pitchFamily="34" charset="-120"/>
              </a:rPr>
              <a:t>A SELF-LEARNING TUTORIAL  |  MIMIC-III + BIGQUERY + PYTHON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Why Try to Predict This?</a:t>
            </a:r>
            <a:endParaRPr lang="en-US" sz="3000" dirty="0"/>
          </a:p>
        </p:txBody>
      </p:sp>
      <p:sp>
        <p:nvSpPr>
          <p:cNvPr id="4" name="Shape 2"/>
          <p:cNvSpPr/>
          <p:nvPr/>
        </p:nvSpPr>
        <p:spPr>
          <a:xfrm>
            <a:off x="54864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2296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Hard to see by eye</a:t>
            </a:r>
            <a:endParaRPr lang="en-US" sz="1700" dirty="0"/>
          </a:p>
        </p:txBody>
      </p:sp>
      <p:sp>
        <p:nvSpPr>
          <p:cNvPr id="6" name="Text 4"/>
          <p:cNvSpPr/>
          <p:nvPr/>
        </p:nvSpPr>
        <p:spPr>
          <a:xfrm>
            <a:off x="82296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A doctor can't track every risk factor for every patient by hand. The pattern is real, but it's hidden in the data.</a:t>
            </a:r>
            <a:endParaRPr lang="en-US" sz="1400" dirty="0"/>
          </a:p>
        </p:txBody>
      </p:sp>
      <p:sp>
        <p:nvSpPr>
          <p:cNvPr id="7" name="Shape 5"/>
          <p:cNvSpPr/>
          <p:nvPr/>
        </p:nvSpPr>
        <p:spPr>
          <a:xfrm>
            <a:off x="438912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8" name="Text 6"/>
          <p:cNvSpPr/>
          <p:nvPr/>
        </p:nvSpPr>
        <p:spPr>
          <a:xfrm>
            <a:off x="466344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Costly to get wrong</a:t>
            </a:r>
            <a:endParaRPr lang="en-US" sz="1700" dirty="0"/>
          </a:p>
        </p:txBody>
      </p:sp>
      <p:sp>
        <p:nvSpPr>
          <p:cNvPr id="9" name="Text 7"/>
          <p:cNvSpPr/>
          <p:nvPr/>
        </p:nvSpPr>
        <p:spPr>
          <a:xfrm>
            <a:off x="466344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a:ea typeface="Calibri"/>
                <a:cs typeface="Calibri"/>
              </a:rPr>
              <a:t>A patient coming back usually means something wasn't fully treated the first </a:t>
            </a:r>
            <a:r>
              <a:rPr lang="en-US" sz="1400">
                <a:solidFill>
                  <a:srgbClr val="1E293B"/>
                </a:solidFill>
                <a:latin typeface="Calibri"/>
                <a:ea typeface="Calibri"/>
                <a:cs typeface="Calibri"/>
              </a:rPr>
              <a:t>time - harder on the patient, and </a:t>
            </a:r>
            <a:r>
              <a:rPr lang="en-US" sz="1400" dirty="0">
                <a:solidFill>
                  <a:srgbClr val="1E293B"/>
                </a:solidFill>
                <a:latin typeface="Calibri"/>
                <a:ea typeface="Calibri"/>
                <a:cs typeface="Calibri"/>
              </a:rPr>
              <a:t>expensive to repeat.</a:t>
            </a:r>
            <a:endParaRPr lang="en-US" sz="1400" dirty="0">
              <a:latin typeface="Calibri"/>
              <a:ea typeface="Calibri"/>
              <a:cs typeface="Calibri"/>
            </a:endParaRPr>
          </a:p>
        </p:txBody>
      </p:sp>
      <p:sp>
        <p:nvSpPr>
          <p:cNvPr id="10" name="Shape 8"/>
          <p:cNvSpPr/>
          <p:nvPr/>
        </p:nvSpPr>
        <p:spPr>
          <a:xfrm>
            <a:off x="822960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11" name="Text 9"/>
          <p:cNvSpPr/>
          <p:nvPr/>
        </p:nvSpPr>
        <p:spPr>
          <a:xfrm>
            <a:off x="850392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Something we can test</a:t>
            </a:r>
            <a:endParaRPr lang="en-US" sz="1700" dirty="0"/>
          </a:p>
        </p:txBody>
      </p:sp>
      <p:sp>
        <p:nvSpPr>
          <p:cNvPr id="12" name="Text 10"/>
          <p:cNvSpPr/>
          <p:nvPr/>
        </p:nvSpPr>
        <p:spPr>
          <a:xfrm>
            <a:off x="850392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MIMIC-III lets us check whether this pattern is strong enough to predict in advance, not just describe after the fact.</a:t>
            </a:r>
            <a:endParaRPr lang="en-US" sz="1400" dirty="0"/>
          </a:p>
        </p:txBody>
      </p:sp>
      <p:sp>
        <p:nvSpPr>
          <p:cNvPr id="13" name="Text 11"/>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SETUP</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Setting Up the Problem</a:t>
            </a:r>
            <a:endParaRPr lang="en-US" sz="3000" dirty="0"/>
          </a:p>
        </p:txBody>
      </p:sp>
      <p:sp>
        <p:nvSpPr>
          <p:cNvPr id="4" name="Shape 2"/>
          <p:cNvSpPr/>
          <p:nvPr/>
        </p:nvSpPr>
        <p:spPr>
          <a:xfrm>
            <a:off x="548640" y="1828800"/>
            <a:ext cx="5394960" cy="4160520"/>
          </a:xfrm>
          <a:prstGeom prst="roundRect">
            <a:avLst>
              <a:gd name="adj" fmla="val 2198"/>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68680" y="2121408"/>
            <a:ext cx="4754880" cy="45720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The Label</a:t>
            </a:r>
            <a:endParaRPr lang="en-US" sz="1700" dirty="0"/>
          </a:p>
        </p:txBody>
      </p:sp>
      <p:sp>
        <p:nvSpPr>
          <p:cNvPr id="6" name="Text 4"/>
          <p:cNvSpPr/>
          <p:nvPr/>
        </p:nvSpPr>
        <p:spPr>
          <a:xfrm>
            <a:off x="868680" y="2743200"/>
            <a:ext cx="4754880" cy="3108960"/>
          </a:xfrm>
          <a:prstGeom prst="rect">
            <a:avLst/>
          </a:prstGeom>
          <a:noFill/>
          <a:ln/>
        </p:spPr>
        <p:txBody>
          <a:bodyPr wrap="square" lIns="0" tIns="0" rIns="0" bIns="0" rtlCol="0" anchor="ctr"/>
          <a:lstStyle/>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For every hospital stay, we look at the patient's next admission, if there is one. If it starts within 30 days of this discharge, we mark this row as a readmission (1). Otherwise, 0.</a:t>
            </a:r>
            <a:endParaRPr lang="en-US" sz="1400" dirty="0"/>
          </a:p>
          <a:p>
            <a:pPr marL="0" indent="0">
              <a:lnSpc>
                <a:spcPct val="130000"/>
              </a:lnSpc>
              <a:buNone/>
            </a:pPr>
            <a:endParaRPr lang="en-US" sz="1400" dirty="0"/>
          </a:p>
          <a:p>
            <a:pPr>
              <a:lnSpc>
                <a:spcPct val="130000"/>
              </a:lnSpc>
            </a:pPr>
            <a:r>
              <a:rPr lang="en-US" sz="1400">
                <a:solidFill>
                  <a:srgbClr val="1E293B"/>
                </a:solidFill>
                <a:latin typeface="Calibri"/>
                <a:ea typeface="Calibri"/>
                <a:cs typeface="Calibri"/>
              </a:rPr>
              <a:t>One row in our table = one hospital admission, not one patient - the same patient can appear more than once.</a:t>
            </a:r>
            <a:endParaRPr lang="en-US" sz="1400">
              <a:latin typeface="Calibri"/>
              <a:ea typeface="Calibri"/>
              <a:cs typeface="Calibri"/>
            </a:endParaRPr>
          </a:p>
        </p:txBody>
      </p:sp>
      <p:sp>
        <p:nvSpPr>
          <p:cNvPr id="7" name="Shape 5"/>
          <p:cNvSpPr/>
          <p:nvPr/>
        </p:nvSpPr>
        <p:spPr>
          <a:xfrm>
            <a:off x="6217920" y="1828800"/>
            <a:ext cx="5394960" cy="4160520"/>
          </a:xfrm>
          <a:prstGeom prst="roundRect">
            <a:avLst>
              <a:gd name="adj" fmla="val 2198"/>
            </a:avLst>
          </a:prstGeom>
          <a:solidFill>
            <a:srgbClr val="FFFFFF"/>
          </a:solidFill>
          <a:ln/>
          <a:effectLst>
            <a:outerShdw blurRad="101600" dist="38100" dir="5400000" algn="bl" rotWithShape="0">
              <a:srgbClr val="000000">
                <a:alpha val="10000"/>
              </a:srgbClr>
            </a:outerShdw>
          </a:effectLst>
        </p:spPr>
      </p:sp>
      <p:sp>
        <p:nvSpPr>
          <p:cNvPr id="8" name="Text 6"/>
          <p:cNvSpPr/>
          <p:nvPr/>
        </p:nvSpPr>
        <p:spPr>
          <a:xfrm>
            <a:off x="6537960" y="2121408"/>
            <a:ext cx="4754880" cy="45720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The Cohort</a:t>
            </a:r>
            <a:endParaRPr lang="en-US" sz="1700" dirty="0"/>
          </a:p>
        </p:txBody>
      </p:sp>
      <p:sp>
        <p:nvSpPr>
          <p:cNvPr id="9" name="Text 7"/>
          <p:cNvSpPr/>
          <p:nvPr/>
        </p:nvSpPr>
        <p:spPr>
          <a:xfrm>
            <a:off x="6537960" y="2743200"/>
            <a:ext cx="4754880" cy="3108960"/>
          </a:xfrm>
          <a:prstGeom prst="rect">
            <a:avLst/>
          </a:prstGeom>
          <a:noFill/>
          <a:ln/>
        </p:spPr>
        <p:txBody>
          <a:bodyPr wrap="square" lIns="0" tIns="0" rIns="0" bIns="0" rtlCol="0" anchor="ctr"/>
          <a:lstStyle/>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Data comes from MIMIC-III, pulled live through Google BigQuery.</a:t>
            </a:r>
            <a:endParaRPr lang="en-US" sz="1400" dirty="0"/>
          </a:p>
          <a:p>
            <a:pPr marL="0" indent="0">
              <a:lnSpc>
                <a:spcPct val="130000"/>
              </a:lnSpc>
              <a:buNone/>
            </a:pPr>
            <a:endParaRPr lang="en-US" sz="1400" dirty="0"/>
          </a:p>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We leave newborn admissions out of the cohort, since they behave very differently from adult stays and would skew the pattern.</a:t>
            </a:r>
            <a:endParaRPr lang="en-US" sz="1400" dirty="0"/>
          </a:p>
        </p:txBody>
      </p:sp>
      <p:sp>
        <p:nvSpPr>
          <p:cNvPr id="10" name="Text 8"/>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FEATURES</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What We Feed the Model</a:t>
            </a:r>
            <a:endParaRPr lang="en-US" sz="3000" dirty="0"/>
          </a:p>
        </p:txBody>
      </p:sp>
      <p:sp>
        <p:nvSpPr>
          <p:cNvPr id="4" name="Shape 2"/>
          <p:cNvSpPr/>
          <p:nvPr/>
        </p:nvSpPr>
        <p:spPr>
          <a:xfrm>
            <a:off x="548640" y="1965960"/>
            <a:ext cx="5943600" cy="3977640"/>
          </a:xfrm>
          <a:prstGeom prst="roundRect">
            <a:avLst>
              <a:gd name="adj" fmla="val 2299"/>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68680" y="2240280"/>
            <a:ext cx="5349240" cy="274320"/>
          </a:xfrm>
          <a:prstGeom prst="rect">
            <a:avLst/>
          </a:prstGeom>
          <a:noFill/>
          <a:ln/>
        </p:spPr>
        <p:txBody>
          <a:bodyPr wrap="square" lIns="0" tIns="0" rIns="0" bIns="0" rtlCol="0" anchor="ctr"/>
          <a:lstStyle/>
          <a:p>
            <a:pPr marL="0" indent="0">
              <a:buNone/>
            </a:pPr>
            <a:r>
              <a:rPr lang="en-US" sz="1250" b="1" dirty="0">
                <a:solidFill>
                  <a:srgbClr val="028090"/>
                </a:solidFill>
                <a:latin typeface="Courier New" pitchFamily="34" charset="0"/>
                <a:ea typeface="Courier New" pitchFamily="34" charset="-122"/>
                <a:cs typeface="Courier New" pitchFamily="34" charset="-120"/>
              </a:rPr>
              <a:t>admission_type</a:t>
            </a:r>
            <a:endParaRPr lang="en-US" sz="1250" dirty="0"/>
          </a:p>
        </p:txBody>
      </p:sp>
      <p:sp>
        <p:nvSpPr>
          <p:cNvPr id="6" name="Text 4"/>
          <p:cNvSpPr/>
          <p:nvPr/>
        </p:nvSpPr>
        <p:spPr>
          <a:xfrm>
            <a:off x="868680" y="2532888"/>
            <a:ext cx="5349240" cy="457200"/>
          </a:xfrm>
          <a:prstGeom prst="rect">
            <a:avLst/>
          </a:prstGeom>
          <a:noFill/>
          <a:ln/>
        </p:spPr>
        <p:txBody>
          <a:bodyPr wrap="square" lIns="0" tIns="0" rIns="0" bIns="0" rtlCol="0" anchor="ctr"/>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Emergency, urgent, or planned. Emergency patients tend to be less medically stable going in.</a:t>
            </a:r>
            <a:endParaRPr lang="en-US" sz="1250" dirty="0"/>
          </a:p>
        </p:txBody>
      </p:sp>
      <p:sp>
        <p:nvSpPr>
          <p:cNvPr id="7" name="Text 5"/>
          <p:cNvSpPr/>
          <p:nvPr/>
        </p:nvSpPr>
        <p:spPr>
          <a:xfrm>
            <a:off x="868680" y="2953512"/>
            <a:ext cx="5349240" cy="274320"/>
          </a:xfrm>
          <a:prstGeom prst="rect">
            <a:avLst/>
          </a:prstGeom>
          <a:noFill/>
          <a:ln/>
        </p:spPr>
        <p:txBody>
          <a:bodyPr wrap="square" lIns="0" tIns="0" rIns="0" bIns="0" rtlCol="0" anchor="ctr"/>
          <a:lstStyle/>
          <a:p>
            <a:pPr marL="0" indent="0">
              <a:buNone/>
            </a:pPr>
            <a:r>
              <a:rPr lang="en-US" sz="1250" b="1" dirty="0">
                <a:solidFill>
                  <a:srgbClr val="028090"/>
                </a:solidFill>
                <a:latin typeface="Courier New" pitchFamily="34" charset="0"/>
                <a:ea typeface="Courier New" pitchFamily="34" charset="-122"/>
                <a:cs typeface="Courier New" pitchFamily="34" charset="-120"/>
              </a:rPr>
              <a:t>prior_admission_count</a:t>
            </a:r>
            <a:endParaRPr lang="en-US" sz="1250" dirty="0"/>
          </a:p>
        </p:txBody>
      </p:sp>
      <p:sp>
        <p:nvSpPr>
          <p:cNvPr id="8" name="Text 6"/>
          <p:cNvSpPr/>
          <p:nvPr/>
        </p:nvSpPr>
        <p:spPr>
          <a:xfrm>
            <a:off x="868680" y="3246120"/>
            <a:ext cx="5349240" cy="457200"/>
          </a:xfrm>
          <a:prstGeom prst="rect">
            <a:avLst/>
          </a:prstGeom>
          <a:noFill/>
          <a:ln/>
        </p:spPr>
        <p:txBody>
          <a:bodyPr wrap="square" lIns="0" tIns="0" rIns="0" bIns="0" rtlCol="0" anchor="ctr"/>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How many times this patient has been admitted before. More visits often means a chronic condition.</a:t>
            </a:r>
            <a:endParaRPr lang="en-US" sz="1250" dirty="0"/>
          </a:p>
        </p:txBody>
      </p:sp>
      <p:sp>
        <p:nvSpPr>
          <p:cNvPr id="9" name="Text 7"/>
          <p:cNvSpPr/>
          <p:nvPr/>
        </p:nvSpPr>
        <p:spPr>
          <a:xfrm>
            <a:off x="868680" y="3666744"/>
            <a:ext cx="5349240" cy="274320"/>
          </a:xfrm>
          <a:prstGeom prst="rect">
            <a:avLst/>
          </a:prstGeom>
          <a:noFill/>
          <a:ln/>
        </p:spPr>
        <p:txBody>
          <a:bodyPr wrap="square" lIns="0" tIns="0" rIns="0" bIns="0" rtlCol="0" anchor="ctr"/>
          <a:lstStyle/>
          <a:p>
            <a:pPr marL="0" indent="0">
              <a:buNone/>
            </a:pPr>
            <a:r>
              <a:rPr lang="en-US" sz="1250" b="1" dirty="0">
                <a:solidFill>
                  <a:srgbClr val="028090"/>
                </a:solidFill>
                <a:latin typeface="Courier New" pitchFamily="34" charset="0"/>
                <a:ea typeface="Courier New" pitchFamily="34" charset="-122"/>
                <a:cs typeface="Courier New" pitchFamily="34" charset="-120"/>
              </a:rPr>
              <a:t>primary_diagnosis</a:t>
            </a:r>
            <a:endParaRPr lang="en-US" sz="1250" dirty="0"/>
          </a:p>
        </p:txBody>
      </p:sp>
      <p:sp>
        <p:nvSpPr>
          <p:cNvPr id="10" name="Text 8"/>
          <p:cNvSpPr/>
          <p:nvPr/>
        </p:nvSpPr>
        <p:spPr>
          <a:xfrm>
            <a:off x="868680" y="3959352"/>
            <a:ext cx="5349240" cy="457200"/>
          </a:xfrm>
          <a:prstGeom prst="rect">
            <a:avLst/>
          </a:prstGeom>
          <a:noFill/>
          <a:ln/>
        </p:spPr>
        <p:txBody>
          <a:bodyPr wrap="square" lIns="0" tIns="0" rIns="0" bIns="0" rtlCol="0" anchor="ctr"/>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The main reason for this stay. Some conditions come back more easily than others.</a:t>
            </a:r>
            <a:endParaRPr lang="en-US" sz="1250" dirty="0"/>
          </a:p>
        </p:txBody>
      </p:sp>
      <p:sp>
        <p:nvSpPr>
          <p:cNvPr id="11" name="Text 9"/>
          <p:cNvSpPr/>
          <p:nvPr/>
        </p:nvSpPr>
        <p:spPr>
          <a:xfrm>
            <a:off x="868680" y="4379976"/>
            <a:ext cx="5349240" cy="274320"/>
          </a:xfrm>
          <a:prstGeom prst="rect">
            <a:avLst/>
          </a:prstGeom>
          <a:noFill/>
          <a:ln/>
        </p:spPr>
        <p:txBody>
          <a:bodyPr wrap="square" lIns="0" tIns="0" rIns="0" bIns="0" rtlCol="0" anchor="ctr"/>
          <a:lstStyle/>
          <a:p>
            <a:pPr marL="0" indent="0">
              <a:buNone/>
            </a:pPr>
            <a:r>
              <a:rPr lang="en-US" sz="1250" b="1" dirty="0">
                <a:solidFill>
                  <a:srgbClr val="028090"/>
                </a:solidFill>
                <a:latin typeface="Courier New" pitchFamily="34" charset="0"/>
                <a:ea typeface="Courier New" pitchFamily="34" charset="-122"/>
                <a:cs typeface="Courier New" pitchFamily="34" charset="-120"/>
              </a:rPr>
              <a:t>lab_abnormal_pct</a:t>
            </a:r>
            <a:endParaRPr lang="en-US" sz="1250" dirty="0"/>
          </a:p>
        </p:txBody>
      </p:sp>
      <p:sp>
        <p:nvSpPr>
          <p:cNvPr id="12" name="Text 10"/>
          <p:cNvSpPr/>
          <p:nvPr/>
        </p:nvSpPr>
        <p:spPr>
          <a:xfrm>
            <a:off x="868680" y="4672584"/>
            <a:ext cx="5349240" cy="457200"/>
          </a:xfrm>
          <a:prstGeom prst="rect">
            <a:avLst/>
          </a:prstGeom>
          <a:noFill/>
          <a:ln/>
        </p:spPr>
        <p:txBody>
          <a:bodyPr wrap="square" lIns="0" tIns="0" rIns="0" bIns="0" rtlCol="0" anchor="ctr"/>
          <a:lstStyle/>
          <a:p>
            <a:pPr marL="0" indent="0">
              <a:lnSpc>
                <a:spcPct val="115000"/>
              </a:lnSpc>
              <a:buNone/>
            </a:pPr>
            <a:r>
              <a:rPr lang="en-US" sz="1250" dirty="0">
                <a:solidFill>
                  <a:srgbClr val="1E293B"/>
                </a:solidFill>
                <a:latin typeface="Calibri" pitchFamily="34" charset="0"/>
                <a:ea typeface="Calibri" pitchFamily="34" charset="-122"/>
                <a:cs typeface="Calibri" pitchFamily="34" charset="-120"/>
              </a:rPr>
              <a:t>How much of this stay's lab work came back outside the normal range.</a:t>
            </a:r>
            <a:endParaRPr lang="en-US" sz="1250" dirty="0"/>
          </a:p>
        </p:txBody>
      </p:sp>
      <p:sp>
        <p:nvSpPr>
          <p:cNvPr id="13" name="Text 11"/>
          <p:cNvSpPr/>
          <p:nvPr/>
        </p:nvSpPr>
        <p:spPr>
          <a:xfrm>
            <a:off x="868680" y="5093208"/>
            <a:ext cx="5349240" cy="274320"/>
          </a:xfrm>
          <a:prstGeom prst="rect">
            <a:avLst/>
          </a:prstGeom>
          <a:noFill/>
          <a:ln/>
        </p:spPr>
        <p:txBody>
          <a:bodyPr wrap="square" lIns="0" tIns="0" rIns="0" bIns="0" rtlCol="0" anchor="ctr"/>
          <a:lstStyle/>
          <a:p>
            <a:pPr marL="0" indent="0">
              <a:buNone/>
            </a:pPr>
            <a:r>
              <a:rPr lang="en-US" sz="1250" b="1" dirty="0">
                <a:solidFill>
                  <a:srgbClr val="028090"/>
                </a:solidFill>
                <a:latin typeface="Courier New" pitchFamily="34" charset="0"/>
                <a:ea typeface="Courier New" pitchFamily="34" charset="-122"/>
                <a:cs typeface="Courier New" pitchFamily="34" charset="-120"/>
              </a:rPr>
              <a:t>age, gender</a:t>
            </a:r>
            <a:endParaRPr lang="en-US" sz="1250" dirty="0"/>
          </a:p>
        </p:txBody>
      </p:sp>
      <p:sp>
        <p:nvSpPr>
          <p:cNvPr id="14" name="Text 12"/>
          <p:cNvSpPr/>
          <p:nvPr/>
        </p:nvSpPr>
        <p:spPr>
          <a:xfrm>
            <a:off x="868680" y="5385816"/>
            <a:ext cx="5349240" cy="457200"/>
          </a:xfrm>
          <a:prstGeom prst="rect">
            <a:avLst/>
          </a:prstGeom>
          <a:noFill/>
          <a:ln/>
        </p:spPr>
        <p:txBody>
          <a:bodyPr wrap="square" lIns="0" tIns="0" rIns="0" bIns="0" rtlCol="0" anchor="ctr"/>
          <a:lstStyle/>
          <a:p>
            <a:pPr>
              <a:lnSpc>
                <a:spcPct val="115000"/>
              </a:lnSpc>
            </a:pPr>
            <a:r>
              <a:rPr lang="en-US" sz="1250">
                <a:solidFill>
                  <a:srgbClr val="1E293B"/>
                </a:solidFill>
                <a:latin typeface="Calibri"/>
                <a:ea typeface="Calibri"/>
                <a:cs typeface="Calibri"/>
              </a:rPr>
              <a:t>Basic facts, included as a check -  not assumed to matter until the model says so.</a:t>
            </a:r>
            <a:endParaRPr lang="en-US" sz="1250">
              <a:latin typeface="Calibri"/>
              <a:ea typeface="Calibri"/>
              <a:cs typeface="Calibri"/>
            </a:endParaRPr>
          </a:p>
        </p:txBody>
      </p:sp>
      <p:sp>
        <p:nvSpPr>
          <p:cNvPr id="15" name="Shape 13"/>
          <p:cNvSpPr/>
          <p:nvPr/>
        </p:nvSpPr>
        <p:spPr>
          <a:xfrm>
            <a:off x="6720840" y="1965960"/>
            <a:ext cx="4892040" cy="3977640"/>
          </a:xfrm>
          <a:prstGeom prst="roundRect">
            <a:avLst>
              <a:gd name="adj" fmla="val 2299"/>
            </a:avLst>
          </a:prstGeom>
          <a:solidFill>
            <a:srgbClr val="FEF7EC"/>
          </a:solidFill>
          <a:ln/>
          <a:effectLst>
            <a:outerShdw blurRad="101600" dist="38100" dir="5400000" algn="bl" rotWithShape="0">
              <a:srgbClr val="000000">
                <a:alpha val="10000"/>
              </a:srgbClr>
            </a:outerShdw>
          </a:effectLst>
        </p:spPr>
      </p:sp>
      <p:sp>
        <p:nvSpPr>
          <p:cNvPr id="16" name="Text 14"/>
          <p:cNvSpPr/>
          <p:nvPr/>
        </p:nvSpPr>
        <p:spPr>
          <a:xfrm>
            <a:off x="7040880" y="2258568"/>
            <a:ext cx="4251960" cy="365760"/>
          </a:xfrm>
          <a:prstGeom prst="rect">
            <a:avLst/>
          </a:prstGeom>
          <a:noFill/>
          <a:ln/>
        </p:spPr>
        <p:txBody>
          <a:bodyPr wrap="square" lIns="0" tIns="0" rIns="0" bIns="0" rtlCol="0" anchor="ctr"/>
          <a:lstStyle/>
          <a:p>
            <a:pPr marL="0" indent="0">
              <a:buNone/>
            </a:pPr>
            <a:r>
              <a:rPr lang="en-US" sz="1300" b="1" kern="0" spc="150" dirty="0">
                <a:solidFill>
                  <a:srgbClr val="B45309"/>
                </a:solidFill>
                <a:latin typeface="Calibri" pitchFamily="34" charset="0"/>
                <a:ea typeface="Calibri" pitchFamily="34" charset="-122"/>
                <a:cs typeface="Calibri" pitchFamily="34" charset="-120"/>
              </a:rPr>
              <a:t>FINDING</a:t>
            </a:r>
            <a:endParaRPr lang="en-US" sz="1300" dirty="0"/>
          </a:p>
        </p:txBody>
      </p:sp>
      <p:sp>
        <p:nvSpPr>
          <p:cNvPr id="17" name="Text 15"/>
          <p:cNvSpPr/>
          <p:nvPr/>
        </p:nvSpPr>
        <p:spPr>
          <a:xfrm>
            <a:off x="7040880" y="2743200"/>
            <a:ext cx="4251960" cy="3063240"/>
          </a:xfrm>
          <a:prstGeom prst="rect">
            <a:avLst/>
          </a:prstGeom>
          <a:noFill/>
          <a:ln/>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MIMIC-III shifts the recorded age of anyone over 89, to protect their privacy. That can make raw data show ages of 200+ years.</a:t>
            </a:r>
            <a:endParaRPr lang="en-US" sz="1350" dirty="0"/>
          </a:p>
          <a:p>
            <a:pPr marL="0" indent="0">
              <a:lnSpc>
                <a:spcPct val="130000"/>
              </a:lnSpc>
              <a:buNone/>
            </a:pPr>
            <a:endParaRPr lang="en-US" sz="1350" dirty="0"/>
          </a:p>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We cap age at 90 in our query, so the model isn't confused by this quirk.</a:t>
            </a:r>
            <a:endParaRPr lang="en-US" sz="1350" dirty="0"/>
          </a:p>
        </p:txBody>
      </p:sp>
      <p:sp>
        <p:nvSpPr>
          <p:cNvPr id="18" name="Text 16"/>
          <p:cNvSpPr/>
          <p:nvPr/>
        </p:nvSpPr>
        <p:spPr>
          <a:xfrm>
            <a:off x="548640" y="6053328"/>
            <a:ext cx="1097280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Text categories like admission_type and primary_diagnosis get turned into separate yes/no columns later — more on that shortly.</a:t>
            </a:r>
            <a:endParaRPr lang="en-US" sz="1100" dirty="0"/>
          </a:p>
        </p:txBody>
      </p:sp>
      <p:sp>
        <p:nvSpPr>
          <p:cNvPr id="19" name="Text 17"/>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BEFORE MODELING</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Readmission Is Rare</a:t>
            </a:r>
            <a:endParaRPr lang="en-US" sz="3000" dirty="0"/>
          </a:p>
        </p:txBody>
      </p:sp>
      <p:sp>
        <p:nvSpPr>
          <p:cNvPr id="4" name="Shape 2"/>
          <p:cNvSpPr/>
          <p:nvPr/>
        </p:nvSpPr>
        <p:spPr>
          <a:xfrm>
            <a:off x="548640" y="1828800"/>
            <a:ext cx="6949440" cy="4297680"/>
          </a:xfrm>
          <a:prstGeom prst="roundRect">
            <a:avLst>
              <a:gd name="adj" fmla="val 2128"/>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68680" y="2057400"/>
            <a:ext cx="6309360" cy="320040"/>
          </a:xfrm>
          <a:prstGeom prst="rect">
            <a:avLst/>
          </a:prstGeom>
          <a:noFill/>
          <a:ln/>
        </p:spPr>
        <p:txBody>
          <a:bodyPr wrap="square" lIns="0" tIns="0" rIns="0" bIns="0" rtlCol="0" anchor="ctr"/>
          <a:lstStyle/>
          <a:p>
            <a:pPr marL="0" indent="0">
              <a:buNone/>
            </a:pPr>
            <a:r>
              <a:rPr lang="en-US" sz="1500" b="1" dirty="0">
                <a:solidFill>
                  <a:srgbClr val="028090"/>
                </a:solidFill>
                <a:latin typeface="Cambria" pitchFamily="34" charset="0"/>
                <a:ea typeface="Cambria" pitchFamily="34" charset="-122"/>
                <a:cs typeface="Cambria" pitchFamily="34" charset="-120"/>
              </a:rPr>
              <a:t>Share of Admissions</a:t>
            </a:r>
            <a:endParaRPr lang="en-US" sz="1500" dirty="0"/>
          </a:p>
        </p:txBody>
      </p:sp>
      <p:graphicFrame>
        <p:nvGraphicFramePr>
          <p:cNvPr id="6" name="Chart 0"/>
          <p:cNvGraphicFramePr/>
          <p:nvPr/>
        </p:nvGraphicFramePr>
        <p:xfrm>
          <a:off x="868680" y="2468880"/>
          <a:ext cx="630936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680960" y="1828800"/>
            <a:ext cx="3931920" cy="4297680"/>
          </a:xfrm>
          <a:prstGeom prst="roundRect">
            <a:avLst>
              <a:gd name="adj" fmla="val 2326"/>
            </a:avLst>
          </a:prstGeom>
          <a:solidFill>
            <a:srgbClr val="EAFBF6"/>
          </a:solidFill>
          <a:ln/>
          <a:effectLst>
            <a:outerShdw blurRad="101600" dist="38100" dir="5400000" algn="bl" rotWithShape="0">
              <a:srgbClr val="000000">
                <a:alpha val="10000"/>
              </a:srgbClr>
            </a:outerShdw>
          </a:effectLst>
        </p:spPr>
      </p:sp>
      <p:sp>
        <p:nvSpPr>
          <p:cNvPr id="8" name="Text 5"/>
          <p:cNvSpPr/>
          <p:nvPr/>
        </p:nvSpPr>
        <p:spPr>
          <a:xfrm>
            <a:off x="7955280" y="2148840"/>
            <a:ext cx="3383280" cy="914400"/>
          </a:xfrm>
          <a:prstGeom prst="rect">
            <a:avLst/>
          </a:prstGeom>
          <a:noFill/>
          <a:ln/>
        </p:spPr>
        <p:txBody>
          <a:bodyPr wrap="square" lIns="0" tIns="0" rIns="0" bIns="0" rtlCol="0" anchor="ctr"/>
          <a:lstStyle/>
          <a:p>
            <a:pPr marL="0" indent="0">
              <a:buNone/>
            </a:pPr>
            <a:r>
              <a:rPr lang="en-US" sz="4400" b="1" dirty="0">
                <a:solidFill>
                  <a:srgbClr val="0F766E"/>
                </a:solidFill>
                <a:latin typeface="Cambria" pitchFamily="34" charset="0"/>
                <a:ea typeface="Cambria" pitchFamily="34" charset="-122"/>
                <a:cs typeface="Cambria" pitchFamily="34" charset="-120"/>
              </a:rPr>
              <a:t>6.3%</a:t>
            </a:r>
            <a:endParaRPr lang="en-US" sz="4400" dirty="0"/>
          </a:p>
        </p:txBody>
      </p:sp>
      <p:sp>
        <p:nvSpPr>
          <p:cNvPr id="9" name="Text 6"/>
          <p:cNvSpPr/>
          <p:nvPr/>
        </p:nvSpPr>
        <p:spPr>
          <a:xfrm>
            <a:off x="7955280" y="3017520"/>
            <a:ext cx="3383280" cy="548640"/>
          </a:xfrm>
          <a:prstGeom prst="rect">
            <a:avLst/>
          </a:prstGeom>
          <a:noFill/>
          <a:ln/>
        </p:spPr>
        <p:txBody>
          <a:bodyPr wrap="square" lIns="0" tIns="0" rIns="0" bIns="0" rtlCol="0" anchor="ctr"/>
          <a:lstStyle/>
          <a:p>
            <a:pPr marL="0" indent="0">
              <a:lnSpc>
                <a:spcPct val="120000"/>
              </a:lnSpc>
              <a:buNone/>
            </a:pPr>
            <a:r>
              <a:rPr lang="en-US" sz="1300" dirty="0">
                <a:solidFill>
                  <a:srgbClr val="64748B"/>
                </a:solidFill>
                <a:latin typeface="Calibri" pitchFamily="34" charset="0"/>
                <a:ea typeface="Calibri" pitchFamily="34" charset="-122"/>
                <a:cs typeface="Calibri" pitchFamily="34" charset="-120"/>
              </a:rPr>
              <a:t>of admissions were followed by a readmission within 30 days.</a:t>
            </a:r>
            <a:endParaRPr lang="en-US" sz="1300" dirty="0"/>
          </a:p>
        </p:txBody>
      </p:sp>
      <p:sp>
        <p:nvSpPr>
          <p:cNvPr id="10" name="Text 7"/>
          <p:cNvSpPr/>
          <p:nvPr/>
        </p:nvSpPr>
        <p:spPr>
          <a:xfrm>
            <a:off x="7955280" y="3749040"/>
            <a:ext cx="3383280" cy="731520"/>
          </a:xfrm>
          <a:prstGeom prst="rect">
            <a:avLst/>
          </a:prstGeom>
          <a:noFill/>
          <a:ln/>
        </p:spPr>
        <p:txBody>
          <a:bodyPr wrap="square" lIns="0" tIns="0" rIns="0" bIns="0" rtlCol="0" anchor="ctr"/>
          <a:lstStyle/>
          <a:p>
            <a:pPr>
              <a:lnSpc>
                <a:spcPct val="125000"/>
              </a:lnSpc>
            </a:pPr>
            <a:r>
              <a:rPr lang="en-US" sz="1250">
                <a:solidFill>
                  <a:srgbClr val="1E293B"/>
                </a:solidFill>
                <a:latin typeface="Calibri"/>
                <a:ea typeface="Calibri"/>
                <a:cs typeface="Calibri"/>
              </a:rPr>
              <a:t>•  Most rows are “no” - this is called class </a:t>
            </a:r>
            <a:r>
              <a:rPr lang="en-US" sz="1250" dirty="0">
                <a:solidFill>
                  <a:srgbClr val="1E293B"/>
                </a:solidFill>
                <a:latin typeface="Calibri"/>
                <a:ea typeface="Calibri"/>
                <a:cs typeface="Calibri"/>
              </a:rPr>
              <a:t>imbalance.</a:t>
            </a:r>
            <a:endParaRPr lang="en-US" sz="1250" dirty="0">
              <a:latin typeface="Calibri"/>
              <a:ea typeface="Calibri"/>
              <a:cs typeface="Calibri"/>
            </a:endParaRPr>
          </a:p>
        </p:txBody>
      </p:sp>
      <p:sp>
        <p:nvSpPr>
          <p:cNvPr id="11" name="Text 8"/>
          <p:cNvSpPr/>
          <p:nvPr/>
        </p:nvSpPr>
        <p:spPr>
          <a:xfrm>
            <a:off x="7955280" y="4462272"/>
            <a:ext cx="3383280" cy="731520"/>
          </a:xfrm>
          <a:prstGeom prst="rect">
            <a:avLst/>
          </a:prstGeom>
          <a:noFill/>
          <a:ln/>
        </p:spPr>
        <p:txBody>
          <a:bodyPr wrap="square" lIns="0" tIns="0" rIns="0" bIns="0" rtlCol="0" anchor="ctr"/>
          <a:lstStyle/>
          <a:p>
            <a:pPr marL="0" indent="0">
              <a:lnSpc>
                <a:spcPct val="125000"/>
              </a:lnSpc>
              <a:buNone/>
            </a:pPr>
            <a:r>
              <a:rPr lang="en-US" sz="1250" dirty="0">
                <a:solidFill>
                  <a:srgbClr val="1E293B"/>
                </a:solidFill>
                <a:latin typeface="Calibri" pitchFamily="34" charset="0"/>
                <a:ea typeface="Calibri" pitchFamily="34" charset="-122"/>
                <a:cs typeface="Calibri" pitchFamily="34" charset="-120"/>
              </a:rPr>
              <a:t>•  Always guessing “no” would score ~94% while being useless.</a:t>
            </a:r>
            <a:endParaRPr lang="en-US" sz="1250" dirty="0"/>
          </a:p>
        </p:txBody>
      </p:sp>
      <p:sp>
        <p:nvSpPr>
          <p:cNvPr id="12" name="Text 9"/>
          <p:cNvSpPr/>
          <p:nvPr/>
        </p:nvSpPr>
        <p:spPr>
          <a:xfrm>
            <a:off x="7955280" y="5175504"/>
            <a:ext cx="3383280" cy="731520"/>
          </a:xfrm>
          <a:prstGeom prst="rect">
            <a:avLst/>
          </a:prstGeom>
          <a:noFill/>
          <a:ln/>
        </p:spPr>
        <p:txBody>
          <a:bodyPr wrap="square" lIns="0" tIns="0" rIns="0" bIns="0" rtlCol="0" anchor="ctr"/>
          <a:lstStyle/>
          <a:p>
            <a:pPr marL="0" indent="0">
              <a:lnSpc>
                <a:spcPct val="125000"/>
              </a:lnSpc>
              <a:buNone/>
            </a:pPr>
            <a:r>
              <a:rPr lang="en-US" sz="1250" dirty="0">
                <a:solidFill>
                  <a:srgbClr val="1E293B"/>
                </a:solidFill>
                <a:latin typeface="Calibri" pitchFamily="34" charset="0"/>
                <a:ea typeface="Calibri" pitchFamily="34" charset="-122"/>
                <a:cs typeface="Calibri" pitchFamily="34" charset="-120"/>
              </a:rPr>
              <a:t>•  So we won't judge the model by plain accuracy.</a:t>
            </a:r>
            <a:endParaRPr lang="en-US" sz="1250" dirty="0"/>
          </a:p>
        </p:txBody>
      </p:sp>
      <p:sp>
        <p:nvSpPr>
          <p:cNvPr id="13" name="Text 10"/>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PIPELINE</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Getting the Data Model-Ready</a:t>
            </a:r>
            <a:endParaRPr lang="en-US" sz="3000" dirty="0"/>
          </a:p>
        </p:txBody>
      </p:sp>
      <p:sp>
        <p:nvSpPr>
          <p:cNvPr id="4" name="Shape 2"/>
          <p:cNvSpPr/>
          <p:nvPr/>
        </p:nvSpPr>
        <p:spPr>
          <a:xfrm>
            <a:off x="54864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2296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1. One-hot encode</a:t>
            </a:r>
            <a:endParaRPr lang="en-US" sz="1700" dirty="0"/>
          </a:p>
        </p:txBody>
      </p:sp>
      <p:sp>
        <p:nvSpPr>
          <p:cNvPr id="6" name="Text 4"/>
          <p:cNvSpPr/>
          <p:nvPr/>
        </p:nvSpPr>
        <p:spPr>
          <a:xfrm>
            <a:off x="82296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Turn each text category into its own yes/no column. A model can only work with numbers, not words.</a:t>
            </a:r>
            <a:endParaRPr lang="en-US" sz="1400" dirty="0"/>
          </a:p>
        </p:txBody>
      </p:sp>
      <p:sp>
        <p:nvSpPr>
          <p:cNvPr id="7" name="Shape 5"/>
          <p:cNvSpPr/>
          <p:nvPr/>
        </p:nvSpPr>
        <p:spPr>
          <a:xfrm>
            <a:off x="438912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8" name="Text 6"/>
          <p:cNvSpPr/>
          <p:nvPr/>
        </p:nvSpPr>
        <p:spPr>
          <a:xfrm>
            <a:off x="466344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2. Split the data</a:t>
            </a:r>
            <a:endParaRPr lang="en-US" sz="1700" dirty="0"/>
          </a:p>
        </p:txBody>
      </p:sp>
      <p:sp>
        <p:nvSpPr>
          <p:cNvPr id="9" name="Text 7"/>
          <p:cNvSpPr/>
          <p:nvPr/>
        </p:nvSpPr>
        <p:spPr>
          <a:xfrm>
            <a:off x="466344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80% for training, 20% for testing — keeping the same 6.3% readmission rate in both, so the test is a fair check.</a:t>
            </a:r>
            <a:endParaRPr lang="en-US" sz="1400" dirty="0"/>
          </a:p>
        </p:txBody>
      </p:sp>
      <p:sp>
        <p:nvSpPr>
          <p:cNvPr id="10" name="Shape 8"/>
          <p:cNvSpPr/>
          <p:nvPr/>
        </p:nvSpPr>
        <p:spPr>
          <a:xfrm>
            <a:off x="822960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11" name="Text 9"/>
          <p:cNvSpPr/>
          <p:nvPr/>
        </p:nvSpPr>
        <p:spPr>
          <a:xfrm>
            <a:off x="850392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3. Scale the numbers</a:t>
            </a:r>
            <a:endParaRPr lang="en-US" sz="1700" dirty="0"/>
          </a:p>
        </p:txBody>
      </p:sp>
      <p:sp>
        <p:nvSpPr>
          <p:cNvPr id="12" name="Text 10"/>
          <p:cNvSpPr/>
          <p:nvPr/>
        </p:nvSpPr>
        <p:spPr>
          <a:xfrm>
            <a:off x="850392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Put every number on a similar scale, so a big number like total labs doesn't drown out a small one like age.</a:t>
            </a:r>
            <a:endParaRPr lang="en-US" sz="1400" dirty="0"/>
          </a:p>
        </p:txBody>
      </p:sp>
      <p:sp>
        <p:nvSpPr>
          <p:cNvPr id="13" name="Text 11"/>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BASELINE MODEL</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Start Simple: Logistic Regression</a:t>
            </a:r>
            <a:endParaRPr lang="en-US" sz="3000" dirty="0"/>
          </a:p>
        </p:txBody>
      </p:sp>
      <p:sp>
        <p:nvSpPr>
          <p:cNvPr id="4" name="Shape 2"/>
          <p:cNvSpPr/>
          <p:nvPr/>
        </p:nvSpPr>
        <p:spPr>
          <a:xfrm>
            <a:off x="548640" y="1965960"/>
            <a:ext cx="5943600" cy="3977640"/>
          </a:xfrm>
          <a:prstGeom prst="roundRect">
            <a:avLst>
              <a:gd name="adj" fmla="val 2299"/>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68680" y="2240280"/>
            <a:ext cx="5349240" cy="1554480"/>
          </a:xfrm>
          <a:prstGeom prst="rect">
            <a:avLst/>
          </a:prstGeom>
          <a:noFill/>
          <a:ln/>
        </p:spPr>
        <p:txBody>
          <a:bodyPr wrap="square" lIns="0" tIns="0" rIns="0" bIns="0" rtlCol="0" anchor="ctr"/>
          <a:lstStyle/>
          <a:p>
            <a:pPr marL="0" indent="0">
              <a:lnSpc>
                <a:spcPct val="130000"/>
              </a:lnSpc>
              <a:buNone/>
            </a:pPr>
            <a:r>
              <a:rPr lang="en-US" sz="1450" dirty="0">
                <a:solidFill>
                  <a:srgbClr val="1E293B"/>
                </a:solidFill>
                <a:latin typeface="Calibri" pitchFamily="34" charset="0"/>
                <a:ea typeface="Calibri" pitchFamily="34" charset="-122"/>
                <a:cs typeface="Calibri" pitchFamily="34" charset="-120"/>
              </a:rPr>
              <a:t>Logistic regression guesses a probability of readmission, from 0 to 1, by adding up weighted features. Each feature gets a weight, and the model combines them.</a:t>
            </a:r>
            <a:endParaRPr lang="en-US" sz="1450" dirty="0"/>
          </a:p>
        </p:txBody>
      </p:sp>
      <p:sp>
        <p:nvSpPr>
          <p:cNvPr id="6" name="Text 4"/>
          <p:cNvSpPr/>
          <p:nvPr/>
        </p:nvSpPr>
        <p:spPr>
          <a:xfrm>
            <a:off x="868680" y="3931920"/>
            <a:ext cx="5349240" cy="1371600"/>
          </a:xfrm>
          <a:prstGeom prst="rect">
            <a:avLst/>
          </a:prstGeom>
          <a:noFill/>
          <a:ln/>
        </p:spPr>
        <p:txBody>
          <a:bodyPr wrap="square" lIns="0" tIns="0" rIns="0" bIns="0" rtlCol="0" anchor="ctr"/>
          <a:lstStyle/>
          <a:p>
            <a:pPr>
              <a:lnSpc>
                <a:spcPct val="130000"/>
              </a:lnSpc>
            </a:pPr>
            <a:r>
              <a:rPr lang="en-US" sz="1450">
                <a:solidFill>
                  <a:srgbClr val="1E293B"/>
                </a:solidFill>
                <a:latin typeface="Calibri"/>
                <a:ea typeface="Calibri"/>
                <a:cs typeface="Calibri"/>
              </a:rPr>
              <a:t>It's simple and easy to check afterward  - a fair baseline. If a neural </a:t>
            </a:r>
            <a:r>
              <a:rPr lang="en-US" sz="1450" dirty="0">
                <a:solidFill>
                  <a:srgbClr val="1E293B"/>
                </a:solidFill>
                <a:latin typeface="Calibri"/>
                <a:ea typeface="Calibri"/>
                <a:cs typeface="Calibri"/>
              </a:rPr>
              <a:t>network can't beat it, the extra complexity isn't worth it.</a:t>
            </a:r>
            <a:endParaRPr lang="en-US" sz="1450" dirty="0">
              <a:latin typeface="Calibri"/>
              <a:ea typeface="Calibri"/>
              <a:cs typeface="Calibri"/>
            </a:endParaRPr>
          </a:p>
        </p:txBody>
      </p:sp>
      <p:sp>
        <p:nvSpPr>
          <p:cNvPr id="7" name="Shape 5"/>
          <p:cNvSpPr/>
          <p:nvPr/>
        </p:nvSpPr>
        <p:spPr>
          <a:xfrm>
            <a:off x="6720840" y="1965960"/>
            <a:ext cx="4892040" cy="3977640"/>
          </a:xfrm>
          <a:prstGeom prst="roundRect">
            <a:avLst>
              <a:gd name="adj" fmla="val 2299"/>
            </a:avLst>
          </a:prstGeom>
          <a:solidFill>
            <a:srgbClr val="FEF7EC"/>
          </a:solidFill>
          <a:ln/>
          <a:effectLst>
            <a:outerShdw blurRad="101600" dist="38100" dir="5400000" algn="bl" rotWithShape="0">
              <a:srgbClr val="000000">
                <a:alpha val="10000"/>
              </a:srgbClr>
            </a:outerShdw>
          </a:effectLst>
        </p:spPr>
      </p:sp>
      <p:sp>
        <p:nvSpPr>
          <p:cNvPr id="8" name="Text 6"/>
          <p:cNvSpPr/>
          <p:nvPr/>
        </p:nvSpPr>
        <p:spPr>
          <a:xfrm>
            <a:off x="7040880" y="2258568"/>
            <a:ext cx="4251960" cy="320040"/>
          </a:xfrm>
          <a:prstGeom prst="rect">
            <a:avLst/>
          </a:prstGeom>
          <a:noFill/>
          <a:ln/>
        </p:spPr>
        <p:txBody>
          <a:bodyPr wrap="square" lIns="0" tIns="0" rIns="0" bIns="0" rtlCol="0" anchor="ctr"/>
          <a:lstStyle/>
          <a:p>
            <a:pPr marL="0" indent="0">
              <a:buNone/>
            </a:pPr>
            <a:r>
              <a:rPr lang="en-US" sz="1300" b="1" kern="0" spc="150" dirty="0">
                <a:solidFill>
                  <a:srgbClr val="B45309"/>
                </a:solidFill>
                <a:latin typeface="Calibri" pitchFamily="34" charset="0"/>
                <a:ea typeface="Calibri" pitchFamily="34" charset="-122"/>
                <a:cs typeface="Calibri" pitchFamily="34" charset="-120"/>
              </a:rPr>
              <a:t>FINDING</a:t>
            </a:r>
            <a:endParaRPr lang="en-US" sz="1300" dirty="0"/>
          </a:p>
        </p:txBody>
      </p:sp>
      <p:sp>
        <p:nvSpPr>
          <p:cNvPr id="9" name="Text 7"/>
          <p:cNvSpPr/>
          <p:nvPr/>
        </p:nvSpPr>
        <p:spPr>
          <a:xfrm>
            <a:off x="7040880" y="2606040"/>
            <a:ext cx="4251960" cy="1051560"/>
          </a:xfrm>
          <a:prstGeom prst="rect">
            <a:avLst/>
          </a:prstGeom>
          <a:noFill/>
          <a:ln/>
        </p:spPr>
        <p:txBody>
          <a:bodyPr wrap="square" lIns="0" tIns="0" rIns="0" bIns="0" rtlCol="0" anchor="ctr"/>
          <a:lstStyle/>
          <a:p>
            <a:pPr marL="0" indent="0">
              <a:buNone/>
            </a:pPr>
            <a:r>
              <a:rPr lang="en-US" sz="5400" b="1" dirty="0">
                <a:solidFill>
                  <a:srgbClr val="B45309"/>
                </a:solidFill>
                <a:latin typeface="Cambria" pitchFamily="34" charset="0"/>
                <a:ea typeface="Cambria" pitchFamily="34" charset="-122"/>
                <a:cs typeface="Cambria" pitchFamily="34" charset="-120"/>
              </a:rPr>
              <a:t>0.657</a:t>
            </a:r>
            <a:endParaRPr lang="en-US" sz="5400" dirty="0"/>
          </a:p>
        </p:txBody>
      </p:sp>
      <p:sp>
        <p:nvSpPr>
          <p:cNvPr id="10" name="Text 8"/>
          <p:cNvSpPr/>
          <p:nvPr/>
        </p:nvSpPr>
        <p:spPr>
          <a:xfrm>
            <a:off x="7040880" y="3657600"/>
            <a:ext cx="4251960" cy="36576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AUROC</a:t>
            </a:r>
            <a:endParaRPr lang="en-US" sz="1500" dirty="0"/>
          </a:p>
        </p:txBody>
      </p:sp>
      <p:sp>
        <p:nvSpPr>
          <p:cNvPr id="11" name="Text 9"/>
          <p:cNvSpPr/>
          <p:nvPr/>
        </p:nvSpPr>
        <p:spPr>
          <a:xfrm>
            <a:off x="7040880" y="4160520"/>
            <a:ext cx="4251960" cy="1554480"/>
          </a:xfrm>
          <a:prstGeom prst="rect">
            <a:avLst/>
          </a:prstGeom>
          <a:noFill/>
          <a:ln/>
        </p:spPr>
        <p:txBody>
          <a:bodyPr wrap="square" lIns="0" tIns="0" rIns="0" bIns="0" rtlCol="0" anchor="ctr"/>
          <a:lstStyle/>
          <a:p>
            <a:pPr marL="0" indent="0">
              <a:lnSpc>
                <a:spcPct val="130000"/>
              </a:lnSpc>
              <a:buNone/>
            </a:pPr>
            <a:r>
              <a:rPr lang="en-US" sz="1300" i="1" dirty="0">
                <a:solidFill>
                  <a:srgbClr val="64748B"/>
                </a:solidFill>
                <a:latin typeface="Calibri" pitchFamily="34" charset="0"/>
                <a:ea typeface="Calibri" pitchFamily="34" charset="-122"/>
                <a:cs typeface="Calibri" pitchFamily="34" charset="-120"/>
              </a:rPr>
              <a:t>Meaningfully better than a coin flip (0.5). This is the score the neural network has to beat.</a:t>
            </a:r>
            <a:endParaRPr lang="en-US" sz="1300" dirty="0"/>
          </a:p>
        </p:txBody>
      </p:sp>
      <p:sp>
        <p:nvSpPr>
          <p:cNvPr id="12" name="Text 10"/>
          <p:cNvSpPr/>
          <p:nvPr/>
        </p:nvSpPr>
        <p:spPr>
          <a:xfrm>
            <a:off x="548640" y="6053328"/>
            <a:ext cx="1097280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class_weight='balanced' tells the model to pay more attention to the rare readmit cases, instead of mostly learning from the common “no” cases.</a:t>
            </a:r>
            <a:endParaRPr lang="en-US" sz="1100" dirty="0"/>
          </a:p>
        </p:txBody>
      </p:sp>
      <p:sp>
        <p:nvSpPr>
          <p:cNvPr id="13" name="Text 11"/>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GOING DEEPER</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A Small Neural Network, By Design</a:t>
            </a:r>
            <a:endParaRPr lang="en-US" sz="3000" dirty="0"/>
          </a:p>
        </p:txBody>
      </p:sp>
      <p:sp>
        <p:nvSpPr>
          <p:cNvPr id="4" name="Shape 2"/>
          <p:cNvSpPr/>
          <p:nvPr/>
        </p:nvSpPr>
        <p:spPr>
          <a:xfrm>
            <a:off x="548640" y="1600200"/>
            <a:ext cx="11064240" cy="4160520"/>
          </a:xfrm>
          <a:prstGeom prst="roundRect">
            <a:avLst>
              <a:gd name="adj" fmla="val 2198"/>
            </a:avLst>
          </a:prstGeom>
          <a:solidFill>
            <a:srgbClr val="FFFFFF"/>
          </a:solidFill>
          <a:ln/>
          <a:effectLst>
            <a:outerShdw blurRad="101600" dist="38100" dir="5400000" algn="bl" rotWithShape="0">
              <a:srgbClr val="000000">
                <a:alpha val="10000"/>
              </a:srgbClr>
            </a:outerShdw>
          </a:effectLst>
        </p:spPr>
      </p:sp>
      <p:sp>
        <p:nvSpPr>
          <p:cNvPr id="5" name="Shape 3"/>
          <p:cNvSpPr/>
          <p:nvPr/>
        </p:nvSpPr>
        <p:spPr>
          <a:xfrm>
            <a:off x="1303020" y="2994660"/>
            <a:ext cx="2148840" cy="1371600"/>
          </a:xfrm>
          <a:prstGeom prst="roundRect">
            <a:avLst>
              <a:gd name="adj" fmla="val 5333"/>
            </a:avLst>
          </a:prstGeom>
          <a:solidFill>
            <a:srgbClr val="F4FAF9"/>
          </a:solidFill>
          <a:ln w="25400">
            <a:solidFill>
              <a:srgbClr val="64748B"/>
            </a:solidFill>
            <a:prstDash val="solid"/>
          </a:ln>
        </p:spPr>
      </p:sp>
      <p:sp>
        <p:nvSpPr>
          <p:cNvPr id="6" name="Text 4"/>
          <p:cNvSpPr/>
          <p:nvPr/>
        </p:nvSpPr>
        <p:spPr>
          <a:xfrm>
            <a:off x="1303020" y="2994660"/>
            <a:ext cx="2148840" cy="1371600"/>
          </a:xfrm>
          <a:prstGeom prst="rect">
            <a:avLst/>
          </a:prstGeom>
          <a:noFill/>
          <a:ln/>
        </p:spPr>
        <p:txBody>
          <a:bodyPr wrap="square" lIns="0" tIns="0" rIns="0" bIns="0" rtlCol="0" anchor="ctr"/>
          <a:lstStyle/>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Input</a:t>
            </a:r>
            <a:endParaRPr lang="en-US" sz="1350" dirty="0"/>
          </a:p>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22 features</a:t>
            </a:r>
            <a:endParaRPr lang="en-US" sz="1350" dirty="0"/>
          </a:p>
        </p:txBody>
      </p:sp>
      <p:sp>
        <p:nvSpPr>
          <p:cNvPr id="7" name="Text 5"/>
          <p:cNvSpPr/>
          <p:nvPr/>
        </p:nvSpPr>
        <p:spPr>
          <a:xfrm>
            <a:off x="3451860" y="2994660"/>
            <a:ext cx="320040" cy="1371600"/>
          </a:xfrm>
          <a:prstGeom prst="rect">
            <a:avLst/>
          </a:prstGeom>
          <a:noFill/>
          <a:ln/>
        </p:spPr>
        <p:txBody>
          <a:bodyPr wrap="square" lIns="0" tIns="0" rIns="0" bIns="0"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771900" y="2994660"/>
            <a:ext cx="2148840" cy="1371600"/>
          </a:xfrm>
          <a:prstGeom prst="roundRect">
            <a:avLst>
              <a:gd name="adj" fmla="val 5333"/>
            </a:avLst>
          </a:prstGeom>
          <a:solidFill>
            <a:srgbClr val="F4FAF9"/>
          </a:solidFill>
          <a:ln w="25400">
            <a:solidFill>
              <a:srgbClr val="028090"/>
            </a:solidFill>
            <a:prstDash val="solid"/>
          </a:ln>
        </p:spPr>
      </p:sp>
      <p:sp>
        <p:nvSpPr>
          <p:cNvPr id="9" name="Text 7"/>
          <p:cNvSpPr/>
          <p:nvPr/>
        </p:nvSpPr>
        <p:spPr>
          <a:xfrm>
            <a:off x="3771900" y="2994660"/>
            <a:ext cx="2148840" cy="1371600"/>
          </a:xfrm>
          <a:prstGeom prst="rect">
            <a:avLst/>
          </a:prstGeom>
          <a:noFill/>
          <a:ln/>
        </p:spPr>
        <p:txBody>
          <a:bodyPr wrap="square" lIns="0" tIns="0" rIns="0" bIns="0" rtlCol="0" anchor="ctr"/>
          <a:lstStyle/>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Dense 32</a:t>
            </a:r>
            <a:endParaRPr lang="en-US" sz="1350" dirty="0"/>
          </a:p>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 Dropout 0.3</a:t>
            </a:r>
            <a:endParaRPr lang="en-US" sz="1350" dirty="0"/>
          </a:p>
        </p:txBody>
      </p:sp>
      <p:sp>
        <p:nvSpPr>
          <p:cNvPr id="10" name="Text 8"/>
          <p:cNvSpPr/>
          <p:nvPr/>
        </p:nvSpPr>
        <p:spPr>
          <a:xfrm>
            <a:off x="5920740" y="2994660"/>
            <a:ext cx="320040" cy="1371600"/>
          </a:xfrm>
          <a:prstGeom prst="rect">
            <a:avLst/>
          </a:prstGeom>
          <a:noFill/>
          <a:ln/>
        </p:spPr>
        <p:txBody>
          <a:bodyPr wrap="square" lIns="0" tIns="0" rIns="0" bIns="0"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6240780" y="2994660"/>
            <a:ext cx="2148840" cy="1371600"/>
          </a:xfrm>
          <a:prstGeom prst="roundRect">
            <a:avLst>
              <a:gd name="adj" fmla="val 5333"/>
            </a:avLst>
          </a:prstGeom>
          <a:solidFill>
            <a:srgbClr val="F4FAF9"/>
          </a:solidFill>
          <a:ln w="25400">
            <a:solidFill>
              <a:srgbClr val="00A896"/>
            </a:solidFill>
            <a:prstDash val="solid"/>
          </a:ln>
        </p:spPr>
      </p:sp>
      <p:sp>
        <p:nvSpPr>
          <p:cNvPr id="12" name="Text 10"/>
          <p:cNvSpPr/>
          <p:nvPr/>
        </p:nvSpPr>
        <p:spPr>
          <a:xfrm>
            <a:off x="6240780" y="2994660"/>
            <a:ext cx="2148840" cy="1371600"/>
          </a:xfrm>
          <a:prstGeom prst="rect">
            <a:avLst/>
          </a:prstGeom>
          <a:noFill/>
          <a:ln/>
        </p:spPr>
        <p:txBody>
          <a:bodyPr wrap="square" lIns="0" tIns="0" rIns="0" bIns="0" rtlCol="0" anchor="ctr"/>
          <a:lstStyle/>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Dense 16</a:t>
            </a:r>
            <a:endParaRPr lang="en-US" sz="1350" dirty="0"/>
          </a:p>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 Dropout 0.2</a:t>
            </a:r>
            <a:endParaRPr lang="en-US" sz="1350" dirty="0"/>
          </a:p>
        </p:txBody>
      </p:sp>
      <p:sp>
        <p:nvSpPr>
          <p:cNvPr id="13" name="Text 11"/>
          <p:cNvSpPr/>
          <p:nvPr/>
        </p:nvSpPr>
        <p:spPr>
          <a:xfrm>
            <a:off x="8389620" y="2994660"/>
            <a:ext cx="320040" cy="1371600"/>
          </a:xfrm>
          <a:prstGeom prst="rect">
            <a:avLst/>
          </a:prstGeom>
          <a:noFill/>
          <a:ln/>
        </p:spPr>
        <p:txBody>
          <a:bodyPr wrap="square" lIns="0" tIns="0" rIns="0" bIns="0" rtlCol="0" anchor="ctr"/>
          <a:lstStyle/>
          <a:p>
            <a:pPr marL="0" indent="0" algn="ctr">
              <a:buNone/>
            </a:pPr>
            <a:r>
              <a:rPr lang="en-US" sz="2000" b="1" dirty="0">
                <a:solidFill>
                  <a:srgbClr val="028090"/>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8709660" y="2994660"/>
            <a:ext cx="2148840" cy="1371600"/>
          </a:xfrm>
          <a:prstGeom prst="roundRect">
            <a:avLst>
              <a:gd name="adj" fmla="val 5333"/>
            </a:avLst>
          </a:prstGeom>
          <a:solidFill>
            <a:srgbClr val="F4FAF9"/>
          </a:solidFill>
          <a:ln w="25400">
            <a:solidFill>
              <a:srgbClr val="05386B"/>
            </a:solidFill>
            <a:prstDash val="solid"/>
          </a:ln>
        </p:spPr>
      </p:sp>
      <p:sp>
        <p:nvSpPr>
          <p:cNvPr id="15" name="Text 13"/>
          <p:cNvSpPr/>
          <p:nvPr/>
        </p:nvSpPr>
        <p:spPr>
          <a:xfrm>
            <a:off x="8709660" y="2994660"/>
            <a:ext cx="2148840" cy="1371600"/>
          </a:xfrm>
          <a:prstGeom prst="rect">
            <a:avLst/>
          </a:prstGeom>
          <a:noFill/>
          <a:ln/>
        </p:spPr>
        <p:txBody>
          <a:bodyPr wrap="square" lIns="0" tIns="0" rIns="0" bIns="0" rtlCol="0" anchor="ctr"/>
          <a:lstStyle/>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Output</a:t>
            </a:r>
            <a:endParaRPr lang="en-US" sz="1350" dirty="0"/>
          </a:p>
          <a:p>
            <a:pPr marL="0" indent="0" algn="ctr">
              <a:lnSpc>
                <a:spcPct val="115000"/>
              </a:lnSpc>
              <a:buNone/>
            </a:pPr>
            <a:r>
              <a:rPr lang="en-US" sz="1350" b="1" dirty="0">
                <a:solidFill>
                  <a:srgbClr val="1E293B"/>
                </a:solidFill>
                <a:latin typeface="Calibri" pitchFamily="34" charset="0"/>
                <a:ea typeface="Calibri" pitchFamily="34" charset="-122"/>
                <a:cs typeface="Calibri" pitchFamily="34" charset="-120"/>
              </a:rPr>
              <a:t>1 probability</a:t>
            </a:r>
            <a:endParaRPr lang="en-US" sz="1350" dirty="0"/>
          </a:p>
        </p:txBody>
      </p:sp>
      <p:sp>
        <p:nvSpPr>
          <p:cNvPr id="16" name="Text 14"/>
          <p:cNvSpPr/>
          <p:nvPr/>
        </p:nvSpPr>
        <p:spPr>
          <a:xfrm>
            <a:off x="548640" y="5897880"/>
            <a:ext cx="11064240" cy="457200"/>
          </a:xfrm>
          <a:prstGeom prst="rect">
            <a:avLst/>
          </a:prstGeom>
          <a:noFill/>
          <a:ln/>
        </p:spPr>
        <p:txBody>
          <a:bodyPr wrap="square" lIns="0" tIns="0" rIns="0" bIns="0" rtlCol="0" anchor="ctr"/>
          <a:lstStyle/>
          <a:p>
            <a:pPr marL="0" indent="0">
              <a:lnSpc>
                <a:spcPct val="120000"/>
              </a:lnSpc>
              <a:buNone/>
            </a:pPr>
            <a:r>
              <a:rPr lang="en-US" sz="1250" dirty="0">
                <a:solidFill>
                  <a:srgbClr val="64748B"/>
                </a:solidFill>
                <a:latin typeface="Calibri"/>
                <a:ea typeface="Calibri"/>
                <a:cs typeface="Calibri"/>
              </a:rPr>
              <a:t>Why 32 → 16 nodes: with only ~22 columns after encoding, a much bigger network would just memorize the training rows instead of learning a pattern that generalizes.  </a:t>
            </a:r>
            <a:r>
              <a:rPr lang="en-US" sz="1250">
                <a:solidFill>
                  <a:srgbClr val="64748B"/>
                </a:solidFill>
                <a:latin typeface="Calibri"/>
                <a:ea typeface="Calibri"/>
                <a:cs typeface="Calibri"/>
              </a:rPr>
              <a:t>Why dropout 0.3, then 0.2: dropout randomly turns off nodes during training so the model can't lean on just one - set higher near the input, since that's where overfitting </a:t>
            </a:r>
            <a:r>
              <a:rPr lang="en-US" sz="1250" dirty="0">
                <a:solidFill>
                  <a:srgbClr val="64748B"/>
                </a:solidFill>
                <a:latin typeface="Calibri"/>
                <a:ea typeface="Calibri"/>
                <a:cs typeface="Calibri"/>
              </a:rPr>
              <a:t>risk is greatest with so few readmit cases to learn from.</a:t>
            </a:r>
            <a:endParaRPr lang="en-US" sz="1250" dirty="0">
              <a:latin typeface="Calibri"/>
              <a:ea typeface="Calibri"/>
              <a:cs typeface="Calibri"/>
            </a:endParaRPr>
          </a:p>
        </p:txBody>
      </p:sp>
      <p:sp>
        <p:nvSpPr>
          <p:cNvPr id="17" name="Text 15"/>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EVALUATION</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Why We Don't Trust Accuracy Here</a:t>
            </a:r>
            <a:endParaRPr lang="en-US" sz="3000" dirty="0"/>
          </a:p>
        </p:txBody>
      </p:sp>
      <p:sp>
        <p:nvSpPr>
          <p:cNvPr id="4" name="Shape 2"/>
          <p:cNvSpPr/>
          <p:nvPr/>
        </p:nvSpPr>
        <p:spPr>
          <a:xfrm>
            <a:off x="54864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5" name="Text 3"/>
          <p:cNvSpPr/>
          <p:nvPr/>
        </p:nvSpPr>
        <p:spPr>
          <a:xfrm>
            <a:off x="82296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Accuracy</a:t>
            </a:r>
            <a:endParaRPr lang="en-US" sz="1700" dirty="0"/>
          </a:p>
        </p:txBody>
      </p:sp>
      <p:sp>
        <p:nvSpPr>
          <p:cNvPr id="6" name="Text 4"/>
          <p:cNvSpPr/>
          <p:nvPr/>
        </p:nvSpPr>
        <p:spPr>
          <a:xfrm>
            <a:off x="82296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Misleading here. Always guessing “no” scores about 94% while catching zero real readmissions.</a:t>
            </a:r>
            <a:endParaRPr lang="en-US" sz="1400" dirty="0"/>
          </a:p>
        </p:txBody>
      </p:sp>
      <p:sp>
        <p:nvSpPr>
          <p:cNvPr id="7" name="Shape 5"/>
          <p:cNvSpPr/>
          <p:nvPr/>
        </p:nvSpPr>
        <p:spPr>
          <a:xfrm>
            <a:off x="438912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8" name="Text 6"/>
          <p:cNvSpPr/>
          <p:nvPr/>
        </p:nvSpPr>
        <p:spPr>
          <a:xfrm>
            <a:off x="466344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AUROC</a:t>
            </a:r>
            <a:endParaRPr lang="en-US" sz="1700" dirty="0"/>
          </a:p>
        </p:txBody>
      </p:sp>
      <p:sp>
        <p:nvSpPr>
          <p:cNvPr id="9" name="Text 7"/>
          <p:cNvSpPr/>
          <p:nvPr/>
        </p:nvSpPr>
        <p:spPr>
          <a:xfrm>
            <a:off x="466344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How well the model ranks readmitted patients above everyone else. 0.5 = random guessing, 1.0 = perfect.</a:t>
            </a:r>
            <a:endParaRPr lang="en-US" sz="1400" dirty="0"/>
          </a:p>
        </p:txBody>
      </p:sp>
      <p:sp>
        <p:nvSpPr>
          <p:cNvPr id="10" name="Shape 8"/>
          <p:cNvSpPr/>
          <p:nvPr/>
        </p:nvSpPr>
        <p:spPr>
          <a:xfrm>
            <a:off x="8229600" y="1874520"/>
            <a:ext cx="3520440" cy="3200400"/>
          </a:xfrm>
          <a:prstGeom prst="roundRect">
            <a:avLst>
              <a:gd name="adj" fmla="val 2857"/>
            </a:avLst>
          </a:prstGeom>
          <a:solidFill>
            <a:srgbClr val="FFFFFF"/>
          </a:solidFill>
          <a:ln/>
          <a:effectLst>
            <a:outerShdw blurRad="101600" dist="38100" dir="5400000" algn="bl" rotWithShape="0">
              <a:srgbClr val="000000">
                <a:alpha val="10000"/>
              </a:srgbClr>
            </a:outerShdw>
          </a:effectLst>
        </p:spPr>
      </p:sp>
      <p:sp>
        <p:nvSpPr>
          <p:cNvPr id="11" name="Text 9"/>
          <p:cNvSpPr/>
          <p:nvPr/>
        </p:nvSpPr>
        <p:spPr>
          <a:xfrm>
            <a:off x="8503920" y="2788920"/>
            <a:ext cx="2971800" cy="54864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AUPRC</a:t>
            </a:r>
            <a:endParaRPr lang="en-US" sz="1700" dirty="0"/>
          </a:p>
        </p:txBody>
      </p:sp>
      <p:sp>
        <p:nvSpPr>
          <p:cNvPr id="12" name="Text 10"/>
          <p:cNvSpPr/>
          <p:nvPr/>
        </p:nvSpPr>
        <p:spPr>
          <a:xfrm>
            <a:off x="8503920" y="3337560"/>
            <a:ext cx="2971800" cy="15087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A stricter score, focused only on the rare readmit group. Closer to the question a care team actually asks.</a:t>
            </a:r>
            <a:endParaRPr lang="en-US" sz="1400" dirty="0"/>
          </a:p>
        </p:txBody>
      </p:sp>
      <p:sp>
        <p:nvSpPr>
          <p:cNvPr id="13" name="Text 11"/>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Logistic Regression vs. Neural Network</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Both models land in almost the same place.</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2057400"/>
        </p:xfrm>
        <a:graphic>
          <a:graphicData uri="http://schemas.openxmlformats.org/drawingml/2006/table">
            <a:tbl>
              <a:tblPr/>
              <a:tblGrid>
                <a:gridCol w="3685032">
                  <a:extLst>
                    <a:ext uri="{9D8B030D-6E8A-4147-A177-3AD203B41FA5}">
                      <a16:colId xmlns:a16="http://schemas.microsoft.com/office/drawing/2014/main" val="20000"/>
                    </a:ext>
                  </a:extLst>
                </a:gridCol>
                <a:gridCol w="3685032">
                  <a:extLst>
                    <a:ext uri="{9D8B030D-6E8A-4147-A177-3AD203B41FA5}">
                      <a16:colId xmlns:a16="http://schemas.microsoft.com/office/drawing/2014/main" val="20001"/>
                    </a:ext>
                  </a:extLst>
                </a:gridCol>
                <a:gridCol w="3694176">
                  <a:extLst>
                    <a:ext uri="{9D8B030D-6E8A-4147-A177-3AD203B41FA5}">
                      <a16:colId xmlns:a16="http://schemas.microsoft.com/office/drawing/2014/main" val="20002"/>
                    </a:ext>
                  </a:extLst>
                </a:gridCol>
              </a:tblGrid>
              <a:tr h="685800">
                <a:tc>
                  <a:txBody>
                    <a:bodyPr/>
                    <a:lstStyle/>
                    <a:p>
                      <a:pPr marL="0" indent="0" algn="ctr">
                        <a:buNone/>
                      </a:pPr>
                      <a:r>
                        <a:rPr lang="en-US" sz="1400" b="1" dirty="0">
                          <a:solidFill>
                            <a:srgbClr val="1E293B"/>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marL="0" indent="0" algn="ctr">
                        <a:buNone/>
                      </a:pPr>
                      <a:r>
                        <a:rPr lang="en-US" sz="1400" b="1" dirty="0">
                          <a:solidFill>
                            <a:srgbClr val="1E293B"/>
                          </a:solidFill>
                          <a:latin typeface="Calibri" pitchFamily="34" charset="0"/>
                          <a:ea typeface="Calibri" pitchFamily="34" charset="-122"/>
                          <a:cs typeface="Calibri" pitchFamily="34" charset="-120"/>
                        </a:rPr>
                        <a:t>AUROC</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2E8F0"/>
                    </a:solidFill>
                  </a:tcPr>
                </a:tc>
                <a:tc>
                  <a:txBody>
                    <a:bodyPr/>
                    <a:lstStyle/>
                    <a:p>
                      <a:pPr marL="0" indent="0" algn="ctr">
                        <a:buNone/>
                      </a:pPr>
                      <a:r>
                        <a:rPr lang="en-US" sz="1400" b="1" dirty="0">
                          <a:solidFill>
                            <a:srgbClr val="1E293B"/>
                          </a:solidFill>
                          <a:latin typeface="Calibri" pitchFamily="34" charset="0"/>
                          <a:ea typeface="Calibri" pitchFamily="34" charset="-122"/>
                          <a:cs typeface="Calibri" pitchFamily="34" charset="-120"/>
                        </a:rPr>
                        <a:t>AUPRC</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2E8F0"/>
                    </a:solidFill>
                  </a:tcPr>
                </a:tc>
                <a:extLst>
                  <a:ext uri="{0D108BD9-81ED-4DB2-BD59-A6C34878D82A}">
                    <a16:rowId xmlns:a16="http://schemas.microsoft.com/office/drawing/2014/main" val="10000"/>
                  </a:ext>
                </a:extLst>
              </a:tr>
              <a:tr h="685800">
                <a:tc>
                  <a:txBody>
                    <a:bodyPr/>
                    <a:lstStyle/>
                    <a:p>
                      <a:pPr marL="0" indent="0" algn="l">
                        <a:buNone/>
                      </a:pPr>
                      <a:r>
                        <a:rPr lang="en-US" sz="1400" b="1" dirty="0">
                          <a:solidFill>
                            <a:srgbClr val="1E293B"/>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4FAF9"/>
                    </a:solidFill>
                  </a:tcPr>
                </a:tc>
                <a:tc>
                  <a:txBody>
                    <a:bodyPr/>
                    <a:lstStyle/>
                    <a:p>
                      <a:pPr marL="0" indent="0" algn="ctr">
                        <a:buNone/>
                      </a:pPr>
                      <a:r>
                        <a:rPr lang="en-US" sz="1400" dirty="0">
                          <a:solidFill>
                            <a:srgbClr val="028090"/>
                          </a:solidFill>
                          <a:latin typeface="Calibri" pitchFamily="34" charset="0"/>
                          <a:ea typeface="Calibri" pitchFamily="34" charset="-122"/>
                          <a:cs typeface="Calibri" pitchFamily="34" charset="-120"/>
                        </a:rPr>
                        <a:t>0.657</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4FAF9"/>
                    </a:solidFill>
                  </a:tcPr>
                </a:tc>
                <a:tc>
                  <a:txBody>
                    <a:bodyPr/>
                    <a:lstStyle/>
                    <a:p>
                      <a:pPr marL="0" indent="0" algn="ctr">
                        <a:buNone/>
                      </a:pPr>
                      <a:r>
                        <a:rPr lang="en-US" sz="1400" dirty="0">
                          <a:solidFill>
                            <a:srgbClr val="028090"/>
                          </a:solidFill>
                          <a:latin typeface="Calibri" pitchFamily="34" charset="0"/>
                          <a:ea typeface="Calibri" pitchFamily="34" charset="-122"/>
                          <a:cs typeface="Calibri" pitchFamily="34" charset="-120"/>
                        </a:rPr>
                        <a:t>0.135</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4FAF9"/>
                    </a:solidFill>
                  </a:tcPr>
                </a:tc>
                <a:extLst>
                  <a:ext uri="{0D108BD9-81ED-4DB2-BD59-A6C34878D82A}">
                    <a16:rowId xmlns:a16="http://schemas.microsoft.com/office/drawing/2014/main" val="10001"/>
                  </a:ext>
                </a:extLst>
              </a:tr>
              <a:tr h="685800">
                <a:tc>
                  <a:txBody>
                    <a:bodyPr/>
                    <a:lstStyle/>
                    <a:p>
                      <a:pPr marL="0" indent="0" algn="l">
                        <a:buNone/>
                      </a:pPr>
                      <a:r>
                        <a:rPr lang="en-US" sz="1400" b="1" dirty="0">
                          <a:solidFill>
                            <a:srgbClr val="1E293B"/>
                          </a:solidFill>
                          <a:latin typeface="Calibri" pitchFamily="34" charset="0"/>
                          <a:ea typeface="Calibri" pitchFamily="34" charset="-122"/>
                          <a:cs typeface="Calibri" pitchFamily="34" charset="-120"/>
                        </a:rPr>
                        <a:t>Neural Network</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028090"/>
                          </a:solidFill>
                          <a:latin typeface="Calibri" pitchFamily="34" charset="0"/>
                          <a:ea typeface="Calibri" pitchFamily="34" charset="-122"/>
                          <a:cs typeface="Calibri" pitchFamily="34" charset="-120"/>
                        </a:rPr>
                        <a:t>0.659</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028090"/>
                          </a:solidFill>
                          <a:latin typeface="Calibri" pitchFamily="34" charset="0"/>
                          <a:ea typeface="Calibri" pitchFamily="34" charset="-122"/>
                          <a:cs typeface="Calibri" pitchFamily="34" charset="-120"/>
                        </a:rPr>
                        <a:t>0.140</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bl>
          </a:graphicData>
        </a:graphic>
      </p:graphicFrame>
      <p:sp>
        <p:nvSpPr>
          <p:cNvPr id="6" name="Text 3"/>
          <p:cNvSpPr/>
          <p:nvPr/>
        </p:nvSpPr>
        <p:spPr>
          <a:xfrm>
            <a:off x="548640" y="3749040"/>
            <a:ext cx="11064240" cy="731520"/>
          </a:xfrm>
          <a:prstGeom prst="rect">
            <a:avLst/>
          </a:prstGeom>
          <a:noFill/>
          <a:ln/>
        </p:spPr>
        <p:txBody>
          <a:bodyPr wrap="square" lIns="0" tIns="0" rIns="0" bIns="0" rtlCol="0" anchor="ctr"/>
          <a:lstStyle/>
          <a:p>
            <a:pPr marL="0" indent="0">
              <a:lnSpc>
                <a:spcPct val="130000"/>
              </a:lnSpc>
              <a:buNone/>
            </a:pPr>
            <a:r>
              <a:rPr lang="en-US" sz="1400" i="1" dirty="0">
                <a:solidFill>
                  <a:srgbClr val="64748B"/>
                </a:solidFill>
                <a:latin typeface="Calibri" pitchFamily="34" charset="0"/>
                <a:ea typeface="Calibri" pitchFamily="34" charset="-122"/>
                <a:cs typeface="Calibri" pitchFamily="34" charset="-120"/>
              </a:rPr>
              <a:t>For a small, mostly-tabular dataset like this one, a simple model can do nearly as well as a neural network. That's a fair result to report honestly, not something to explain away.</a:t>
            </a:r>
            <a:endParaRPr lang="en-US" sz="1400" dirty="0"/>
          </a:p>
        </p:txBody>
      </p:sp>
      <p:sp>
        <p:nvSpPr>
          <p:cNvPr id="7" name="Text 4"/>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THE TRADE-OFF</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Recall vs. Accuracy at the Cutoff</a:t>
            </a:r>
            <a:endParaRPr lang="en-US" sz="3000" dirty="0"/>
          </a:p>
        </p:txBody>
      </p:sp>
      <p:sp>
        <p:nvSpPr>
          <p:cNvPr id="4" name="Shape 2"/>
          <p:cNvSpPr/>
          <p:nvPr/>
        </p:nvSpPr>
        <p:spPr>
          <a:xfrm>
            <a:off x="548640" y="1600200"/>
            <a:ext cx="11064240" cy="4160520"/>
          </a:xfrm>
          <a:prstGeom prst="roundRect">
            <a:avLst>
              <a:gd name="adj" fmla="val 2198"/>
            </a:avLst>
          </a:prstGeom>
          <a:solidFill>
            <a:srgbClr val="FFFFFF"/>
          </a:solidFill>
          <a:ln/>
          <a:effectLst>
            <a:outerShdw blurRad="101600" dist="38100" dir="5400000" algn="bl" rotWithShape="0">
              <a:srgbClr val="000000">
                <a:alpha val="10000"/>
              </a:srgbClr>
            </a:outerShdw>
          </a:effectLst>
        </p:spPr>
      </p:sp>
      <p:pic>
        <p:nvPicPr>
          <p:cNvPr id="5" name="Image 0" descr="/home/claude/roc_crop.png"/>
          <p:cNvPicPr>
            <a:picLocks noChangeAspect="1"/>
          </p:cNvPicPr>
          <p:nvPr/>
        </p:nvPicPr>
        <p:blipFill>
          <a:blip r:embed="rId3"/>
          <a:stretch>
            <a:fillRect/>
          </a:stretch>
        </p:blipFill>
        <p:spPr>
          <a:xfrm>
            <a:off x="1754116" y="1828800"/>
            <a:ext cx="8653287" cy="3566160"/>
          </a:xfrm>
          <a:prstGeom prst="rect">
            <a:avLst/>
          </a:prstGeom>
        </p:spPr>
      </p:pic>
      <p:sp>
        <p:nvSpPr>
          <p:cNvPr id="6" name="Text 3"/>
          <p:cNvSpPr/>
          <p:nvPr/>
        </p:nvSpPr>
        <p:spPr>
          <a:xfrm>
            <a:off x="548640" y="5897880"/>
            <a:ext cx="11064240" cy="457200"/>
          </a:xfrm>
          <a:prstGeom prst="rect">
            <a:avLst/>
          </a:prstGeom>
          <a:noFill/>
          <a:ln/>
        </p:spPr>
        <p:txBody>
          <a:bodyPr wrap="square" lIns="0" tIns="0" rIns="0" bIns="0" rtlCol="0" anchor="ctr"/>
          <a:lstStyle/>
          <a:p>
            <a:pPr marL="0" indent="0">
              <a:lnSpc>
                <a:spcPct val="120000"/>
              </a:lnSpc>
              <a:buNone/>
            </a:pPr>
            <a:r>
              <a:rPr lang="en-US" sz="1250" dirty="0">
                <a:solidFill>
                  <a:srgbClr val="64748B"/>
                </a:solidFill>
                <a:latin typeface="Calibri"/>
                <a:ea typeface="Calibri"/>
                <a:cs typeface="Calibri"/>
              </a:rPr>
              <a:t>At a 0.5 cutoff: Logistic Regression catches 55% of true readmissions and stays 67% accurate overall. The neural network catches more - 66% - but its accuracy drops to 57%, since it flags more false alarms. Which model is “better” depends on what costs more: missing a real readmission, or an unnecessary follow-up call.</a:t>
            </a:r>
            <a:endParaRPr lang="en-US" sz="1250" dirty="0">
              <a:latin typeface="Calibri"/>
              <a:ea typeface="Calibri"/>
              <a:cs typeface="Calibri"/>
            </a:endParaRPr>
          </a:p>
        </p:txBody>
      </p:sp>
      <p:sp>
        <p:nvSpPr>
          <p:cNvPr id="7" name="Text 4"/>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lIns="0" tIns="0" rIns="0" bIns="0" rtlCol="0" anchor="ctr"/>
          <a:lstStyle/>
          <a:p>
            <a:pPr marL="0" indent="0">
              <a:buNone/>
            </a:pPr>
            <a:r>
              <a:rPr lang="en-US" sz="1300" b="1" kern="0" spc="200" dirty="0">
                <a:solidFill>
                  <a:srgbClr val="00A896"/>
                </a:solidFill>
                <a:latin typeface="Calibri" pitchFamily="34" charset="0"/>
                <a:ea typeface="Calibri" pitchFamily="34" charset="-122"/>
                <a:cs typeface="Calibri" pitchFamily="34" charset="-120"/>
              </a:rPr>
              <a:t>INTERPRETATION</a:t>
            </a:r>
            <a:endParaRPr lang="en-US" sz="13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marL="0" indent="0">
              <a:buNone/>
            </a:pPr>
            <a:r>
              <a:rPr lang="en-US" sz="3000" b="1" dirty="0">
                <a:solidFill>
                  <a:srgbClr val="1E293B"/>
                </a:solidFill>
                <a:latin typeface="Cambria" pitchFamily="34" charset="0"/>
                <a:ea typeface="Cambria" pitchFamily="34" charset="-122"/>
                <a:cs typeface="Cambria" pitchFamily="34" charset="-120"/>
              </a:rPr>
              <a:t>What Actually Predicts Readmission?</a:t>
            </a:r>
            <a:endParaRPr lang="en-US" sz="3000" dirty="0"/>
          </a:p>
        </p:txBody>
      </p:sp>
      <p:sp>
        <p:nvSpPr>
          <p:cNvPr id="4" name="Shape 2"/>
          <p:cNvSpPr/>
          <p:nvPr/>
        </p:nvSpPr>
        <p:spPr>
          <a:xfrm>
            <a:off x="548640" y="1965960"/>
            <a:ext cx="5943600" cy="3977640"/>
          </a:xfrm>
          <a:prstGeom prst="roundRect">
            <a:avLst>
              <a:gd name="adj" fmla="val 2299"/>
            </a:avLst>
          </a:prstGeom>
          <a:solidFill>
            <a:srgbClr val="FFFFFF"/>
          </a:solidFill>
          <a:ln/>
          <a:effectLst>
            <a:outerShdw blurRad="101600" dist="38100" dir="5400000" algn="bl" rotWithShape="0">
              <a:srgbClr val="000000">
                <a:alpha val="10000"/>
              </a:srgbClr>
            </a:outerShdw>
          </a:effectLst>
        </p:spPr>
      </p:sp>
      <p:pic>
        <p:nvPicPr>
          <p:cNvPr id="5" name="Image 0" descr="/home/claude/coef_crop.png"/>
          <p:cNvPicPr>
            <a:picLocks noChangeAspect="1"/>
          </p:cNvPicPr>
          <p:nvPr/>
        </p:nvPicPr>
        <p:blipFill>
          <a:blip r:embed="rId3"/>
          <a:stretch>
            <a:fillRect/>
          </a:stretch>
        </p:blipFill>
        <p:spPr>
          <a:xfrm>
            <a:off x="1167003" y="2240280"/>
            <a:ext cx="4752594" cy="3017520"/>
          </a:xfrm>
          <a:prstGeom prst="rect">
            <a:avLst/>
          </a:prstGeom>
        </p:spPr>
      </p:pic>
      <p:sp>
        <p:nvSpPr>
          <p:cNvPr id="6" name="Text 3"/>
          <p:cNvSpPr/>
          <p:nvPr/>
        </p:nvSpPr>
        <p:spPr>
          <a:xfrm>
            <a:off x="868680" y="5349240"/>
            <a:ext cx="534924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prior_admission_count is the strongest predictor, by a clear margin.</a:t>
            </a:r>
            <a:endParaRPr lang="en-US" sz="1200" dirty="0"/>
          </a:p>
        </p:txBody>
      </p:sp>
      <p:sp>
        <p:nvSpPr>
          <p:cNvPr id="7" name="Shape 4"/>
          <p:cNvSpPr/>
          <p:nvPr/>
        </p:nvSpPr>
        <p:spPr>
          <a:xfrm>
            <a:off x="6720840" y="1965960"/>
            <a:ext cx="4892040" cy="3977640"/>
          </a:xfrm>
          <a:prstGeom prst="roundRect">
            <a:avLst>
              <a:gd name="adj" fmla="val 2299"/>
            </a:avLst>
          </a:prstGeom>
          <a:solidFill>
            <a:srgbClr val="FEF7EC"/>
          </a:solidFill>
          <a:ln/>
          <a:effectLst>
            <a:outerShdw blurRad="101600" dist="38100" dir="5400000" algn="bl" rotWithShape="0">
              <a:srgbClr val="000000">
                <a:alpha val="10000"/>
              </a:srgbClr>
            </a:outerShdw>
          </a:effectLst>
        </p:spPr>
      </p:sp>
      <p:sp>
        <p:nvSpPr>
          <p:cNvPr id="8" name="Text 5"/>
          <p:cNvSpPr/>
          <p:nvPr/>
        </p:nvSpPr>
        <p:spPr>
          <a:xfrm>
            <a:off x="7040880" y="2258568"/>
            <a:ext cx="4251960" cy="365760"/>
          </a:xfrm>
          <a:prstGeom prst="rect">
            <a:avLst/>
          </a:prstGeom>
          <a:noFill/>
          <a:ln/>
        </p:spPr>
        <p:txBody>
          <a:bodyPr wrap="square" lIns="0" tIns="0" rIns="0" bIns="0" rtlCol="0" anchor="ctr"/>
          <a:lstStyle/>
          <a:p>
            <a:pPr marL="0" indent="0">
              <a:buNone/>
            </a:pPr>
            <a:r>
              <a:rPr lang="en-US" sz="1300" b="1" kern="0" spc="150" dirty="0">
                <a:solidFill>
                  <a:srgbClr val="B45309"/>
                </a:solidFill>
                <a:latin typeface="Calibri" pitchFamily="34" charset="0"/>
                <a:ea typeface="Calibri" pitchFamily="34" charset="-122"/>
                <a:cs typeface="Calibri" pitchFamily="34" charset="-120"/>
              </a:rPr>
              <a:t>FINDING</a:t>
            </a:r>
            <a:endParaRPr lang="en-US" sz="1300" dirty="0"/>
          </a:p>
        </p:txBody>
      </p:sp>
      <p:sp>
        <p:nvSpPr>
          <p:cNvPr id="9" name="Text 6"/>
          <p:cNvSpPr/>
          <p:nvPr/>
        </p:nvSpPr>
        <p:spPr>
          <a:xfrm>
            <a:off x="7040880" y="2743200"/>
            <a:ext cx="4251960" cy="3063240"/>
          </a:xfrm>
          <a:prstGeom prst="rect">
            <a:avLst/>
          </a:prstGeom>
          <a:noFill/>
          <a:ln/>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A few diagnoses — kidney failure, intracerebral hemorrhage — seem to LOWER predicted risk.</a:t>
            </a:r>
            <a:endParaRPr lang="en-US" sz="1350" dirty="0"/>
          </a:p>
          <a:p>
            <a:pPr marL="0" indent="0">
              <a:lnSpc>
                <a:spcPct val="130000"/>
              </a:lnSpc>
              <a:buNone/>
            </a:pPr>
            <a:endParaRPr lang="en-US" sz="1350" dirty="0"/>
          </a:p>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But these also carry higher in-hospital mortality. A patient who doesn't survive can't be readmitted — so this is probably about survival, not a safer outcome.</a:t>
            </a:r>
            <a:endParaRPr lang="en-US" sz="1350" dirty="0"/>
          </a:p>
        </p:txBody>
      </p:sp>
      <p:sp>
        <p:nvSpPr>
          <p:cNvPr id="10" name="Text 7"/>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386B"/>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We Learned</a:t>
            </a:r>
            <a:endParaRPr lang="en-US" sz="3000" dirty="0"/>
          </a:p>
        </p:txBody>
      </p:sp>
      <p:sp>
        <p:nvSpPr>
          <p:cNvPr id="3" name="Text 1"/>
          <p:cNvSpPr/>
          <p:nvPr/>
        </p:nvSpPr>
        <p:spPr>
          <a:xfrm>
            <a:off x="548640" y="1371600"/>
            <a:ext cx="5303520" cy="411480"/>
          </a:xfrm>
          <a:prstGeom prst="rect">
            <a:avLst/>
          </a:prstGeom>
          <a:noFill/>
          <a:ln/>
        </p:spPr>
        <p:txBody>
          <a:bodyPr wrap="square" lIns="0" tIns="0" rIns="0" bIns="0" rtlCol="0" anchor="ctr"/>
          <a:lstStyle/>
          <a:p>
            <a:pPr marL="0" indent="0">
              <a:buNone/>
            </a:pPr>
            <a:r>
              <a:rPr lang="en-US" sz="1800" b="1" dirty="0">
                <a:solidFill>
                  <a:srgbClr val="02C39A"/>
                </a:solidFill>
                <a:latin typeface="Cambria" pitchFamily="34" charset="0"/>
                <a:ea typeface="Cambria" pitchFamily="34" charset="-122"/>
                <a:cs typeface="Cambria" pitchFamily="34" charset="-120"/>
              </a:rPr>
              <a:t>Takeaways</a:t>
            </a:r>
            <a:endParaRPr lang="en-US" sz="1800" dirty="0"/>
          </a:p>
        </p:txBody>
      </p:sp>
      <p:sp>
        <p:nvSpPr>
          <p:cNvPr id="4" name="Text 2"/>
          <p:cNvSpPr/>
          <p:nvPr/>
        </p:nvSpPr>
        <p:spPr>
          <a:xfrm>
            <a:off x="548640" y="1874520"/>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Readmission is somewhat predictable, but not strongly — both models land around 0.66 AUROC.</a:t>
            </a:r>
            <a:endParaRPr lang="en-US" sz="1300" dirty="0"/>
          </a:p>
        </p:txBody>
      </p:sp>
      <p:sp>
        <p:nvSpPr>
          <p:cNvPr id="5" name="Text 3"/>
          <p:cNvSpPr/>
          <p:nvPr/>
        </p:nvSpPr>
        <p:spPr>
          <a:xfrm>
            <a:off x="548640" y="2715768"/>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A simple model did almost as well as a neural network here.</a:t>
            </a:r>
            <a:endParaRPr lang="en-US" sz="1300" dirty="0"/>
          </a:p>
        </p:txBody>
      </p:sp>
      <p:sp>
        <p:nvSpPr>
          <p:cNvPr id="6" name="Text 4"/>
          <p:cNvSpPr/>
          <p:nvPr/>
        </p:nvSpPr>
        <p:spPr>
          <a:xfrm>
            <a:off x="548640" y="3557016"/>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A patient's admission history is the clearest signal we found.</a:t>
            </a:r>
            <a:endParaRPr lang="en-US" sz="1300" dirty="0"/>
          </a:p>
        </p:txBody>
      </p:sp>
      <p:sp>
        <p:nvSpPr>
          <p:cNvPr id="7" name="Text 5"/>
          <p:cNvSpPr/>
          <p:nvPr/>
        </p:nvSpPr>
        <p:spPr>
          <a:xfrm>
            <a:off x="548640" y="4398264"/>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Where to set the risk cutoff is a choice for the hospital, not the model.</a:t>
            </a:r>
            <a:endParaRPr lang="en-US" sz="1300" dirty="0"/>
          </a:p>
        </p:txBody>
      </p:sp>
      <p:sp>
        <p:nvSpPr>
          <p:cNvPr id="8" name="Text 6"/>
          <p:cNvSpPr/>
          <p:nvPr/>
        </p:nvSpPr>
        <p:spPr>
          <a:xfrm>
            <a:off x="6309360" y="1371600"/>
            <a:ext cx="5303520" cy="411480"/>
          </a:xfrm>
          <a:prstGeom prst="rect">
            <a:avLst/>
          </a:prstGeom>
          <a:noFill/>
          <a:ln/>
        </p:spPr>
        <p:txBody>
          <a:bodyPr wrap="square" lIns="0" tIns="0" rIns="0" bIns="0" rtlCol="0" anchor="ctr"/>
          <a:lstStyle/>
          <a:p>
            <a:pPr marL="0" indent="0">
              <a:buNone/>
            </a:pPr>
            <a:r>
              <a:rPr lang="en-US" sz="1800" b="1" dirty="0">
                <a:solidFill>
                  <a:srgbClr val="02C39A"/>
                </a:solidFill>
                <a:latin typeface="Cambria" pitchFamily="34" charset="0"/>
                <a:ea typeface="Cambria" pitchFamily="34" charset="-122"/>
                <a:cs typeface="Cambria" pitchFamily="34" charset="-120"/>
              </a:rPr>
              <a:t>Limitations</a:t>
            </a:r>
            <a:endParaRPr lang="en-US" sz="1800" dirty="0"/>
          </a:p>
        </p:txBody>
      </p:sp>
      <p:sp>
        <p:nvSpPr>
          <p:cNvPr id="9" name="Text 7"/>
          <p:cNvSpPr/>
          <p:nvPr/>
        </p:nvSpPr>
        <p:spPr>
          <a:xfrm>
            <a:off x="6309360" y="1874520"/>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We didn't use any of the discharge note text yet.</a:t>
            </a:r>
            <a:endParaRPr lang="en-US" sz="1300" dirty="0"/>
          </a:p>
        </p:txBody>
      </p:sp>
      <p:sp>
        <p:nvSpPr>
          <p:cNvPr id="10" name="Text 8"/>
          <p:cNvSpPr/>
          <p:nvPr/>
        </p:nvSpPr>
        <p:spPr>
          <a:xfrm>
            <a:off x="6309360" y="2715768"/>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Some features come from the same admission we're predicting on — a real deployment would need to check timing more carefully.</a:t>
            </a:r>
            <a:endParaRPr lang="en-US" sz="1300" dirty="0"/>
          </a:p>
        </p:txBody>
      </p:sp>
      <p:sp>
        <p:nvSpPr>
          <p:cNvPr id="11" name="Text 9"/>
          <p:cNvSpPr/>
          <p:nvPr/>
        </p:nvSpPr>
        <p:spPr>
          <a:xfrm>
            <a:off x="6309360" y="3557016"/>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The mortality mix-up noted earlier isn't separately handled.</a:t>
            </a:r>
            <a:endParaRPr lang="en-US" sz="1300" dirty="0"/>
          </a:p>
        </p:txBody>
      </p:sp>
      <p:sp>
        <p:nvSpPr>
          <p:cNvPr id="12" name="Text 10"/>
          <p:cNvSpPr/>
          <p:nvPr/>
        </p:nvSpPr>
        <p:spPr>
          <a:xfrm>
            <a:off x="6309360" y="4398264"/>
            <a:ext cx="5349240" cy="777240"/>
          </a:xfrm>
          <a:prstGeom prst="rect">
            <a:avLst/>
          </a:prstGeom>
          <a:noFill/>
          <a:ln/>
        </p:spPr>
        <p:txBody>
          <a:bodyPr wrap="square" lIns="0" tIns="0" rIns="0" bIns="0" rtlCol="0" anchor="ctr"/>
          <a:lstStyle/>
          <a:p>
            <a:pPr marL="0" indent="0">
              <a:lnSpc>
                <a:spcPct val="125000"/>
              </a:lnSpc>
              <a:buNone/>
            </a:pPr>
            <a:r>
              <a:rPr lang="en-US" sz="1300" dirty="0">
                <a:solidFill>
                  <a:srgbClr val="E5F2F1"/>
                </a:solidFill>
                <a:latin typeface="Calibri" pitchFamily="34" charset="0"/>
                <a:ea typeface="Calibri" pitchFamily="34" charset="-122"/>
                <a:cs typeface="Calibri" pitchFamily="34" charset="-120"/>
              </a:rPr>
              <a:t>•  No tuning or cross-validation — kept simple on purpose for this tutorial.</a:t>
            </a:r>
            <a:endParaRPr lang="en-US" sz="1300" dirty="0"/>
          </a:p>
        </p:txBody>
      </p:sp>
      <p:sp>
        <p:nvSpPr>
          <p:cNvPr id="13" name="Text 11"/>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386B"/>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Try It Yourself</a:t>
            </a:r>
            <a:endParaRPr lang="en-US" sz="3000" dirty="0"/>
          </a:p>
        </p:txBody>
      </p:sp>
      <p:sp>
        <p:nvSpPr>
          <p:cNvPr id="3" name="Text 1"/>
          <p:cNvSpPr/>
          <p:nvPr/>
        </p:nvSpPr>
        <p:spPr>
          <a:xfrm>
            <a:off x="548640" y="1691640"/>
            <a:ext cx="502920" cy="502920"/>
          </a:xfrm>
          <a:prstGeom prst="rect">
            <a:avLst/>
          </a:prstGeom>
          <a:solidFill>
            <a:srgbClr val="02C39A"/>
          </a:solidFill>
          <a:ln/>
        </p:spPr>
        <p:txBody>
          <a:bodyPr wrap="square" lIns="0" tIns="0" rIns="0" bIns="0" rtlCol="0" anchor="ctr"/>
          <a:lstStyle/>
          <a:p>
            <a:pPr marL="0" indent="0" algn="ctr">
              <a:buNone/>
            </a:pPr>
            <a:r>
              <a:rPr lang="en-US" sz="1800" b="1" dirty="0">
                <a:solidFill>
                  <a:srgbClr val="05386B"/>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1280160" y="1691640"/>
            <a:ext cx="9875520" cy="502920"/>
          </a:xfrm>
          <a:prstGeom prst="rect">
            <a:avLst/>
          </a:prstGeom>
          <a:noFill/>
          <a:ln/>
        </p:spPr>
        <p:txBody>
          <a:bodyPr wrap="square" lIns="0" tIns="0" rIns="0" bIns="0" rtlCol="0" anchor="ctr"/>
          <a:lstStyle/>
          <a:p>
            <a:pPr marL="0" indent="0">
              <a:buNone/>
            </a:pPr>
            <a:r>
              <a:rPr lang="en-US" sz="1500" dirty="0">
                <a:solidFill>
                  <a:srgbClr val="E5F2F1"/>
                </a:solidFill>
                <a:latin typeface="Calibri" pitchFamily="34" charset="0"/>
                <a:ea typeface="Calibri" pitchFamily="34" charset="-122"/>
                <a:cs typeface="Calibri" pitchFamily="34" charset="-120"/>
              </a:rPr>
              <a:t>Get PhysioNet-credentialed access to MIMIC-III, and load it into Google BigQuery.</a:t>
            </a:r>
            <a:endParaRPr lang="en-US" sz="1500" dirty="0"/>
          </a:p>
        </p:txBody>
      </p:sp>
      <p:sp>
        <p:nvSpPr>
          <p:cNvPr id="5" name="Text 3"/>
          <p:cNvSpPr/>
          <p:nvPr/>
        </p:nvSpPr>
        <p:spPr>
          <a:xfrm>
            <a:off x="548640" y="2468880"/>
            <a:ext cx="502920" cy="502920"/>
          </a:xfrm>
          <a:prstGeom prst="rect">
            <a:avLst/>
          </a:prstGeom>
          <a:solidFill>
            <a:srgbClr val="02C39A"/>
          </a:solidFill>
          <a:ln/>
        </p:spPr>
        <p:txBody>
          <a:bodyPr wrap="square" lIns="0" tIns="0" rIns="0" bIns="0" rtlCol="0" anchor="ctr"/>
          <a:lstStyle/>
          <a:p>
            <a:pPr marL="0" indent="0" algn="ctr">
              <a:buNone/>
            </a:pPr>
            <a:r>
              <a:rPr lang="en-US" sz="1800" b="1" dirty="0">
                <a:solidFill>
                  <a:srgbClr val="05386B"/>
                </a:solidFill>
                <a:latin typeface="Cambria" pitchFamily="34" charset="0"/>
                <a:ea typeface="Cambria" pitchFamily="34" charset="-122"/>
                <a:cs typeface="Cambria" pitchFamily="34" charset="-120"/>
              </a:rPr>
              <a:t>2</a:t>
            </a:r>
            <a:endParaRPr lang="en-US" sz="1800" dirty="0"/>
          </a:p>
        </p:txBody>
      </p:sp>
      <p:sp>
        <p:nvSpPr>
          <p:cNvPr id="6" name="Text 4"/>
          <p:cNvSpPr/>
          <p:nvPr/>
        </p:nvSpPr>
        <p:spPr>
          <a:xfrm>
            <a:off x="1280160" y="2468880"/>
            <a:ext cx="9875520" cy="502920"/>
          </a:xfrm>
          <a:prstGeom prst="rect">
            <a:avLst/>
          </a:prstGeom>
          <a:noFill/>
          <a:ln/>
        </p:spPr>
        <p:txBody>
          <a:bodyPr wrap="square" lIns="0" tIns="0" rIns="0" bIns="0" rtlCol="0" anchor="ctr"/>
          <a:lstStyle/>
          <a:p>
            <a:pPr marL="0" indent="0">
              <a:buNone/>
            </a:pPr>
            <a:r>
              <a:rPr lang="en-US" sz="1500" dirty="0">
                <a:solidFill>
                  <a:srgbClr val="E5F2F1"/>
                </a:solidFill>
                <a:latin typeface="Calibri" pitchFamily="34" charset="0"/>
                <a:ea typeface="Calibri" pitchFamily="34" charset="-122"/>
                <a:cs typeface="Calibri" pitchFamily="34" charset="-120"/>
              </a:rPr>
              <a:t>Run the feature-engineering SQL query to build the admission-level dataset.</a:t>
            </a:r>
            <a:endParaRPr lang="en-US" sz="1500" dirty="0"/>
          </a:p>
        </p:txBody>
      </p:sp>
      <p:sp>
        <p:nvSpPr>
          <p:cNvPr id="7" name="Text 5"/>
          <p:cNvSpPr/>
          <p:nvPr/>
        </p:nvSpPr>
        <p:spPr>
          <a:xfrm>
            <a:off x="548640" y="3246120"/>
            <a:ext cx="502920" cy="502920"/>
          </a:xfrm>
          <a:prstGeom prst="rect">
            <a:avLst/>
          </a:prstGeom>
          <a:solidFill>
            <a:srgbClr val="02C39A"/>
          </a:solidFill>
          <a:ln/>
        </p:spPr>
        <p:txBody>
          <a:bodyPr wrap="square" lIns="0" tIns="0" rIns="0" bIns="0" rtlCol="0" anchor="ctr"/>
          <a:lstStyle/>
          <a:p>
            <a:pPr marL="0" indent="0" algn="ctr">
              <a:buNone/>
            </a:pPr>
            <a:r>
              <a:rPr lang="en-US" sz="1800" b="1" dirty="0">
                <a:solidFill>
                  <a:srgbClr val="05386B"/>
                </a:solidFill>
                <a:latin typeface="Cambria" pitchFamily="34" charset="0"/>
                <a:ea typeface="Cambria" pitchFamily="34" charset="-122"/>
                <a:cs typeface="Cambria" pitchFamily="34" charset="-120"/>
              </a:rPr>
              <a:t>3</a:t>
            </a:r>
            <a:endParaRPr lang="en-US" sz="1800" dirty="0"/>
          </a:p>
        </p:txBody>
      </p:sp>
      <p:sp>
        <p:nvSpPr>
          <p:cNvPr id="8" name="Text 6"/>
          <p:cNvSpPr/>
          <p:nvPr/>
        </p:nvSpPr>
        <p:spPr>
          <a:xfrm>
            <a:off x="1280160" y="3246120"/>
            <a:ext cx="9875520" cy="502920"/>
          </a:xfrm>
          <a:prstGeom prst="rect">
            <a:avLst/>
          </a:prstGeom>
          <a:noFill/>
          <a:ln/>
        </p:spPr>
        <p:txBody>
          <a:bodyPr wrap="square" lIns="0" tIns="0" rIns="0" bIns="0" rtlCol="0" anchor="ctr"/>
          <a:lstStyle/>
          <a:p>
            <a:pPr marL="0" indent="0">
              <a:buNone/>
            </a:pPr>
            <a:r>
              <a:rPr lang="en-US" sz="1500" dirty="0">
                <a:solidFill>
                  <a:srgbClr val="E5F2F1"/>
                </a:solidFill>
                <a:latin typeface="Calibri" pitchFamily="34" charset="0"/>
                <a:ea typeface="Calibri" pitchFamily="34" charset="-122"/>
                <a:cs typeface="Calibri" pitchFamily="34" charset="-120"/>
              </a:rPr>
              <a:t>Install scikit-learn and TensorFlow.</a:t>
            </a:r>
            <a:endParaRPr lang="en-US" sz="1500" dirty="0"/>
          </a:p>
        </p:txBody>
      </p:sp>
      <p:sp>
        <p:nvSpPr>
          <p:cNvPr id="9" name="Text 7"/>
          <p:cNvSpPr/>
          <p:nvPr/>
        </p:nvSpPr>
        <p:spPr>
          <a:xfrm>
            <a:off x="548640" y="4023360"/>
            <a:ext cx="502920" cy="502920"/>
          </a:xfrm>
          <a:prstGeom prst="rect">
            <a:avLst/>
          </a:prstGeom>
          <a:solidFill>
            <a:srgbClr val="02C39A"/>
          </a:solidFill>
          <a:ln/>
        </p:spPr>
        <p:txBody>
          <a:bodyPr wrap="square" lIns="0" tIns="0" rIns="0" bIns="0" rtlCol="0" anchor="ctr"/>
          <a:lstStyle/>
          <a:p>
            <a:pPr marL="0" indent="0" algn="ctr">
              <a:buNone/>
            </a:pPr>
            <a:r>
              <a:rPr lang="en-US" sz="1800" b="1" dirty="0">
                <a:solidFill>
                  <a:srgbClr val="05386B"/>
                </a:solidFill>
                <a:latin typeface="Cambria" pitchFamily="34" charset="0"/>
                <a:ea typeface="Cambria" pitchFamily="34" charset="-122"/>
                <a:cs typeface="Cambria" pitchFamily="34" charset="-120"/>
              </a:rPr>
              <a:t>4</a:t>
            </a:r>
            <a:endParaRPr lang="en-US" sz="1800" dirty="0"/>
          </a:p>
        </p:txBody>
      </p:sp>
      <p:sp>
        <p:nvSpPr>
          <p:cNvPr id="10" name="Text 8"/>
          <p:cNvSpPr/>
          <p:nvPr/>
        </p:nvSpPr>
        <p:spPr>
          <a:xfrm>
            <a:off x="1280160" y="4023360"/>
            <a:ext cx="9875520" cy="502920"/>
          </a:xfrm>
          <a:prstGeom prst="rect">
            <a:avLst/>
          </a:prstGeom>
          <a:noFill/>
          <a:ln/>
        </p:spPr>
        <p:txBody>
          <a:bodyPr wrap="square" lIns="0" tIns="0" rIns="0" bIns="0" rtlCol="0" anchor="ctr"/>
          <a:lstStyle/>
          <a:p>
            <a:r>
              <a:rPr lang="en-US" sz="1500">
                <a:solidFill>
                  <a:srgbClr val="E5F2F1"/>
                </a:solidFill>
                <a:latin typeface="Calibri"/>
                <a:ea typeface="Calibri"/>
                <a:cs typeface="Calibri"/>
              </a:rPr>
              <a:t>Run the notebook top to bottom -  no manual steps needed in between.</a:t>
            </a:r>
            <a:endParaRPr lang="en-US" sz="1500">
              <a:latin typeface="Calibri"/>
              <a:ea typeface="Calibri"/>
              <a:cs typeface="Calibri"/>
            </a:endParaRPr>
          </a:p>
        </p:txBody>
      </p:sp>
      <p:sp>
        <p:nvSpPr>
          <p:cNvPr id="11" name="Text 9"/>
          <p:cNvSpPr/>
          <p:nvPr/>
        </p:nvSpPr>
        <p:spPr>
          <a:xfrm>
            <a:off x="548640" y="5212080"/>
            <a:ext cx="10515600" cy="457200"/>
          </a:xfrm>
          <a:prstGeom prst="rect">
            <a:avLst/>
          </a:prstGeom>
          <a:noFill/>
          <a:ln/>
        </p:spPr>
        <p:txBody>
          <a:bodyPr wrap="square" lIns="0" tIns="0" rIns="0" bIns="0" rtlCol="0" anchor="ctr"/>
          <a:lstStyle/>
          <a:p>
            <a:r>
              <a:rPr lang="en-US" sz="1300" i="1" dirty="0">
                <a:solidFill>
                  <a:srgbClr val="8FA3C4"/>
                </a:solidFill>
                <a:ea typeface="Calibri"/>
                <a:cs typeface="Calibri"/>
              </a:rPr>
              <a:t>Full commented code, with the complete notebook, is linked in this deck's title-slide notes.</a:t>
            </a:r>
            <a:endParaRPr lang="en-US" sz="1300">
              <a:solidFill>
                <a:srgbClr val="000000"/>
              </a:solidFill>
              <a:ea typeface="Calibri"/>
              <a:cs typeface="Calibri"/>
            </a:endParaRPr>
          </a:p>
        </p:txBody>
      </p:sp>
      <p:sp>
        <p:nvSpPr>
          <p:cNvPr id="12" name="Text 10"/>
          <p:cNvSpPr/>
          <p:nvPr/>
        </p:nvSpPr>
        <p:spPr>
          <a:xfrm>
            <a:off x="10058400" y="6446520"/>
            <a:ext cx="182880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48</cp:revision>
  <dcterms:created xsi:type="dcterms:W3CDTF">2026-07-12T21:24:37Z</dcterms:created>
  <dcterms:modified xsi:type="dcterms:W3CDTF">2026-07-12T21:54:36Z</dcterms:modified>
</cp:coreProperties>
</file>