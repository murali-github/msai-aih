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8D6568-EEE4-2B56-80A5-14E1907B0D83}" v="107" dt="2026-06-23T02:37:00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4B3A3-7D54-46D3-8329-7FE5CC5033AA}" type="datetimeFigureOut"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6ED6D-B838-4582-ADD9-958BEA9BDB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59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Patterns in ICU Patients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Analysis of MIMIC-III Clinical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Clinical Database  •  HW2 SQL Tutorial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Most Readmitted Patients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49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92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Finds the 20 patients with the most hospital admissions. Groups admissions by patient and filters to those with more than one visit.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0D1B33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SELECT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COUNT(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num_admissions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FROM admissions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GROUP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HAVING COUNT(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 &gt; 1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ORDER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num_admissions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DESC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LIMIT 20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713232"/>
            <a:ext cx="4389120" cy="2788920"/>
          </a:xfrm>
          <a:prstGeom prst="roundRect">
            <a:avLst>
              <a:gd name="adj" fmla="val 2623"/>
            </a:avLst>
          </a:prstGeom>
          <a:solidFill>
            <a:srgbClr val="2C3E6B"/>
          </a:solidFill>
          <a:ln w="6350">
            <a:solidFill>
              <a:srgbClr val="C8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13232"/>
            <a:ext cx="43891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of query results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630168"/>
            <a:ext cx="4389120" cy="1216152"/>
          </a:xfrm>
          <a:prstGeom prst="roundRect">
            <a:avLst>
              <a:gd name="adj" fmla="val 6015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666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The most-admitted patient returned 42 times; the bottom of the top 20 had 14. A small group of patients accounts for a disproportionate share of hospital visits.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Clinical Database  •  HW2 SQL Tutorial</a:t>
            </a:r>
            <a:endParaRPr lang="en-US" sz="900" dirty="0"/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BF4683-CCA0-A9F6-DC12-CBCCC9C82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136" y="734785"/>
            <a:ext cx="4390500" cy="27921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Time Between Admissions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49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92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C8D6E8"/>
                </a:solidFill>
                <a:ea typeface="+mn-lt"/>
                <a:cs typeface="+mn-lt"/>
              </a:rPr>
              <a:t>Measures how many days passed between each patient's discharge and their next admission. Buckets the gaps to show whether returns happen quickly or over time.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1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0D1B33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WITH gaps AS (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DATE_DIFF(DATE(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admittime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DATE(LAG(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dischtime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 OVER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(PARTITION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 ORDER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admittime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)), DAY)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days_since_last_discharge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FROM admissions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gap_bucket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COUNT(*)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num_admissions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ROUND(COUNT(*)/SUM(COUNT(*))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OVER()*100,1) AS pct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FROM gaps g JOIN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repeat_patients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r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ON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g.subject_id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=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r.subject_id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WHERE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days_since_last_discharge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&gt;= 0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GROUP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gap_bucket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ORDER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gap_bucket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713232"/>
            <a:ext cx="4389120" cy="2788920"/>
          </a:xfrm>
          <a:prstGeom prst="roundRect">
            <a:avLst>
              <a:gd name="adj" fmla="val 2623"/>
            </a:avLst>
          </a:prstGeom>
          <a:solidFill>
            <a:srgbClr val="2C3E6B"/>
          </a:solidFill>
          <a:ln w="6350">
            <a:solidFill>
              <a:srgbClr val="C8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13232"/>
            <a:ext cx="43891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of query results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630168"/>
            <a:ext cx="4389120" cy="1216152"/>
          </a:xfrm>
          <a:prstGeom prst="roundRect">
            <a:avLst>
              <a:gd name="adj" fmla="val 6015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666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C8D6E8"/>
                </a:solidFill>
                <a:ea typeface="+mn-lt"/>
                <a:cs typeface="+mn-lt"/>
              </a:rPr>
              <a:t>27% of returns happen within 30 days — rapid bounce-backs. But the biggest group (31%) waited over a year, suggesting many readmissions reflect long-term chronic disease rather than discharge failures.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Clinical Database  •  HW2 SQL Tutorial</a:t>
            </a:r>
            <a:endParaRPr lang="en-US" sz="900" dirty="0"/>
          </a:p>
        </p:txBody>
      </p:sp>
      <p:pic>
        <p:nvPicPr>
          <p:cNvPr id="18" name="Picture 17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CF9CCF98-78AF-5775-DC25-7E40F90DE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306" y="736145"/>
            <a:ext cx="4523016" cy="27676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Rate by Admission Type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49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92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Calculates what percentage of patients in each admission category returned within 30 days of discharge.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0D1B33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WITH gaps AS (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admission_type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DATE_DIFF(DATE(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admittime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DATE(LAG(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dischtime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 OVER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(PARTITION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 ORDER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admittime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)), DAY)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days_gap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FROM admissions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admission_type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COUNT(*)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total_admissions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SUM(CASE WHEN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days_gap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&lt;=30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THEN 1 ELSE 0 END) AS readmits,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ROUND(SUM(CASE WHEN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days_gap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&lt;=30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THEN 1 ELSE 0 END)/COUNT(*)*100,1)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readmit_rate_pct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FROM gaps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GROUP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admission_type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ORDER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readmit_rate_pct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DESC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713232"/>
            <a:ext cx="4389120" cy="2788920"/>
          </a:xfrm>
          <a:prstGeom prst="roundRect">
            <a:avLst>
              <a:gd name="adj" fmla="val 2623"/>
            </a:avLst>
          </a:prstGeom>
          <a:solidFill>
            <a:srgbClr val="2C3E6B"/>
          </a:solidFill>
          <a:ln w="6350">
            <a:solidFill>
              <a:srgbClr val="C8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13232"/>
            <a:ext cx="43891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of query results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630168"/>
            <a:ext cx="4389120" cy="1216152"/>
          </a:xfrm>
          <a:prstGeom prst="roundRect">
            <a:avLst>
              <a:gd name="adj" fmla="val 6015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666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Emergency patients return at the highest rate (7.5%) — over 3x the elective rate (2.2%). Nearly 3,150 emergency patients came back within a month.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Clinical Database  •  HW2 SQL Tutorial</a:t>
            </a:r>
            <a:endParaRPr lang="en-US" sz="900" dirty="0"/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7CC34F-1B44-1D06-9DD6-E85AA44A5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30" y="754519"/>
            <a:ext cx="4678140" cy="26601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Diagnoses Driving 30-Day Readmissions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49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92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Identifies the top 10 diagnoses among patients who returned within 30 days. Joins diagnosis codes to their readable labels.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0D1B33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WITH gaps AS (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DATE_DIFF(DATE(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admittime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DATE(LAG(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dischtime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 OVER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(PARTITION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 ORDER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admittime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)), DAY)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days_gap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FROM admissions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d.short_title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COUNT(*)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readmit_count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FROM gaps g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JOIN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diagnoses_icd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dx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ON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g.hadm_id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=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dx.hadm_id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AND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dx.seq_num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= 1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JOIN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d_icd_diagnoses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d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ON dx.icd9_code = d.icd9_code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WHERE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g.days_gap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&lt;= 30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GROUP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d.short_title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ORDER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readmit_count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DESC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LIMIT 10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713232"/>
            <a:ext cx="4389120" cy="2788920"/>
          </a:xfrm>
          <a:prstGeom prst="roundRect">
            <a:avLst>
              <a:gd name="adj" fmla="val 2623"/>
            </a:avLst>
          </a:prstGeom>
          <a:solidFill>
            <a:srgbClr val="2C3E6B"/>
          </a:solidFill>
          <a:ln w="6350">
            <a:solidFill>
              <a:srgbClr val="C8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13232"/>
            <a:ext cx="43891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of query results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630168"/>
            <a:ext cx="4389120" cy="1216152"/>
          </a:xfrm>
          <a:prstGeom prst="roundRect">
            <a:avLst>
              <a:gd name="adj" fmla="val 6015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666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Sepsis, respiratory failure, and postoperative infection top the list — all conditions with chronic disease roots. These aren't one-off events; they reflect underlying conditions that weren't fully resolved at discharge.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Clinical Database  •  HW2 SQL Tutorial</a:t>
            </a:r>
            <a:endParaRPr lang="en-US" sz="900" dirty="0"/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140217-EB81-FBB4-B98A-0C9749E6D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791" y="584429"/>
            <a:ext cx="4682218" cy="2924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Breakdown: Readmitted vs Single-Admission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49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92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Compares how many male vs female patients were readmitted versus admitted only once. Uses an outer join so all patients are counted.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0D1B33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p.gender,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a.num_adm &gt;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'Readmitted'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a.num_adm =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'Single Admission'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'No Admission Record'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readmit_status,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patient_count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patients 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subject_id,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COUNT(hadm_id) AS num_adm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admissions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subject_id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 ON p.subject_id = a.subject_id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p.gender, readmit_status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p.gender, readmit_status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80560" y="713232"/>
            <a:ext cx="4389120" cy="2788920"/>
          </a:xfrm>
          <a:prstGeom prst="roundRect">
            <a:avLst>
              <a:gd name="adj" fmla="val 2623"/>
            </a:avLst>
          </a:prstGeom>
          <a:solidFill>
            <a:srgbClr val="2C3E6B"/>
          </a:solidFill>
          <a:ln w="6350">
            <a:solidFill>
              <a:srgbClr val="C8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13232"/>
            <a:ext cx="43891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of query results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630168"/>
            <a:ext cx="4389120" cy="1216152"/>
          </a:xfrm>
          <a:prstGeom prst="roundRect">
            <a:avLst>
              <a:gd name="adj" fmla="val 6015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666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C8D6E8"/>
                </a:solidFill>
                <a:ea typeface="+mn-lt"/>
                <a:cs typeface="+mn-lt"/>
              </a:rPr>
              <a:t>Male and female patients are readmitted at nearly the same rate (16.0% vs 16.4%). Gender is not a useful predictor — admission type matters far more.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000" dirty="0">
              <a:solidFill>
                <a:srgbClr val="C8D6E8"/>
              </a:solidFill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Clinical Database  •  HW2 SQL Tutorial</a:t>
            </a:r>
            <a:endParaRPr lang="en-US" sz="900" dirty="0"/>
          </a:p>
        </p:txBody>
      </p:sp>
      <p:pic>
        <p:nvPicPr>
          <p:cNvPr id="18" name="Picture 1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B2167DF-6309-60E8-EE4D-87AE1AD8E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193" y="1078367"/>
            <a:ext cx="4392386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 Repetition Frequency Within One Admission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49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92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Counts how many times the same lab test was ordered in a single admission. Groups by frequency range to show how common heavy repetition is.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0D1B33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WITH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test_counts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AS (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TRIM(UPPER(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d.label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test_name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COUNT(*)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times_tested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FROM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labevents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l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JOIN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d_labitems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d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ON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l.itemid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=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d.itemid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WHERE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IS NOT NULL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GROUP BY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test_name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SELECT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CASE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WHEN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times_tested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&gt;=100 THEN '100+'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WHEN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times_tested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&gt;=50  THEN '50-99'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WHEN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times_tested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&gt;=20  THEN '20-49'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WHEN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times_tested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&gt;=10  THEN '10-19'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ELSE '6-9'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END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repetition_bucket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COUNT(*)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num_pairs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ROUND(COUNT(*)/SUM(COUNT(*))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OVER()*100,1) AS pct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FROM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test_counts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WHERE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times_tested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&gt;5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GROUP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repetition_bucket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713232"/>
            <a:ext cx="4389120" cy="2788920"/>
          </a:xfrm>
          <a:prstGeom prst="roundRect">
            <a:avLst>
              <a:gd name="adj" fmla="val 2623"/>
            </a:avLst>
          </a:prstGeom>
          <a:solidFill>
            <a:srgbClr val="2C3E6B"/>
          </a:solidFill>
          <a:ln w="6350">
            <a:solidFill>
              <a:srgbClr val="C8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13232"/>
            <a:ext cx="43891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of query results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630168"/>
            <a:ext cx="4389120" cy="1216152"/>
          </a:xfrm>
          <a:prstGeom prst="roundRect">
            <a:avLst>
              <a:gd name="adj" fmla="val 6015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666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C8D6E8"/>
                </a:solidFill>
                <a:ea typeface="+mn-lt"/>
                <a:cs typeface="+mn-lt"/>
              </a:rPr>
              <a:t>Most repeated tests fall in the routine range (6–19 draws). However, 6,408 admission-test combinations had the same test drawn 100+ times in one stay — driven by critically ill patients needing hourly blood gas monitoring.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Clinical Database  •  HW2 SQL Tutorial</a:t>
            </a:r>
            <a:endParaRPr lang="en-US" sz="900" dirty="0"/>
          </a:p>
        </p:txBody>
      </p:sp>
      <p:pic>
        <p:nvPicPr>
          <p:cNvPr id="18" name="Picture 1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C3EEA20-7C3C-1D50-298E-4953B4AFF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33" y="1675041"/>
            <a:ext cx="4248149" cy="1815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Lab Draws by Readmission Frequency Group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49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92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Compares lifetime lab draw totals across patients grouped by how many times they were admitted. Shows whether heavier testing comes from more visits or more intensive care per visit.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0D1B33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WITH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admission_counts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AS (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SELECT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COUNT(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hadm_id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 AS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num_admissions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FROM admissions GROUP BY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),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lab_counts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AS (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SELECT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COUNT(*) AS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total_lab_draws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FROM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labevents</a:t>
            </a:r>
            <a:endParaRPr lang="en-US" sz="80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WHERE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hadm_id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IS NOT NULL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GROUP BY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SELECT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CASE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WHEN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a.num_admissions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=1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THEN 'Single Admission'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WHEN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a.num_admissions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&lt;=3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THEN '2-3 Admissions'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WHEN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a.num_admissions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&lt;=6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THEN '4-6 Admissions'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WHEN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a.num_admissions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&lt;=10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THEN '7-10 Admissions'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ELSE '10+ Admissions'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END AS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readmission_group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COUNT(*) AS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num_patients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ROUND(AVG(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l.total_lab_draws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),0)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AS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avg_total_labs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FROM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admission_counts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a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JOIN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lab_counts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l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ON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a.subject_id</a:t>
            </a: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=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l.subject_id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GROUP BY </a:t>
            </a:r>
            <a:r>
              <a:rPr lang="en-US" sz="80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readmission_group</a:t>
            </a:r>
            <a:endParaRPr lang="en-US" sz="8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713232"/>
            <a:ext cx="4389120" cy="2788920"/>
          </a:xfrm>
          <a:prstGeom prst="roundRect">
            <a:avLst>
              <a:gd name="adj" fmla="val 2623"/>
            </a:avLst>
          </a:prstGeom>
          <a:solidFill>
            <a:srgbClr val="2C3E6B"/>
          </a:solidFill>
          <a:ln w="6350">
            <a:solidFill>
              <a:srgbClr val="C8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13232"/>
            <a:ext cx="43891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of query results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630168"/>
            <a:ext cx="4389120" cy="1216152"/>
          </a:xfrm>
          <a:prstGeom prst="roundRect">
            <a:avLst>
              <a:gd name="adj" fmla="val 6015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666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Patients with 10+ admissions accumulate 14.5x more lifetime lab draws than single-admission patients. Notably, the number of labs per individual stay stays roughly the same across all groups — the extra burden comes entirely from returning more often.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Clinical Database  •  HW2 SQL Tutorial</a:t>
            </a:r>
            <a:endParaRPr lang="en-US" sz="900" dirty="0"/>
          </a:p>
        </p:txBody>
      </p:sp>
      <p:pic>
        <p:nvPicPr>
          <p:cNvPr id="18" name="Picture 17" descr="A black and white screen with numbers&#10;&#10;AI-generated content may be incorrect.">
            <a:extLst>
              <a:ext uri="{FF2B5EF4-FFF2-40B4-BE49-F238E27FC236}">
                <a16:creationId xmlns:a16="http://schemas.microsoft.com/office/drawing/2014/main" id="{847148F2-7EE0-0105-7CC1-69D380FAC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914" y="1193347"/>
            <a:ext cx="4659086" cy="18151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Abnormal Glucose: Population Distribution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49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92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Looks at patients with 10 or more glucose tests on record and calculates what percentage of those tests came back abnormal. Groups patients into ranges from 0% to 100% abnormal.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0D1B33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WITH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glucose_summary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AS (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COUNT(*)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total_draws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SUM(CASE WHEN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l.flag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='abnormal'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THEN 1 ELSE 0 END)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abnml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ROUND(SUM(CASE WHEN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l.flag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=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'abnormal' THEN 1 ELSE 0 END)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 /COUNT(*)*100,1)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abnml_pct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FROM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labevents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l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JOIN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d_labitems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d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ON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l.itemid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=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d.itemid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WHERE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d.label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LIKE '%Glucose%'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AND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IS NOT NULL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GROUP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l.subject_id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HAVING COUNT(*) &gt;= 10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SELECT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CASE WHEN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abnml_pct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=100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THEN '100% Abnormal' ... END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abnormal_bucket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COUNT(*)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patient_count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ROUND(COUNT(*)/SUM(COUNT(*))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OVER()*100,1)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pct_of_patients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FROM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glucose_summary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GROUP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abnormal_bucket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713232"/>
            <a:ext cx="4389120" cy="2788920"/>
          </a:xfrm>
          <a:prstGeom prst="roundRect">
            <a:avLst>
              <a:gd name="adj" fmla="val 2623"/>
            </a:avLst>
          </a:prstGeom>
          <a:solidFill>
            <a:srgbClr val="2C3E6B"/>
          </a:solidFill>
          <a:ln w="6350">
            <a:solidFill>
              <a:srgbClr val="C8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13232"/>
            <a:ext cx="43891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of query results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630168"/>
            <a:ext cx="4389120" cy="1216152"/>
          </a:xfrm>
          <a:prstGeom prst="roundRect">
            <a:avLst>
              <a:gd name="adj" fmla="val 6015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666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80% of frequently-tested patients had abnormal glucose results more than half the time. Only 35 patients out of 25,000+ were never abnormal. Most patients leave the hospital with glucose that still isn't under control.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Clinical Database  •  HW2 SQL Tutorial</a:t>
            </a:r>
            <a:endParaRPr lang="en-US" sz="900" dirty="0"/>
          </a:p>
        </p:txBody>
      </p:sp>
      <p:pic>
        <p:nvPicPr>
          <p:cNvPr id="18" name="Picture 17" descr="A black and white screen with numbers and text&#10;&#10;AI-generated content may be incorrect.">
            <a:extLst>
              <a:ext uri="{FF2B5EF4-FFF2-40B4-BE49-F238E27FC236}">
                <a16:creationId xmlns:a16="http://schemas.microsoft.com/office/drawing/2014/main" id="{96C391C0-8FB4-3216-E87E-1F153602B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028" y="1193346"/>
            <a:ext cx="4397829" cy="1820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Primary Diagnosis on Consecutive Admissions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49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92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Compares each patient's primary diagnosis to their previous admission's diagnosis. Flags cases where the exact same condition brought them back.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0D1B33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WITH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primary_dx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AS (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a.subject_id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a.hadm_id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a.admittime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 dx.icd9_code,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d.short_title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FROM admissions a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JOIN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diagnoses_icd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dx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ON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a.hadm_id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=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dx.hadm_id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AND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dx.seq_num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=1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JOIN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d_icd_diagnoses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d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ON dx.icd9_code=d.icd9_code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with_lag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AS (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icd9_code,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short_title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LAG(icd9_code) OVER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(PARTITION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 ORDER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admittime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AS prev_icd9_code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FROM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primary_dx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recurrence_flag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COUNT(*)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num_admissions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ROUND(COUNT(*)/SUM(COUNT(*))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OVER()*100,1) AS pct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FROM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with_lag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WHERE prev_icd9_code IS NOT NULL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GROUP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recurrence_flag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713232"/>
            <a:ext cx="4389120" cy="2788920"/>
          </a:xfrm>
          <a:prstGeom prst="roundRect">
            <a:avLst>
              <a:gd name="adj" fmla="val 2623"/>
            </a:avLst>
          </a:prstGeom>
          <a:solidFill>
            <a:srgbClr val="2C3E6B"/>
          </a:solidFill>
          <a:ln w="6350">
            <a:solidFill>
              <a:srgbClr val="C8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13232"/>
            <a:ext cx="43891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of query results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630168"/>
            <a:ext cx="4389120" cy="1216152"/>
          </a:xfrm>
          <a:prstGeom prst="roundRect">
            <a:avLst>
              <a:gd name="adj" fmla="val 6015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666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13% of readmissions — 1,566 cases — returned with the identical primary diagnosis. These are patients whose core condition wasn't resolved between visits, representing the most directly preventable category of readmissions.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Clinical Database  •  HW2 SQL Tutorial</a:t>
            </a:r>
            <a:endParaRPr lang="en-US" sz="900" dirty="0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BC434F5-D8F4-CCD0-1AFD-B8C7E4B6E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152" y="1588634"/>
            <a:ext cx="4385583" cy="8667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High-Utilizer Overlap: Frequent Readmissions + Heavy Lab Testing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069080" cy="960120"/>
          </a:xfrm>
          <a:prstGeom prst="roundRect">
            <a:avLst>
              <a:gd name="adj" fmla="val 7619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49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692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Finds patients who appear in both the frequent-readmission group and the heavy lab-testing group. Ranks them by a combined score of admissions and lab draws.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0D1B33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05740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WITH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frequent_readmitters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AS (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COUNT(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num_admissions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FROM admissions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GROUP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HAVING COUNT(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 &gt; 2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frequent_testers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AS (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COUNT(*)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num_lab_draws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FROM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labevents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WHERE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hadm_id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IS NOT NULL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GROUP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subject_id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HAVING COUNT(*) &gt; 200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SELECT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r.subject_id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r.num_admissions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t.num_lab_draws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RANK() OVER (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ORDER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r.num_admissions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DESC,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t.num_lab_draws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DESC)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AS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utilizer_rank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FROM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frequent_readmitters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r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JOIN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frequent_testers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t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 ON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r.subject_id</a:t>
            </a: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 =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t.subject_id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ORDER BY </a:t>
            </a:r>
            <a:r>
              <a:rPr lang="en-US" sz="850" dirty="0" err="1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utilizer_rank</a:t>
            </a:r>
            <a:endParaRPr lang="en-US" sz="850" err="1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ourier New"/>
                <a:ea typeface="Courier New" pitchFamily="34" charset="-122"/>
                <a:cs typeface="Courier New"/>
              </a:rPr>
              <a:t>LIMIT 20</a:t>
            </a:r>
            <a:endParaRPr lang="en-US" sz="8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713232"/>
            <a:ext cx="4389120" cy="2788920"/>
          </a:xfrm>
          <a:prstGeom prst="roundRect">
            <a:avLst>
              <a:gd name="adj" fmla="val 2623"/>
            </a:avLst>
          </a:prstGeom>
          <a:solidFill>
            <a:srgbClr val="2C3E6B"/>
          </a:solidFill>
          <a:ln w="6350">
            <a:solidFill>
              <a:srgbClr val="C8D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13232"/>
            <a:ext cx="438912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of query results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630168"/>
            <a:ext cx="4389120" cy="1216152"/>
          </a:xfrm>
          <a:prstGeom prst="roundRect">
            <a:avLst>
              <a:gd name="adj" fmla="val 6015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666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The highest-burden patients show up in both lists. Patient 13033 had 42 admissions and 7,872 lab draws — the clearest example of a high-utilizer whose repeated returns drove compounding resource consumption across their entire hospital history.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Clinical Database  •  HW2 SQL Tutorial</a:t>
            </a:r>
            <a:endParaRPr lang="en-US" sz="900" dirty="0"/>
          </a:p>
        </p:txBody>
      </p:sp>
      <p:pic>
        <p:nvPicPr>
          <p:cNvPr id="18" name="Picture 17" descr="A screenshot of a black background with numbers&#10;&#10;AI-generated content may be incorrect.">
            <a:extLst>
              <a:ext uri="{FF2B5EF4-FFF2-40B4-BE49-F238E27FC236}">
                <a16:creationId xmlns:a16="http://schemas.microsoft.com/office/drawing/2014/main" id="{D2979A6B-BF7B-0D05-5E95-63D9FCBBF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731" y="664029"/>
            <a:ext cx="4497866" cy="32221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Patterns in ICU Patients: A Cohesive 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627632" cy="1737360"/>
          </a:xfrm>
          <a:prstGeom prst="roundRect">
            <a:avLst>
              <a:gd name="adj" fmla="val 4494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91440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914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" y="131673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comes back?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" y="173736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patients: up to 42 admissions each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84248" y="804672"/>
            <a:ext cx="1627632" cy="1737360"/>
          </a:xfrm>
          <a:prstGeom prst="roundRect">
            <a:avLst>
              <a:gd name="adj" fmla="val 4494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1176" y="91440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914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131673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173736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return within 30 days; 31% after 1+ year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39896" y="804672"/>
            <a:ext cx="1627632" cy="1737360"/>
          </a:xfrm>
          <a:prstGeom prst="roundRect">
            <a:avLst>
              <a:gd name="adj" fmla="val 4494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6824" y="91440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6824" y="914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13048" y="131673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pathway?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13048" y="173736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Emergency: 7.5% 30-day rate vs Elective: 2.2%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95544" y="804672"/>
            <a:ext cx="1627632" cy="1737360"/>
          </a:xfrm>
          <a:prstGeom prst="roundRect">
            <a:avLst>
              <a:gd name="adj" fmla="val 4494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62472" y="91440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62472" y="914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68696" y="131673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68696" y="173736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Sepsis, resp failure &amp; postop infection lead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51192" y="804672"/>
            <a:ext cx="1627632" cy="1737360"/>
          </a:xfrm>
          <a:prstGeom prst="roundRect">
            <a:avLst>
              <a:gd name="adj" fmla="val 4494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18120" y="91440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914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24344" y="131673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24344" y="173736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neutral: M 16.0% vs F 16.4%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770632"/>
            <a:ext cx="1627632" cy="1737360"/>
          </a:xfrm>
          <a:prstGeom prst="roundRect">
            <a:avLst>
              <a:gd name="adj" fmla="val 4494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" y="288036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" y="28803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1752" y="328269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burden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1752" y="370332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 of test pairs: 100+ draws in one stay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84248" y="2770632"/>
            <a:ext cx="1627632" cy="1737360"/>
          </a:xfrm>
          <a:prstGeom prst="roundRect">
            <a:avLst>
              <a:gd name="adj" fmla="val 4494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51176" y="288036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51176" y="28803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57400" y="328269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labs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57400" y="370332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admissions → 14.5x more lifetime labs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39896" y="2770632"/>
            <a:ext cx="1627632" cy="1737360"/>
          </a:xfrm>
          <a:prstGeom prst="roundRect">
            <a:avLst>
              <a:gd name="adj" fmla="val 4494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06824" y="288036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06824" y="28803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13048" y="328269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Unresolved?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13048" y="370332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patients: glucose abnormal &gt;50% of draws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95544" y="2770632"/>
            <a:ext cx="1627632" cy="1737360"/>
          </a:xfrm>
          <a:prstGeom prst="roundRect">
            <a:avLst>
              <a:gd name="adj" fmla="val 4494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62472" y="288036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62472" y="28803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68696" y="328269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problem?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68696" y="370332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return with identical primary diagnosis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51192" y="2770632"/>
            <a:ext cx="1627632" cy="1737360"/>
          </a:xfrm>
          <a:prstGeom prst="roundRect">
            <a:avLst>
              <a:gd name="adj" fmla="val 4494"/>
            </a:avLst>
          </a:prstGeom>
          <a:solidFill>
            <a:srgbClr val="2C3E6B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18120" y="288036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18120" y="28803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24344" y="3282696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highest risk?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24344" y="370332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most admissions + most lab draws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subset of patients with chronic, poorly-controlled conditions cycles repeatedly through emergency admissions — and the data to identify them proactively exists in the EHR.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MIMIC-III SQL Tutorial: Readmission Patterns in ICU Patients</dc:title>
  <dc:subject>PptxGenJS Presentation</dc:subject>
  <dc:creator>PptxGenJS</dc:creator>
  <cp:lastModifiedBy>PptxGenJS</cp:lastModifiedBy>
  <cp:revision>109</cp:revision>
  <dcterms:created xsi:type="dcterms:W3CDTF">2026-06-23T01:50:01Z</dcterms:created>
  <dcterms:modified xsi:type="dcterms:W3CDTF">2026-06-23T02:42:34Z</dcterms:modified>
</cp:coreProperties>
</file>