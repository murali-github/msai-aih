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5FE6E-0956-F8B4-8CE9-F080109693D6}" v="234" dt="2026-06-21T13:29:03.068"/>
    <p1510:client id="{B605131B-4CA7-92EE-EF24-32B32EFF59C1}" v="351" dt="2026-06-21T13:07:53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22846-5207-4F74-BAC2-F8AF4332418A}" type="datetimeFigureOut"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678EA-7ECF-4C5A-9659-4F98E45B3DC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86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82CD7-F3D0-3492-E6CF-985E19A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3243DD-A95B-A964-75E9-BE9DF375D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AD232F-E705-1317-03A7-9374C50B0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7762B5-8A5A-B1A2-FDA9-DCE0856BB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0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MIMIC-III Visualization Assignment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Real-World ICU Data Through Python Visualization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b="1" dirty="0">
              <a:solidFill>
                <a:srgbClr val="CADCFC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395T — AI for Healthcare  |  Summer 2026  |  Dr. Ying Ding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MIMIC-III, and Why Use 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1295C"/>
                </a:solidFill>
                <a:ea typeface="Calibri"/>
                <a:cs typeface="Calibri"/>
              </a:rPr>
              <a:t>The Problem It Solves</a:t>
            </a:r>
            <a:endParaRPr lang="en-US" sz="160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Hospital data was difficult for researchers to access and share.</a:t>
            </a:r>
            <a:endParaRPr lang="en-US"/>
          </a:p>
          <a:p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2801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What Makes It Different</a:t>
            </a:r>
            <a:endParaRPr lang="en-US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1E293B"/>
                </a:solidFill>
                <a:ea typeface="Calibri" panose="020F0502020204030204"/>
                <a:cs typeface="Calibri" panose="020F0502020204030204"/>
              </a:rPr>
              <a:t>Contains de-identified data from 40,000+ ICU patients. </a:t>
            </a:r>
          </a:p>
          <a:p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28016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Course Uses 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Lets us work with real hospital data instead of sample datasets.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2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Source: Johnson et al. (2016), MIMIC-III Clinical Database; PhysioNet.org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C2C94-1301-9C2E-0712-3EAE2399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AEE0D27-3C94-4A39-718D-B7E32F403772}"/>
              </a:ext>
            </a:extLst>
          </p:cNvPr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1295C"/>
                </a:solidFill>
                <a:latin typeface="Cambria"/>
                <a:ea typeface="Cambria"/>
                <a:cs typeface="Cambria" pitchFamily="34" charset="-120"/>
              </a:rPr>
              <a:t>How the MIMIC-III Schema Is Structured</a:t>
            </a:r>
            <a:endParaRPr lang="en-US" sz="3000">
              <a:solidFill>
                <a:srgbClr val="000000"/>
              </a:solidFill>
              <a:latin typeface="Cambria"/>
              <a:ea typeface="Cambria"/>
              <a:cs typeface="Cambria" pitchFamily="34" charset="-12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F7044A4-2600-5259-644D-64D015BC7535}"/>
              </a:ext>
            </a:extLst>
          </p:cNvPr>
          <p:cNvSpPr/>
          <p:nvPr/>
        </p:nvSpPr>
        <p:spPr>
          <a:xfrm>
            <a:off x="127535" y="1430554"/>
            <a:ext cx="3987265" cy="4330166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969AC3-8E16-B288-7EAA-2102D54C2770}"/>
              </a:ext>
            </a:extLst>
          </p:cNvPr>
          <p:cNvSpPr/>
          <p:nvPr/>
        </p:nvSpPr>
        <p:spPr>
          <a:xfrm>
            <a:off x="82296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1E293B"/>
                </a:solidFill>
                <a:ea typeface="Calibri"/>
                <a:cs typeface="Calibri"/>
              </a:rPr>
              <a:t>Key IDs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38CF8B4-143F-EB8C-E976-7DE75349BC81}"/>
              </a:ext>
            </a:extLst>
          </p:cNvPr>
          <p:cNvSpPr/>
          <p:nvPr/>
        </p:nvSpPr>
        <p:spPr>
          <a:xfrm>
            <a:off x="82296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50" b="1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SUBJECT_ID</a:t>
            </a: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 = Patient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HADM_ID</a:t>
            </a: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 = Hospital admission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latin typeface="Consolas"/>
                <a:ea typeface="+mn-lt"/>
                <a:cs typeface="+mn-lt"/>
              </a:rPr>
              <a:t>ICUSTAY_ID</a:t>
            </a: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 = ICU stay</a:t>
            </a:r>
            <a:endParaRPr lang="en-US"/>
          </a:p>
          <a:p>
            <a:endParaRPr lang="en-US" sz="1250" dirty="0">
              <a:solidFill>
                <a:srgbClr val="1E293B"/>
              </a:solidFill>
              <a:ea typeface="Calibri"/>
              <a:cs typeface="Calibri"/>
            </a:endParaRPr>
          </a:p>
          <a:p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250" dirty="0">
              <a:solidFill>
                <a:srgbClr val="1E293B"/>
              </a:solidFill>
              <a:ea typeface="+mn-lt"/>
              <a:cs typeface="+mn-lt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6399754-D070-88E7-45BF-6237367F30BA}"/>
              </a:ext>
            </a:extLst>
          </p:cNvPr>
          <p:cNvSpPr/>
          <p:nvPr/>
        </p:nvSpPr>
        <p:spPr>
          <a:xfrm>
            <a:off x="4257575" y="1420528"/>
            <a:ext cx="3566160" cy="4340192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7D64F8-178B-1259-DEDC-CE54F2B41883}"/>
              </a:ext>
            </a:extLst>
          </p:cNvPr>
          <p:cNvSpPr/>
          <p:nvPr/>
        </p:nvSpPr>
        <p:spPr>
          <a:xfrm>
            <a:off x="457200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</a:t>
            </a:r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6C9ACC4-B0BB-BF99-9228-2FE379584C31}"/>
              </a:ext>
            </a:extLst>
          </p:cNvPr>
          <p:cNvSpPr/>
          <p:nvPr/>
        </p:nvSpPr>
        <p:spPr>
          <a:xfrm>
            <a:off x="457200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Prescriptions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Patients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Lab Events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Microbiology Events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250">
                <a:solidFill>
                  <a:srgbClr val="1E293B"/>
                </a:solidFill>
                <a:ea typeface="+mn-lt"/>
                <a:cs typeface="+mn-lt"/>
              </a:rPr>
              <a:t>ICU Stays &amp; Admissions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69DD3FC-5CCE-6606-A6EA-EAACDFB6FE0D}"/>
              </a:ext>
            </a:extLst>
          </p:cNvPr>
          <p:cNvSpPr/>
          <p:nvPr/>
        </p:nvSpPr>
        <p:spPr>
          <a:xfrm>
            <a:off x="832104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21295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8E3503B-CD96-5995-7B38-3496EB808404}"/>
              </a:ext>
            </a:extLst>
          </p:cNvPr>
          <p:cNvSpPr/>
          <p:nvPr/>
        </p:nvSpPr>
        <p:spPr>
          <a:xfrm>
            <a:off x="8321040" y="2880360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25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61A9F6B-0818-EE95-F5EC-68A1C2904A9C}"/>
              </a:ext>
            </a:extLst>
          </p:cNvPr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Source: Johnson et al. (2016), MIMIC-III Clinical Database; PhysioNet.org</a:t>
            </a:r>
            <a:endParaRPr lang="en-US" sz="10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B9998F21-1B7C-0CAB-B159-7FCAB61AAB4B}"/>
              </a:ext>
            </a:extLst>
          </p:cNvPr>
          <p:cNvSpPr/>
          <p:nvPr/>
        </p:nvSpPr>
        <p:spPr>
          <a:xfrm>
            <a:off x="7957285" y="1420528"/>
            <a:ext cx="3566160" cy="4340192"/>
          </a:xfrm>
          <a:prstGeom prst="roundRect">
            <a:avLst>
              <a:gd name="adj" fmla="val 2051"/>
            </a:avLst>
          </a:prstGeom>
          <a:solidFill>
            <a:srgbClr val="EFF4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68F7B-9854-8004-3036-12F141AECACE}"/>
              </a:ext>
            </a:extLst>
          </p:cNvPr>
          <p:cNvSpPr txBox="1"/>
          <p:nvPr/>
        </p:nvSpPr>
        <p:spPr>
          <a:xfrm>
            <a:off x="7940842" y="2997868"/>
            <a:ext cx="3398922" cy="7540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50" b="0" i="0" u="none" strike="noStrike" baseline="0">
                <a:solidFill>
                  <a:srgbClr val="1E293B"/>
                </a:solidFill>
                <a:latin typeface="Calibri"/>
                <a:ea typeface="Arial"/>
                <a:cs typeface="Arial"/>
              </a:rPr>
              <a:t>D_ tables describe medical codes </a:t>
            </a:r>
            <a:r>
              <a:rPr lang="en-US" sz="1250">
                <a:solidFill>
                  <a:srgbClr val="1E293B"/>
                </a:solidFill>
                <a:latin typeface="Calibri"/>
                <a:ea typeface="Arial"/>
                <a:cs typeface="Arial"/>
              </a:rPr>
              <a:t>and measurements</a:t>
            </a:r>
            <a:r>
              <a:rPr lang="en-US" sz="1250" b="0" i="0" u="none" strike="noStrike" baseline="0">
                <a:solidFill>
                  <a:srgbClr val="1E293B"/>
                </a:solidFill>
                <a:latin typeface="Calibri"/>
                <a:ea typeface="Arial"/>
                <a:cs typeface="Arial"/>
              </a:rPr>
              <a:t>. </a:t>
            </a:r>
            <a:endParaRPr lang="en-US"/>
          </a:p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BBCB9-406C-39A8-CBC4-6BEB612BCC5D}"/>
              </a:ext>
            </a:extLst>
          </p:cNvPr>
          <p:cNvSpPr txBox="1"/>
          <p:nvPr/>
        </p:nvSpPr>
        <p:spPr>
          <a:xfrm>
            <a:off x="7960895" y="2386263"/>
            <a:ext cx="1884948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21295C"/>
                </a:solidFill>
                <a:latin typeface="Calibri"/>
              </a:rPr>
              <a:t>Dictionary Tables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85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Most Prescribed Medications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08586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Finds the 10 most frequently prescribed medications.</a:t>
            </a:r>
            <a:endParaRPr lang="en-US" sz="140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 it matters clinically: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1E293B"/>
                </a:solidFill>
                <a:ea typeface="+mn-lt"/>
                <a:cs typeface="+mn-lt"/>
              </a:rPr>
              <a:t>Shows the treatments most commonly used in the ICU.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Real-world use: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Helps hospitals monitor medication usage. </a:t>
            </a:r>
            <a:endParaRPr lang="en-US" sz="140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How to create</a:t>
            </a:r>
            <a:r>
              <a:rPr lang="en-US" sz="14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: </a:t>
            </a:r>
            <a:endParaRPr lang="en-US" sz="1400" b="1" dirty="0">
              <a:solidFill>
                <a:srgbClr val="1E293B"/>
              </a:solidFill>
              <a:ea typeface="Calibri"/>
              <a:cs typeface="Calibri"/>
            </a:endParaRPr>
          </a:p>
          <a:p>
            <a:endParaRPr lang="en-US" sz="1400" b="1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Query the </a:t>
            </a:r>
            <a:r>
              <a:rPr lang="en-US" sz="14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prescriptions</a:t>
            </a: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 table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Count prescriptions by drug name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Sort by count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Plot top 10 medications as a bar chart</a:t>
            </a:r>
            <a:endParaRPr lang="en-US" sz="1400"/>
          </a:p>
          <a:p>
            <a:endParaRPr lang="en-US" sz="1300" b="1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25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5743297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FF4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77337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10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prescriptions  - </a:t>
            </a:r>
            <a:r>
              <a:rPr lang="en-US" sz="1100" b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Bar chart</a:t>
            </a:r>
            <a:endParaRPr lang="en-US" sz="1100" b="1">
              <a:ea typeface="Calibri"/>
              <a:cs typeface="Calibri"/>
            </a:endParaRPr>
          </a:p>
        </p:txBody>
      </p:sp>
      <p:pic>
        <p:nvPicPr>
          <p:cNvPr id="9" name="Image 0" descr="/home/claude/real_charts/viz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120" y="1829880"/>
            <a:ext cx="6185033" cy="36526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Medications: Prescriptions by Gender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452396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Compares prescriptions for the top medications by gender.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 it matters clinically: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Shows whether treatment patterns differ between groups.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Real-world use: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Used to check for possible healthcare disparities.</a:t>
            </a:r>
            <a:endParaRPr lang="en-US" sz="1400" dirty="0">
              <a:solidFill>
                <a:srgbClr val="1E293B"/>
              </a:solidFill>
              <a:ea typeface="+mn-lt"/>
              <a:cs typeface="+mn-lt"/>
            </a:endParaRP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400" b="1">
                <a:solidFill>
                  <a:srgbClr val="1E293B"/>
                </a:solidFill>
                <a:ea typeface="+mn-lt"/>
                <a:cs typeface="+mn-lt"/>
              </a:rPr>
              <a:t>How to create: </a:t>
            </a:r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Join </a:t>
            </a:r>
            <a:r>
              <a:rPr lang="en-US" sz="140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prescriptions</a:t>
            </a: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 and </a:t>
            </a:r>
            <a:r>
              <a:rPr lang="en-US" sz="1400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patients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Select top 5 medications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Group by medication and gender </a:t>
            </a: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Create grouped bar chart</a:t>
            </a:r>
          </a:p>
          <a:p>
            <a:endParaRPr lang="en-US" sz="1400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endParaRPr lang="en-US" sz="1400" dirty="0">
              <a:solidFill>
                <a:srgbClr val="1E293B"/>
              </a:solidFill>
              <a:ea typeface="+mn-lt"/>
              <a:cs typeface="+mn-lt"/>
            </a:endParaRP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1E293B"/>
              </a:solidFill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5502412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FF4F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63745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100" b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prescriptions, patients - </a:t>
            </a:r>
            <a:r>
              <a:rPr lang="en-US" sz="1300" b="1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grouped bar chart</a:t>
            </a:r>
            <a:endParaRPr lang="en-US" sz="13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100" b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96519" y="1825728"/>
            <a:ext cx="5306327" cy="4071122"/>
          </a:xfrm>
          <a:prstGeom prst="roundRect">
            <a:avLst>
              <a:gd name="adj" fmla="val 18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home/claude/real_charts/viz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141" y="2100337"/>
            <a:ext cx="5512635" cy="35066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Creatinine Levels by Patient Outcome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778669"/>
            <a:ext cx="4184985" cy="36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Compares creatinine levels for survivors and non-survivors. </a:t>
            </a:r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 it matters clinically: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Creatinine is an important measure of kidney function.</a:t>
            </a:r>
            <a:endParaRPr lang="en-US" sz="1400" dirty="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Finding: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Creatinine levels were similar in both groups in this sample.</a:t>
            </a:r>
            <a:endParaRPr lang="en-US" sz="1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400" dirty="0">
              <a:ea typeface="Calibri" panose="020F0502020204030204"/>
              <a:cs typeface="Calibri" panose="020F0502020204030204"/>
            </a:endParaRPr>
          </a:p>
          <a:p>
            <a:r>
              <a:rPr lang="en-US" sz="1400" b="1">
                <a:solidFill>
                  <a:srgbClr val="1E293B"/>
                </a:solidFill>
                <a:ea typeface="Calibri"/>
                <a:cs typeface="Calibri"/>
              </a:rPr>
              <a:t>How to create: </a:t>
            </a: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Join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labevents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admissions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d_labitems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Filter for creatinine values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Group by patient outcome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Create box plot</a:t>
            </a:r>
            <a:endParaRPr lang="en-US" sz="1400">
              <a:ea typeface="Calibri"/>
              <a:cs typeface="Calibri"/>
            </a:endParaRPr>
          </a:p>
          <a:p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8166" y="5917933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FF4F8"/>
          </a:solidFill>
          <a:ln/>
        </p:spPr>
      </p:sp>
      <p:sp>
        <p:nvSpPr>
          <p:cNvPr id="7" name="Text 5"/>
          <p:cNvSpPr/>
          <p:nvPr/>
        </p:nvSpPr>
        <p:spPr>
          <a:xfrm>
            <a:off x="551046" y="5917933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10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labevents</a:t>
            </a:r>
            <a:r>
              <a:rPr lang="en-US" sz="110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admissions, </a:t>
            </a:r>
            <a:r>
              <a:rPr lang="en-US" sz="110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d_labitems</a:t>
            </a:r>
            <a:r>
              <a:rPr lang="en-US" sz="110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–</a:t>
            </a:r>
            <a:r>
              <a:rPr lang="en-US" sz="1100" b="1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Box plot</a:t>
            </a:r>
            <a:endParaRPr lang="en-US" sz="1100" b="1" i="1"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192831" y="1320506"/>
            <a:ext cx="5246168" cy="4082233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home/claude/real_charts/viz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621" y="1317296"/>
            <a:ext cx="6265243" cy="41889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4 — BONUS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Organisms Cultured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736432" cy="399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Finds the 15 most common organisms in culture results. </a:t>
            </a:r>
            <a:endParaRPr lang="en-US" sz="1400">
              <a:ea typeface="+mn-lt"/>
              <a:cs typeface="+mn-lt"/>
            </a:endParaRPr>
          </a:p>
          <a:p>
            <a:endParaRPr lang="en-US" sz="140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 it matters clinically: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Shows the infections most often seen in ICU patients.</a:t>
            </a:r>
            <a:endParaRPr lang="en-US" sz="140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Real-world use: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endParaRPr lang="en-US" sz="1400" dirty="0">
              <a:solidFill>
                <a:srgbClr val="1E293B"/>
              </a:solidFill>
              <a:ea typeface="+mn-lt"/>
              <a:cs typeface="+mn-lt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Helps guide early antibiotic treatment. </a:t>
            </a:r>
            <a:endParaRPr lang="en-US" sz="1400" dirty="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FontTx/>
              <a:buNone/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How to create: </a:t>
            </a:r>
            <a:endParaRPr lang="en-US" sz="1400" b="1">
              <a:solidFill>
                <a:srgbClr val="1E293B"/>
              </a:solidFill>
              <a:ea typeface="+mn-lt"/>
              <a:cs typeface="+mn-lt"/>
            </a:endParaRP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Query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+mn-lt"/>
                <a:cs typeface="+mn-lt"/>
              </a:rPr>
              <a:t>microbiologyevents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Count organism occurrences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Select top 15 organisms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Create 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</a:rPr>
              <a:t>treemap</a:t>
            </a:r>
            <a:endParaRPr lang="en-US" sz="1400">
              <a:ea typeface="Calibri"/>
              <a:cs typeface="Calibri"/>
            </a:endParaRPr>
          </a:p>
          <a:p>
            <a:endParaRPr lang="en-US" sz="1400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7692" y="597809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FF4F8"/>
          </a:solidFill>
          <a:ln/>
        </p:spPr>
      </p:sp>
      <p:sp>
        <p:nvSpPr>
          <p:cNvPr id="7" name="Text 5"/>
          <p:cNvSpPr/>
          <p:nvPr/>
        </p:nvSpPr>
        <p:spPr>
          <a:xfrm>
            <a:off x="370572" y="6108433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10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microbiologyevents</a:t>
            </a:r>
            <a:r>
              <a:rPr lang="en-US" sz="110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- </a:t>
            </a:r>
            <a:r>
              <a:rPr lang="en-US" sz="1300" b="1" i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treemap</a:t>
            </a:r>
            <a:r>
              <a:rPr lang="en-US" sz="1300" b="1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 (</a:t>
            </a:r>
            <a:r>
              <a:rPr lang="en-US" sz="1300" b="1" i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Plotly</a:t>
            </a:r>
            <a:r>
              <a:rPr lang="en-US" sz="1300" b="1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bonus library)</a:t>
            </a:r>
            <a:endParaRPr lang="en-US" sz="1300" b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100" b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1803" y="1832169"/>
            <a:ext cx="5867801" cy="3099013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home/claude/real_charts/viz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963" y="1969329"/>
            <a:ext cx="6415638" cy="283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ICU Length of Stay vs. Patient Age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4746458" cy="321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buFont typeface="Arial"/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Compares patient age with ICU length of stay.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Important MIMIC quirk: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Ages were filtered to remove MIMIC de-identification artifacts.</a:t>
            </a:r>
            <a:endParaRPr lang="en-US" sz="1400">
              <a:ea typeface="+mn-lt"/>
              <a:cs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Finding: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Age showed only a weak relationship with ICU stay length. </a:t>
            </a:r>
            <a:endParaRPr lang="en-US" sz="1400">
              <a:solidFill>
                <a:srgbClr val="1E293B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1E293B"/>
                </a:solidFill>
                <a:ea typeface="Calibri"/>
                <a:cs typeface="Calibri"/>
              </a:rPr>
              <a:t>How to create: </a:t>
            </a:r>
          </a:p>
          <a:p>
            <a:endParaRPr lang="en-US" sz="1400" b="1" dirty="0">
              <a:solidFill>
                <a:srgbClr val="1E293B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Join </a:t>
            </a:r>
            <a:r>
              <a:rPr lang="en-US" sz="14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icustays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admissions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, and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patients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Calculate patient age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Filter out extreme values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Create scatter plot with trendline</a:t>
            </a:r>
            <a:endParaRPr lang="en-US" sz="1400">
              <a:ea typeface="Calibri"/>
              <a:cs typeface="Calibri"/>
            </a:endParaRPr>
          </a:p>
          <a:p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8166" y="5396564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FF4F8"/>
          </a:solidFill>
          <a:ln/>
        </p:spPr>
      </p:sp>
      <p:sp>
        <p:nvSpPr>
          <p:cNvPr id="7" name="Text 5"/>
          <p:cNvSpPr/>
          <p:nvPr/>
        </p:nvSpPr>
        <p:spPr>
          <a:xfrm>
            <a:off x="551046" y="539656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10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icustays</a:t>
            </a:r>
            <a:r>
              <a:rPr lang="en-US" sz="110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admissions, patients - </a:t>
            </a:r>
            <a:r>
              <a:rPr lang="en-US" sz="1300" b="1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scatter + trendline</a:t>
            </a:r>
            <a:endParaRPr lang="en-US" sz="1100" b="1"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694145" y="1430795"/>
            <a:ext cx="4754880" cy="3621024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0" descr="/home/claude/real_charts/viz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937" y="1567955"/>
            <a:ext cx="448056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Creatinine vs. Age, Colored by Outcome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i="1" dirty="0">
              <a:solidFill>
                <a:srgbClr val="475569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667512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real_charts/viz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92808"/>
            <a:ext cx="6400800" cy="4123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0" y="1828800"/>
            <a:ext cx="416052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the query does: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Combines age, creatinine level, and patient outcome. 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Why it matters clinically: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Explores whether age and kidney function relate to mortality. </a:t>
            </a:r>
            <a:endParaRPr lang="en-US" sz="1400">
              <a:ea typeface="+mn-lt"/>
              <a:cs typeface="+mn-lt"/>
            </a:endParaRPr>
          </a:p>
          <a:p>
            <a:pPr marL="0" indent="0">
              <a:lnSpc>
                <a:spcPct val="114999"/>
              </a:lnSpc>
              <a:buNone/>
            </a:pPr>
            <a:endParaRPr lang="en-US" sz="1400" dirty="0">
              <a:solidFill>
                <a:srgbClr val="1E293B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How to read it: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Two separate trendlines, one per outcome. Overlapping lines mean creatinine isn't separating outcomes in this sample.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400"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Finding: </a:t>
            </a:r>
            <a:endParaRPr lang="en-US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solidFill>
                  <a:srgbClr val="1E293B"/>
                </a:solidFill>
                <a:ea typeface="+mn-lt"/>
                <a:cs typeface="+mn-lt"/>
              </a:rPr>
              <a:t>The trendlines are very similar for both groups. </a:t>
            </a:r>
          </a:p>
          <a:p>
            <a:pPr marL="0" indent="0">
              <a:buNone/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  <a:p>
            <a:r>
              <a:rPr lang="en-US" sz="1400" b="1">
                <a:solidFill>
                  <a:srgbClr val="1E293B"/>
                </a:solidFill>
                <a:ea typeface="Calibri"/>
                <a:cs typeface="Calibri"/>
              </a:rPr>
              <a:t>How to create: </a:t>
            </a:r>
            <a:endParaRPr lang="en-US" sz="140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Join age, creatinine, and outcome data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Separate survivors and non-survivors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Plot scatter points </a:t>
            </a:r>
            <a:endParaRPr lang="en-US" sz="14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ea typeface="+mn-lt"/>
                <a:cs typeface="+mn-lt"/>
              </a:rPr>
              <a:t>Add trendlines for each group</a:t>
            </a:r>
            <a:endParaRPr lang="en-US" sz="1400">
              <a:ea typeface="Calibri"/>
              <a:cs typeface="Calibri"/>
            </a:endParaRPr>
          </a:p>
          <a:p>
            <a:endParaRPr lang="en-US" sz="1400" dirty="0">
              <a:solidFill>
                <a:srgbClr val="000000"/>
              </a:solidFill>
              <a:ea typeface="Calibri"/>
              <a:cs typeface="Calibri"/>
            </a:endParaRPr>
          </a:p>
          <a:p>
            <a:pPr>
              <a:lnSpc>
                <a:spcPct val="114999"/>
              </a:lnSpc>
            </a:pPr>
            <a:endParaRPr lang="en-US" sz="14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630936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EFF4F8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6309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/>
                <a:ea typeface="Calibri"/>
                <a:cs typeface="Calibri"/>
              </a:rPr>
              <a:t>Tables: </a:t>
            </a:r>
            <a:r>
              <a:rPr lang="en-US" sz="105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labevents</a:t>
            </a:r>
            <a:r>
              <a:rPr lang="en-US" sz="1050" b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admissions, patients, </a:t>
            </a:r>
            <a:r>
              <a:rPr lang="en-US" sz="1050" b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d_labitems</a:t>
            </a:r>
            <a:endParaRPr lang="en-US" sz="105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Charts to Clinical Decisions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6333" y="1215831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Medication charts help monitor drug usage.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Gender comparisons help evaluate fairness in care.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Creatinine analysis helps study risk factors.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Organism frequency helps guide antibiotic choices.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Length-of-stay analysis supports resource planning.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dirty="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</a:t>
            </a:r>
            <a:r>
              <a:rPr lang="en-US" sz="20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takeaway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These</a:t>
            </a:r>
            <a:r>
              <a:rPr lang="en-US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are the same types of analyses used to support real clinical decision-making.</a:t>
            </a:r>
            <a:endParaRPr lang="en-US">
              <a:ea typeface="Calibri"/>
              <a:cs typeface="Calibri"/>
            </a:endParaRPr>
          </a:p>
          <a:p>
            <a:endParaRPr lang="en-US" dirty="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 b="1">
                <a:solidFill>
                  <a:srgbClr val="CADCFC"/>
                </a:solidFill>
                <a:ea typeface="+mn-lt"/>
                <a:cs typeface="+mn-lt"/>
              </a:rPr>
              <a:t>How to Reproduce This Analysis</a:t>
            </a:r>
            <a:endParaRPr lang="en-US" sz="200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  <a:p>
            <a:endParaRPr lang="en-US" sz="2000" b="1" dirty="0">
              <a:solidFill>
                <a:srgbClr val="CADCFC"/>
              </a:solidFill>
              <a:ea typeface="+mn-lt"/>
              <a:cs typeface="+mn-lt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Obtain access to MIMIC-III on PhysioNet.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Load MIMIC-III into Google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BigQuery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>
                <a:solidFill>
                  <a:srgbClr val="CADCFC"/>
                </a:solidFill>
                <a:ea typeface="+mn-lt"/>
                <a:cs typeface="+mn-lt"/>
              </a:rPr>
              <a:t>Run the SQL queries provided in the notebook.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Export results to Pandas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DataFrames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.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Create visualizations using Matplotlib, Seaborn, and </a:t>
            </a:r>
            <a:r>
              <a:rPr lang="en-US" dirty="0" err="1">
                <a:solidFill>
                  <a:srgbClr val="CADCFC"/>
                </a:solidFill>
                <a:ea typeface="+mn-lt"/>
                <a:cs typeface="+mn-lt"/>
              </a:rPr>
              <a:t>Plotly</a:t>
            </a:r>
            <a:r>
              <a:rPr lang="en-US" dirty="0">
                <a:solidFill>
                  <a:srgbClr val="CADCFC"/>
                </a:solidFill>
                <a:ea typeface="+mn-lt"/>
                <a:cs typeface="+mn-lt"/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Wingdings"/>
              <a:buChar char="q"/>
            </a:pPr>
            <a:endParaRPr lang="en-US" dirty="0">
              <a:solidFill>
                <a:srgbClr val="CADCFC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37445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50" b="1" dirty="0">
              <a:solidFill>
                <a:srgbClr val="CADCFC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1350" dirty="0">
              <a:solidFill>
                <a:srgbClr val="CADCFC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97280" y="5439717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350" dirty="0">
              <a:solidFill>
                <a:srgbClr val="CADCFC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MIMIC-III Visualization Assignment</dc:title>
  <dc:subject>PptxGenJS Presentation</dc:subject>
  <dc:creator>Murali Chakravarthy</dc:creator>
  <cp:lastModifiedBy>Murali Chakravarthy</cp:lastModifiedBy>
  <cp:revision>265</cp:revision>
  <dcterms:created xsi:type="dcterms:W3CDTF">2026-06-21T03:08:21Z</dcterms:created>
  <dcterms:modified xsi:type="dcterms:W3CDTF">2026-06-21T13:29:26Z</dcterms:modified>
</cp:coreProperties>
</file>