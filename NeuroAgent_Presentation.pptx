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BC5722-0E6E-542C-0713-6C2BF600BF49}" v="64" dt="2026-08-03T00:11:50.8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F494899D-13ED-44EE-BEA1-83667A4BA683}" type="datetimeFigureOut">
              <a:t>8/2/2026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AF9996A9-E3A3-428E-85CF-0D9C517D5743}" type="slidenum">
              <a:t>‹#›</a:t>
            </a:fld>
            <a:endParaRPr lang="en-US"/>
          </a:p>
        </p:txBody>
      </p:sp>
    </p:spTree>
    <p:extLst>
      <p:ext uri="{BB962C8B-B14F-4D97-AF65-F5344CB8AC3E}">
        <p14:creationId xmlns:p14="http://schemas.microsoft.com/office/powerpoint/2010/main" val="17099782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Murali Balarama Chakaravarthy, and this is NeuroAgent, my high-risk project for AI in Healthcare. In the next few minutes I'll walk through the problem I set out to solve, how I built the system, what I found when I tested it, and where I'd take it next.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Epilepsy affects more than 50 million people worldwide. The type of seizure someone has really matters, because different types respond to different treatments. But reading an EEG to work out the type is genuinely hard, even for trained specialists. Two experienced doctors can look at the same recording and reach different conclusions. In real hospitals, doctors sometimes handle that uncertainty by asking a colleague to review a hard case with them. That's the idea I wanted to test with AI.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idea is simple: instead of one AI model giving one confident answer, ask three AI models, each playing a different clinical role, to review the same EEG data independently. One acts like a general neurologist, one like an epileptologist who specializes in hard cases, and one like a neurophysiologist focused purely on the signal itself. A fourth agent, the moderator, then compares all three opinions and explains where they agree or disagree, instead of just picking one winning answer.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data, I used the CHB-MIT Scalp EEG Database, a public dataset of pediatric epilepsy EEG recordings hosted on PhysioNet. I worked with two patient cases and four EEG files, which gave me eight 20-second windows to test with — four during a labeled seizure, and four during normal activity for contrast.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full pipeline. Raw EEG data is first turned into a short, plain-text description of its frequency patterns — because language models read text, not raw signal. That description is matched against a small reference library of what different EEG patterns typically look like. Then the three specialist agents each independently review it, and the moderator summarizes their discussion.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trusting a complex system, it's worth asking how far a much simpler method gets with the same inputs. I trained a basic logistic regression model on the same five frequency-band numbers the AI agents see, using leave-one-out cross-validation since I only had 8 windows. It got 6 out of 8 correct, 75 percent. With this few samples, that's a rough signal, not a precise number — but it gives me something real to compare the AI board against.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most interesting result. Look at one specific EEG window, one that's labeled non-seizure in the dataset. The baseline classifier got it wrong, predicting seizure. And completely independently, the epileptologist agent also leaned toward possible seizure activity at medium confidence, while the neurologist agent correctly leaned away from it. That's not a coincidence. Two very different methods, a simple statistical model and a language model reasoning in plain text, were fooled by the same thing: this window likely reflects natural sleep activity, which looks a lot like seizure activity if you only look at average frequency power. That's a real, specific finding about where the input features fall short, not just random noise.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Across all eight windows, the three specialists didn't always agree, and the moderator was able to consistently point to a specific reason: whether strong slow-wave activity should be read as sleep or as seizure activity. That's the core behavior I set out to test — surfacing real uncertainty instead of a single falsely confident answer. I want to be upfront about the limitations too: all three agents currently use models from the same company, so their independence is limited; I only have detection labels, not seizure-type labels yet; the sample size is very small; and no real clinician has reviewed any of this. [DEMO CUE: switch screen to the Colab notebook here. Fast-forward through the run, then land on the results table and the chb05_06.edf output for a few seconds before cutting back to slides.]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kept going with this, here's where I'd take it. First, use a dataset with real seizure-type labels, like Siena or TUSZ, so the system can actually tell types apart, not just detect seizures. Second, add genuine model diversity by mixing in models from more than one company. Third, add a fourth agent focused on medication choice once a type is known, grounded in real treatment guidelines. And finally, I'd rebuild the multi-agent coordination using AutoGen, a framework built specifically for this, instead of the hand-written code I used here.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NeuroAgent shows that a small team of AI specialists can surface real, explainable disagreement when reviewing EEG data, instead of hiding uncertainty behind one confident answer. And the case study I showed you, where an AI agent and a simple classical model shared the same blind spot, points to a real gap in the underlying data, not just random noise. This is a research prototype for a course project, not a medical device, and it's not a replacement for a real doctor. Thank you for watching — the notebook is included with this submission.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Text 0"/>
          <p:cNvSpPr/>
          <p:nvPr/>
        </p:nvSpPr>
        <p:spPr>
          <a:xfrm>
            <a:off x="731520" y="2103120"/>
            <a:ext cx="10698480" cy="1188720"/>
          </a:xfrm>
          <a:prstGeom prst="rect">
            <a:avLst/>
          </a:prstGeom>
          <a:noFill/>
          <a:ln/>
        </p:spPr>
        <p:txBody>
          <a:bodyPr wrap="square" lIns="0" tIns="0" rIns="0" bIns="0" rtlCol="0" anchor="ctr"/>
          <a:lstStyle/>
          <a:p>
            <a:pPr marL="0" indent="0" algn="ctr">
              <a:buNone/>
            </a:pPr>
            <a:r>
              <a:rPr lang="en-US" sz="5400" b="1" dirty="0">
                <a:solidFill>
                  <a:srgbClr val="FFFFFF"/>
                </a:solidFill>
                <a:latin typeface="Cambria" pitchFamily="34" charset="0"/>
                <a:ea typeface="Cambria" pitchFamily="34" charset="-122"/>
                <a:cs typeface="Cambria" pitchFamily="34" charset="-120"/>
              </a:rPr>
              <a:t>NeuroAgent</a:t>
            </a:r>
            <a:endParaRPr lang="en-US" sz="5400" dirty="0"/>
          </a:p>
        </p:txBody>
      </p:sp>
      <p:sp>
        <p:nvSpPr>
          <p:cNvPr id="3" name="Text 1"/>
          <p:cNvSpPr/>
          <p:nvPr/>
        </p:nvSpPr>
        <p:spPr>
          <a:xfrm>
            <a:off x="731520" y="3246120"/>
            <a:ext cx="10698480" cy="640080"/>
          </a:xfrm>
          <a:prstGeom prst="rect">
            <a:avLst/>
          </a:prstGeom>
          <a:noFill/>
          <a:ln/>
        </p:spPr>
        <p:txBody>
          <a:bodyPr wrap="square" lIns="0" tIns="0" rIns="0" bIns="0" rtlCol="0" anchor="ctr"/>
          <a:lstStyle/>
          <a:p>
            <a:pPr marL="0" indent="0" algn="ctr">
              <a:buNone/>
            </a:pPr>
            <a:r>
              <a:rPr lang="en-US" sz="2000" i="1" dirty="0">
                <a:solidFill>
                  <a:srgbClr val="CADCFC"/>
                </a:solidFill>
                <a:latin typeface="Calibri" pitchFamily="34" charset="0"/>
                <a:ea typeface="Calibri" pitchFamily="34" charset="-122"/>
                <a:cs typeface="Calibri" pitchFamily="34" charset="-120"/>
              </a:rPr>
              <a:t>A Team of AI Specialists for Reviewing Epilepsy EEG Data</a:t>
            </a:r>
            <a:endParaRPr lang="en-US" sz="2000" dirty="0"/>
          </a:p>
        </p:txBody>
      </p:sp>
      <p:sp>
        <p:nvSpPr>
          <p:cNvPr id="4" name="Text 2"/>
          <p:cNvSpPr/>
          <p:nvPr/>
        </p:nvSpPr>
        <p:spPr>
          <a:xfrm>
            <a:off x="731520" y="4480560"/>
            <a:ext cx="10698480" cy="365760"/>
          </a:xfrm>
          <a:prstGeom prst="rect">
            <a:avLst/>
          </a:prstGeom>
          <a:noFill/>
          <a:ln/>
        </p:spPr>
        <p:txBody>
          <a:bodyPr wrap="square" lIns="0" tIns="0" rIns="0" bIns="0" rtlCol="0" anchor="ctr"/>
          <a:lstStyle/>
          <a:p>
            <a:pPr marL="0" indent="0" algn="ctr">
              <a:buNone/>
            </a:pPr>
            <a:r>
              <a:rPr lang="en-US" sz="1400" dirty="0">
                <a:solidFill>
                  <a:srgbClr val="9FB3D9"/>
                </a:solidFill>
                <a:latin typeface="Calibri" pitchFamily="34" charset="0"/>
                <a:ea typeface="Calibri" pitchFamily="34" charset="-122"/>
                <a:cs typeface="Calibri" pitchFamily="34" charset="-120"/>
              </a:rPr>
              <a:t>AI in Healthcare — High-Risk Project</a:t>
            </a:r>
            <a:endParaRPr lang="en-US" sz="1400" dirty="0"/>
          </a:p>
        </p:txBody>
      </p:sp>
      <p:sp>
        <p:nvSpPr>
          <p:cNvPr id="5" name="Text 3"/>
          <p:cNvSpPr/>
          <p:nvPr/>
        </p:nvSpPr>
        <p:spPr>
          <a:xfrm>
            <a:off x="731520" y="4846320"/>
            <a:ext cx="10698480" cy="365760"/>
          </a:xfrm>
          <a:prstGeom prst="rect">
            <a:avLst/>
          </a:prstGeom>
          <a:noFill/>
          <a:ln/>
        </p:spPr>
        <p:txBody>
          <a:bodyPr wrap="square" lIns="0" tIns="0" rIns="0" bIns="0" rtlCol="0" anchor="ctr"/>
          <a:lstStyle/>
          <a:p>
            <a:pPr marL="0" indent="0" algn="ctr">
              <a:buNone/>
            </a:pPr>
            <a:r>
              <a:rPr lang="en-US" sz="1300" dirty="0">
                <a:solidFill>
                  <a:srgbClr val="9FB3D9"/>
                </a:solidFill>
                <a:latin typeface="Calibri" pitchFamily="34" charset="0"/>
                <a:ea typeface="Calibri" pitchFamily="34" charset="-122"/>
                <a:cs typeface="Calibri" pitchFamily="34" charset="-120"/>
              </a:rPr>
              <a:t>Murali Balarama Chakaravarthy  |  The University of Texas at Austin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822960"/>
          </a:xfrm>
          <a:prstGeom prst="rect">
            <a:avLst/>
          </a:prstGeom>
          <a:noFill/>
          <a:ln/>
        </p:spPr>
        <p:txBody>
          <a:bodyPr wrap="square" lIns="0" tIns="0" rIns="0" bIns="0" rtlCol="0" anchor="ctr"/>
          <a:lstStyle/>
          <a:p>
            <a:pPr marL="0" indent="0" algn="l">
              <a:buNone/>
            </a:pPr>
            <a:r>
              <a:rPr lang="en-US" sz="3200" b="1" dirty="0">
                <a:solidFill>
                  <a:srgbClr val="21295C"/>
                </a:solidFill>
                <a:latin typeface="Cambria" pitchFamily="34" charset="0"/>
                <a:ea typeface="Cambria" pitchFamily="34" charset="-122"/>
                <a:cs typeface="Cambria" pitchFamily="34" charset="-120"/>
              </a:rPr>
              <a:t>The Problem</a:t>
            </a:r>
            <a:endParaRPr lang="en-US" sz="3200" dirty="0"/>
          </a:p>
        </p:txBody>
      </p:sp>
      <p:sp>
        <p:nvSpPr>
          <p:cNvPr id="3" name="Text 1"/>
          <p:cNvSpPr/>
          <p:nvPr/>
        </p:nvSpPr>
        <p:spPr>
          <a:xfrm>
            <a:off x="548640" y="1371600"/>
            <a:ext cx="6583680" cy="1463040"/>
          </a:xfrm>
          <a:prstGeom prst="rect">
            <a:avLst/>
          </a:prstGeom>
          <a:noFill/>
          <a:ln/>
        </p:spPr>
        <p:txBody>
          <a:bodyPr wrap="square" lIns="0" tIns="0" rIns="0" bIns="0" rtlCol="0" anchor="t"/>
          <a:lstStyle/>
          <a:p>
            <a:pPr marL="0" indent="0" algn="l">
              <a:buNone/>
            </a:pPr>
            <a:r>
              <a:rPr lang="en-US" sz="1800" dirty="0">
                <a:solidFill>
                  <a:srgbClr val="1A1A1A"/>
                </a:solidFill>
                <a:latin typeface="Calibri" pitchFamily="34" charset="0"/>
                <a:ea typeface="Calibri" pitchFamily="34" charset="-122"/>
                <a:cs typeface="Calibri" pitchFamily="34" charset="-120"/>
              </a:rPr>
              <a:t>Reading an EEG to figure out a patient's seizure type is hard, even for trained specialists. Two doctors can look at the same recording and disagree.</a:t>
            </a:r>
            <a:endParaRPr lang="en-US" sz="1800" dirty="0"/>
          </a:p>
        </p:txBody>
      </p:sp>
      <p:sp>
        <p:nvSpPr>
          <p:cNvPr id="4" name="Text 2"/>
          <p:cNvSpPr/>
          <p:nvPr/>
        </p:nvSpPr>
        <p:spPr>
          <a:xfrm>
            <a:off x="548640" y="2834640"/>
            <a:ext cx="6583680" cy="1463040"/>
          </a:xfrm>
          <a:prstGeom prst="rect">
            <a:avLst/>
          </a:prstGeom>
          <a:noFill/>
          <a:ln/>
        </p:spPr>
        <p:txBody>
          <a:bodyPr wrap="square" lIns="0" tIns="0" rIns="0" bIns="0" rtlCol="0" anchor="t"/>
          <a:lstStyle/>
          <a:p>
            <a:pPr marL="0" indent="0" algn="l">
              <a:buNone/>
            </a:pPr>
            <a:r>
              <a:rPr lang="en-US" sz="1800" dirty="0">
                <a:solidFill>
                  <a:srgbClr val="1A1A1A"/>
                </a:solidFill>
                <a:latin typeface="Calibri" pitchFamily="34" charset="0"/>
                <a:ea typeface="Calibri" pitchFamily="34" charset="-122"/>
                <a:cs typeface="Calibri" pitchFamily="34" charset="-120"/>
              </a:rPr>
              <a:t>Seizure type matters because it changes what treatment works. Getting it wrong, or staying uncertain too long, has a real cost for patients.</a:t>
            </a:r>
            <a:endParaRPr lang="en-US" sz="1800" dirty="0"/>
          </a:p>
        </p:txBody>
      </p:sp>
      <p:sp>
        <p:nvSpPr>
          <p:cNvPr id="5" name="Shape 3"/>
          <p:cNvSpPr/>
          <p:nvPr/>
        </p:nvSpPr>
        <p:spPr>
          <a:xfrm>
            <a:off x="7863840" y="1554480"/>
            <a:ext cx="2377440" cy="2377440"/>
          </a:xfrm>
          <a:prstGeom prst="ellipse">
            <a:avLst/>
          </a:prstGeom>
          <a:solidFill>
            <a:srgbClr val="065A82"/>
          </a:solidFill>
          <a:ln/>
        </p:spPr>
      </p:sp>
      <p:sp>
        <p:nvSpPr>
          <p:cNvPr id="6" name="Text 4"/>
          <p:cNvSpPr/>
          <p:nvPr/>
        </p:nvSpPr>
        <p:spPr>
          <a:xfrm>
            <a:off x="7863840" y="1887322"/>
            <a:ext cx="2377440" cy="118872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50M+</a:t>
            </a:r>
            <a:endParaRPr lang="en-US" sz="3000" dirty="0"/>
          </a:p>
        </p:txBody>
      </p:sp>
      <p:sp>
        <p:nvSpPr>
          <p:cNvPr id="7" name="Text 5"/>
          <p:cNvSpPr/>
          <p:nvPr/>
        </p:nvSpPr>
        <p:spPr>
          <a:xfrm>
            <a:off x="7589520" y="3028493"/>
            <a:ext cx="2926080" cy="457200"/>
          </a:xfrm>
          <a:prstGeom prst="rect">
            <a:avLst/>
          </a:prstGeom>
          <a:noFill/>
          <a:ln/>
        </p:spPr>
        <p:txBody>
          <a:bodyPr wrap="square" lIns="0" tIns="0" rIns="0" bIns="0" rtlCol="0" anchor="t"/>
          <a:lstStyle/>
          <a:p>
            <a:pPr marL="0" indent="0" algn="ctr">
              <a:buNone/>
            </a:pPr>
            <a:r>
              <a:rPr lang="en-US" sz="1100" dirty="0">
                <a:solidFill>
                  <a:srgbClr val="1A1A1A"/>
                </a:solidFill>
                <a:latin typeface="Calibri" pitchFamily="34" charset="0"/>
                <a:ea typeface="Calibri" pitchFamily="34" charset="-122"/>
                <a:cs typeface="Calibri" pitchFamily="34" charset="-120"/>
              </a:rPr>
              <a:t>people affected by epilepsy worldwide</a:t>
            </a:r>
            <a:endParaRPr lang="en-US" sz="1100" dirty="0"/>
          </a:p>
        </p:txBody>
      </p:sp>
      <p:sp>
        <p:nvSpPr>
          <p:cNvPr id="8" name="Shape 6"/>
          <p:cNvSpPr/>
          <p:nvPr/>
        </p:nvSpPr>
        <p:spPr>
          <a:xfrm>
            <a:off x="548640" y="4663440"/>
            <a:ext cx="11064240" cy="1188720"/>
          </a:xfrm>
          <a:prstGeom prst="roundRect">
            <a:avLst>
              <a:gd name="adj" fmla="val 6154"/>
            </a:avLst>
          </a:prstGeom>
          <a:solidFill>
            <a:srgbClr val="EAF2F8"/>
          </a:solidFill>
          <a:ln/>
        </p:spPr>
      </p:sp>
      <p:sp>
        <p:nvSpPr>
          <p:cNvPr id="9" name="Text 7"/>
          <p:cNvSpPr/>
          <p:nvPr/>
        </p:nvSpPr>
        <p:spPr>
          <a:xfrm>
            <a:off x="822960" y="4800600"/>
            <a:ext cx="10515600" cy="914400"/>
          </a:xfrm>
          <a:prstGeom prst="rect">
            <a:avLst/>
          </a:prstGeom>
          <a:noFill/>
          <a:ln/>
        </p:spPr>
        <p:txBody>
          <a:bodyPr wrap="square" lIns="0" tIns="0" rIns="0" bIns="0" rtlCol="0" anchor="ctr"/>
          <a:lstStyle/>
          <a:p>
            <a:pPr marL="0" indent="0" algn="l">
              <a:buNone/>
            </a:pPr>
            <a:r>
              <a:rPr lang="en-US" sz="1600" i="1">
                <a:solidFill>
                  <a:srgbClr val="21295C"/>
                </a:solidFill>
                <a:latin typeface="Calibri"/>
                <a:ea typeface="Calibri"/>
                <a:cs typeface="Calibri"/>
              </a:rPr>
              <a:t>In hospitals, doctors sometimes handle uncertain cases by asking a colleague, or a full team, to review it together. This </a:t>
            </a:r>
            <a:r>
              <a:rPr lang="en-US" sz="1600" i="1" dirty="0">
                <a:solidFill>
                  <a:srgbClr val="21295C"/>
                </a:solidFill>
                <a:latin typeface="Calibri"/>
                <a:ea typeface="Calibri"/>
                <a:cs typeface="Calibri"/>
              </a:rPr>
              <a:t>project asks: can a small team of AI models do something similar?</a:t>
            </a:r>
            <a:endParaRPr lang="en-US" sz="1600" dirty="0">
              <a:latin typeface="Calibri"/>
              <a:ea typeface="Calibri"/>
              <a:cs typeface="Calibri"/>
            </a:endParaRPr>
          </a:p>
        </p:txBody>
      </p:sp>
      <p:sp>
        <p:nvSpPr>
          <p:cNvPr id="10" name="Text 8"/>
          <p:cNvSpPr/>
          <p:nvPr/>
        </p:nvSpPr>
        <p:spPr>
          <a:xfrm>
            <a:off x="11521440" y="6446520"/>
            <a:ext cx="457200" cy="320040"/>
          </a:xfrm>
          <a:prstGeom prst="rect">
            <a:avLst/>
          </a:prstGeom>
          <a:noFill/>
          <a:ln/>
        </p:spPr>
        <p:txBody>
          <a:bodyPr wrap="square" lIns="0" tIns="0" rIns="0" bIns="0" rtlCol="0" anchor="ctr"/>
          <a:lstStyle/>
          <a:p>
            <a:pPr marL="0" indent="0" algn="r">
              <a:buNone/>
            </a:pPr>
            <a:r>
              <a:rPr lang="en-US" sz="1000" dirty="0">
                <a:solidFill>
                  <a:srgbClr val="5A6B7A"/>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822960"/>
          </a:xfrm>
          <a:prstGeom prst="rect">
            <a:avLst/>
          </a:prstGeom>
          <a:noFill/>
          <a:ln/>
        </p:spPr>
        <p:txBody>
          <a:bodyPr wrap="square" lIns="0" tIns="0" rIns="0" bIns="0" rtlCol="0" anchor="ctr"/>
          <a:lstStyle/>
          <a:p>
            <a:pPr marL="0" indent="0" algn="l">
              <a:buNone/>
            </a:pPr>
            <a:r>
              <a:rPr lang="en-US" sz="3200" b="1" dirty="0">
                <a:solidFill>
                  <a:srgbClr val="21295C"/>
                </a:solidFill>
                <a:latin typeface="Cambria" pitchFamily="34" charset="0"/>
                <a:ea typeface="Cambria" pitchFamily="34" charset="-122"/>
                <a:cs typeface="Cambria" pitchFamily="34" charset="-120"/>
              </a:rPr>
              <a:t>The Idea: A Board of AI Specialists</a:t>
            </a:r>
            <a:endParaRPr lang="en-US" sz="3200" dirty="0"/>
          </a:p>
        </p:txBody>
      </p:sp>
      <p:sp>
        <p:nvSpPr>
          <p:cNvPr id="3" name="Text 1"/>
          <p:cNvSpPr/>
          <p:nvPr/>
        </p:nvSpPr>
        <p:spPr>
          <a:xfrm>
            <a:off x="548640" y="1371600"/>
            <a:ext cx="10972800" cy="914400"/>
          </a:xfrm>
          <a:prstGeom prst="rect">
            <a:avLst/>
          </a:prstGeom>
          <a:noFill/>
          <a:ln/>
        </p:spPr>
        <p:txBody>
          <a:bodyPr wrap="square" lIns="0" tIns="0" rIns="0" bIns="0" rtlCol="0" anchor="t"/>
          <a:lstStyle/>
          <a:p>
            <a:pPr marL="0" indent="0">
              <a:buNone/>
            </a:pPr>
            <a:r>
              <a:rPr lang="en-US" sz="1800" dirty="0">
                <a:solidFill>
                  <a:srgbClr val="1A1A1A"/>
                </a:solidFill>
                <a:latin typeface="Calibri" pitchFamily="34" charset="0"/>
                <a:ea typeface="Calibri" pitchFamily="34" charset="-122"/>
                <a:cs typeface="Calibri" pitchFamily="34" charset="-120"/>
              </a:rPr>
              <a:t>Instead of one AI model giving one confident answer, NeuroAgent asks three AI models, each playing a different clinical role, to review the same EEG data independently.</a:t>
            </a:r>
            <a:endParaRPr lang="en-US" sz="1800" dirty="0"/>
          </a:p>
        </p:txBody>
      </p:sp>
      <p:sp>
        <p:nvSpPr>
          <p:cNvPr id="4" name="Shape 2"/>
          <p:cNvSpPr/>
          <p:nvPr/>
        </p:nvSpPr>
        <p:spPr>
          <a:xfrm>
            <a:off x="548640" y="2651760"/>
            <a:ext cx="3474720" cy="1828800"/>
          </a:xfrm>
          <a:prstGeom prst="roundRect">
            <a:avLst>
              <a:gd name="adj" fmla="val 5000"/>
            </a:avLst>
          </a:prstGeom>
          <a:solidFill>
            <a:srgbClr val="F7FAFC"/>
          </a:solidFill>
          <a:ln w="19050">
            <a:solidFill>
              <a:srgbClr val="065A82"/>
            </a:solidFill>
            <a:prstDash val="solid"/>
          </a:ln>
        </p:spPr>
      </p:sp>
      <p:sp>
        <p:nvSpPr>
          <p:cNvPr id="5" name="Text 3"/>
          <p:cNvSpPr/>
          <p:nvPr/>
        </p:nvSpPr>
        <p:spPr>
          <a:xfrm>
            <a:off x="731520" y="2834640"/>
            <a:ext cx="3108960" cy="457200"/>
          </a:xfrm>
          <a:prstGeom prst="rect">
            <a:avLst/>
          </a:prstGeom>
          <a:noFill/>
          <a:ln/>
        </p:spPr>
        <p:txBody>
          <a:bodyPr wrap="square" lIns="0" tIns="0" rIns="0" bIns="0" rtlCol="0" anchor="ctr"/>
          <a:lstStyle/>
          <a:p>
            <a:pPr marL="0" indent="0">
              <a:buNone/>
            </a:pPr>
            <a:r>
              <a:rPr lang="en-US" sz="1800" b="1" dirty="0">
                <a:solidFill>
                  <a:srgbClr val="065A82"/>
                </a:solidFill>
                <a:latin typeface="Cambria" pitchFamily="34" charset="0"/>
                <a:ea typeface="Cambria" pitchFamily="34" charset="-122"/>
                <a:cs typeface="Cambria" pitchFamily="34" charset="-120"/>
              </a:rPr>
              <a:t>Neurologist</a:t>
            </a:r>
            <a:endParaRPr lang="en-US" sz="1800" dirty="0"/>
          </a:p>
        </p:txBody>
      </p:sp>
      <p:sp>
        <p:nvSpPr>
          <p:cNvPr id="6" name="Text 4"/>
          <p:cNvSpPr/>
          <p:nvPr/>
        </p:nvSpPr>
        <p:spPr>
          <a:xfrm>
            <a:off x="731520" y="3337560"/>
            <a:ext cx="3108960" cy="1005840"/>
          </a:xfrm>
          <a:prstGeom prst="rect">
            <a:avLst/>
          </a:prstGeom>
          <a:noFill/>
          <a:ln/>
        </p:spPr>
        <p:txBody>
          <a:bodyPr wrap="square" lIns="0" tIns="0" rIns="0" bIns="0" rtlCol="0" anchor="t"/>
          <a:lstStyle/>
          <a:p>
            <a:pPr marL="0" indent="0">
              <a:buNone/>
            </a:pPr>
            <a:r>
              <a:rPr lang="en-US" sz="1300" dirty="0">
                <a:solidFill>
                  <a:srgbClr val="1A1A1A"/>
                </a:solidFill>
                <a:latin typeface="Calibri" pitchFamily="34" charset="0"/>
                <a:ea typeface="Calibri" pitchFamily="34" charset="-122"/>
                <a:cs typeface="Calibri" pitchFamily="34" charset="-120"/>
              </a:rPr>
              <a:t>General seizure differential</a:t>
            </a:r>
            <a:endParaRPr lang="en-US" sz="1300" dirty="0"/>
          </a:p>
        </p:txBody>
      </p:sp>
      <p:sp>
        <p:nvSpPr>
          <p:cNvPr id="7" name="Shape 5"/>
          <p:cNvSpPr/>
          <p:nvPr/>
        </p:nvSpPr>
        <p:spPr>
          <a:xfrm>
            <a:off x="4297680" y="2651760"/>
            <a:ext cx="3474720" cy="1828800"/>
          </a:xfrm>
          <a:prstGeom prst="roundRect">
            <a:avLst>
              <a:gd name="adj" fmla="val 5000"/>
            </a:avLst>
          </a:prstGeom>
          <a:solidFill>
            <a:srgbClr val="F7FAFC"/>
          </a:solidFill>
          <a:ln w="19050">
            <a:solidFill>
              <a:srgbClr val="1C7293"/>
            </a:solidFill>
            <a:prstDash val="solid"/>
          </a:ln>
        </p:spPr>
      </p:sp>
      <p:sp>
        <p:nvSpPr>
          <p:cNvPr id="8" name="Text 6"/>
          <p:cNvSpPr/>
          <p:nvPr/>
        </p:nvSpPr>
        <p:spPr>
          <a:xfrm>
            <a:off x="4480560" y="2834640"/>
            <a:ext cx="3108960" cy="457200"/>
          </a:xfrm>
          <a:prstGeom prst="rect">
            <a:avLst/>
          </a:prstGeom>
          <a:noFill/>
          <a:ln/>
        </p:spPr>
        <p:txBody>
          <a:bodyPr wrap="square" lIns="0" tIns="0" rIns="0" bIns="0" rtlCol="0" anchor="ctr"/>
          <a:lstStyle/>
          <a:p>
            <a:pPr marL="0" indent="0">
              <a:buNone/>
            </a:pPr>
            <a:r>
              <a:rPr lang="en-US" sz="1800" b="1" dirty="0">
                <a:solidFill>
                  <a:srgbClr val="1C7293"/>
                </a:solidFill>
                <a:latin typeface="Cambria" pitchFamily="34" charset="0"/>
                <a:ea typeface="Cambria" pitchFamily="34" charset="-122"/>
                <a:cs typeface="Cambria" pitchFamily="34" charset="-120"/>
              </a:rPr>
              <a:t>Epileptologist</a:t>
            </a:r>
            <a:endParaRPr lang="en-US" sz="1800" dirty="0"/>
          </a:p>
        </p:txBody>
      </p:sp>
      <p:sp>
        <p:nvSpPr>
          <p:cNvPr id="9" name="Text 7"/>
          <p:cNvSpPr/>
          <p:nvPr/>
        </p:nvSpPr>
        <p:spPr>
          <a:xfrm>
            <a:off x="4480560" y="3337560"/>
            <a:ext cx="3108960" cy="1005840"/>
          </a:xfrm>
          <a:prstGeom prst="rect">
            <a:avLst/>
          </a:prstGeom>
          <a:noFill/>
          <a:ln/>
        </p:spPr>
        <p:txBody>
          <a:bodyPr wrap="square" lIns="0" tIns="0" rIns="0" bIns="0" rtlCol="0" anchor="t"/>
          <a:lstStyle/>
          <a:p>
            <a:pPr marL="0" indent="0">
              <a:buNone/>
            </a:pPr>
            <a:r>
              <a:rPr lang="en-US" sz="1300" dirty="0">
                <a:solidFill>
                  <a:srgbClr val="1A1A1A"/>
                </a:solidFill>
                <a:latin typeface="Calibri" pitchFamily="34" charset="0"/>
                <a:ea typeface="Calibri" pitchFamily="34" charset="-122"/>
                <a:cs typeface="Calibri" pitchFamily="34" charset="-120"/>
              </a:rPr>
              <a:t>Deeper reasoning on hard, ambiguous cases</a:t>
            </a:r>
            <a:endParaRPr lang="en-US" sz="1300" dirty="0"/>
          </a:p>
        </p:txBody>
      </p:sp>
      <p:sp>
        <p:nvSpPr>
          <p:cNvPr id="10" name="Shape 8"/>
          <p:cNvSpPr/>
          <p:nvPr/>
        </p:nvSpPr>
        <p:spPr>
          <a:xfrm>
            <a:off x="8046720" y="2651760"/>
            <a:ext cx="3474720" cy="1828800"/>
          </a:xfrm>
          <a:prstGeom prst="roundRect">
            <a:avLst>
              <a:gd name="adj" fmla="val 5000"/>
            </a:avLst>
          </a:prstGeom>
          <a:solidFill>
            <a:srgbClr val="F7FAFC"/>
          </a:solidFill>
          <a:ln w="19050">
            <a:solidFill>
              <a:srgbClr val="02C39A"/>
            </a:solidFill>
            <a:prstDash val="solid"/>
          </a:ln>
        </p:spPr>
      </p:sp>
      <p:sp>
        <p:nvSpPr>
          <p:cNvPr id="11" name="Text 9"/>
          <p:cNvSpPr/>
          <p:nvPr/>
        </p:nvSpPr>
        <p:spPr>
          <a:xfrm>
            <a:off x="8229600" y="2834640"/>
            <a:ext cx="3108960" cy="457200"/>
          </a:xfrm>
          <a:prstGeom prst="rect">
            <a:avLst/>
          </a:prstGeom>
          <a:noFill/>
          <a:ln/>
        </p:spPr>
        <p:txBody>
          <a:bodyPr wrap="square" lIns="0" tIns="0" rIns="0" bIns="0" rtlCol="0" anchor="ctr"/>
          <a:lstStyle/>
          <a:p>
            <a:pPr marL="0" indent="0">
              <a:buNone/>
            </a:pPr>
            <a:r>
              <a:rPr lang="en-US" sz="1800" b="1" dirty="0">
                <a:solidFill>
                  <a:srgbClr val="02C39A"/>
                </a:solidFill>
                <a:latin typeface="Cambria" pitchFamily="34" charset="0"/>
                <a:ea typeface="Cambria" pitchFamily="34" charset="-122"/>
                <a:cs typeface="Cambria" pitchFamily="34" charset="-120"/>
              </a:rPr>
              <a:t>Neurophysiologist</a:t>
            </a:r>
            <a:endParaRPr lang="en-US" sz="1800" dirty="0"/>
          </a:p>
        </p:txBody>
      </p:sp>
      <p:sp>
        <p:nvSpPr>
          <p:cNvPr id="12" name="Text 10"/>
          <p:cNvSpPr/>
          <p:nvPr/>
        </p:nvSpPr>
        <p:spPr>
          <a:xfrm>
            <a:off x="8229600" y="3337560"/>
            <a:ext cx="3108960" cy="1005840"/>
          </a:xfrm>
          <a:prstGeom prst="rect">
            <a:avLst/>
          </a:prstGeom>
          <a:noFill/>
          <a:ln/>
        </p:spPr>
        <p:txBody>
          <a:bodyPr wrap="square" lIns="0" tIns="0" rIns="0" bIns="0" rtlCol="0" anchor="t"/>
          <a:lstStyle/>
          <a:p>
            <a:pPr marL="0" indent="0">
              <a:buNone/>
            </a:pPr>
            <a:r>
              <a:rPr lang="en-US" sz="1300" dirty="0">
                <a:solidFill>
                  <a:srgbClr val="1A1A1A"/>
                </a:solidFill>
                <a:latin typeface="Calibri" pitchFamily="34" charset="0"/>
                <a:ea typeface="Calibri" pitchFamily="34" charset="-122"/>
                <a:cs typeface="Calibri" pitchFamily="34" charset="-120"/>
              </a:rPr>
              <a:t>Focuses on the raw signal pattern</a:t>
            </a:r>
            <a:endParaRPr lang="en-US" sz="1300" dirty="0"/>
          </a:p>
        </p:txBody>
      </p:sp>
      <p:sp>
        <p:nvSpPr>
          <p:cNvPr id="13" name="Text 11"/>
          <p:cNvSpPr/>
          <p:nvPr/>
        </p:nvSpPr>
        <p:spPr>
          <a:xfrm>
            <a:off x="548640" y="4937760"/>
            <a:ext cx="10972800" cy="822960"/>
          </a:xfrm>
          <a:prstGeom prst="rect">
            <a:avLst/>
          </a:prstGeom>
          <a:noFill/>
          <a:ln/>
        </p:spPr>
        <p:txBody>
          <a:bodyPr wrap="square" lIns="0" tIns="0" rIns="0" bIns="0" rtlCol="0" anchor="t"/>
          <a:lstStyle/>
          <a:p>
            <a:r>
              <a:rPr lang="en-US" sz="1600" i="1">
                <a:solidFill>
                  <a:srgbClr val="21295C"/>
                </a:solidFill>
                <a:latin typeface="Calibri"/>
                <a:ea typeface="Calibri"/>
                <a:cs typeface="Calibri"/>
              </a:rPr>
              <a:t>A fourth AI agent, the moderator, compares the three opinions and explains where they agree or disagree  - instead of just picking a </a:t>
            </a:r>
            <a:r>
              <a:rPr lang="en-US" sz="1600" i="1" dirty="0">
                <a:solidFill>
                  <a:srgbClr val="21295C"/>
                </a:solidFill>
                <a:latin typeface="Calibri"/>
                <a:ea typeface="Calibri"/>
                <a:cs typeface="Calibri"/>
              </a:rPr>
              <a:t>winner.</a:t>
            </a:r>
            <a:endParaRPr lang="en-US" sz="1600" dirty="0">
              <a:latin typeface="Calibri"/>
              <a:ea typeface="Calibri"/>
              <a:cs typeface="Calibri"/>
            </a:endParaRPr>
          </a:p>
        </p:txBody>
      </p:sp>
      <p:sp>
        <p:nvSpPr>
          <p:cNvPr id="14" name="Text 12"/>
          <p:cNvSpPr/>
          <p:nvPr/>
        </p:nvSpPr>
        <p:spPr>
          <a:xfrm>
            <a:off x="11521440" y="6446520"/>
            <a:ext cx="457200" cy="320040"/>
          </a:xfrm>
          <a:prstGeom prst="rect">
            <a:avLst/>
          </a:prstGeom>
          <a:noFill/>
          <a:ln/>
        </p:spPr>
        <p:txBody>
          <a:bodyPr wrap="square" lIns="0" tIns="0" rIns="0" bIns="0" rtlCol="0" anchor="ctr"/>
          <a:lstStyle/>
          <a:p>
            <a:pPr marL="0" indent="0" algn="r">
              <a:buNone/>
            </a:pPr>
            <a:r>
              <a:rPr lang="en-US" sz="1000" dirty="0">
                <a:solidFill>
                  <a:srgbClr val="5A6B7A"/>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822960"/>
          </a:xfrm>
          <a:prstGeom prst="rect">
            <a:avLst/>
          </a:prstGeom>
          <a:noFill/>
          <a:ln/>
        </p:spPr>
        <p:txBody>
          <a:bodyPr wrap="square" lIns="0" tIns="0" rIns="0" bIns="0" rtlCol="0" anchor="ctr"/>
          <a:lstStyle/>
          <a:p>
            <a:pPr marL="0" indent="0" algn="l">
              <a:buNone/>
            </a:pPr>
            <a:r>
              <a:rPr lang="en-US" sz="3200" b="1" dirty="0">
                <a:solidFill>
                  <a:srgbClr val="21295C"/>
                </a:solidFill>
                <a:latin typeface="Cambria" pitchFamily="34" charset="0"/>
                <a:ea typeface="Cambria" pitchFamily="34" charset="-122"/>
                <a:cs typeface="Cambria" pitchFamily="34" charset="-120"/>
              </a:rPr>
              <a:t>The Data</a:t>
            </a:r>
            <a:endParaRPr lang="en-US" sz="3200" dirty="0"/>
          </a:p>
        </p:txBody>
      </p:sp>
      <p:sp>
        <p:nvSpPr>
          <p:cNvPr id="3" name="Text 1"/>
          <p:cNvSpPr/>
          <p:nvPr/>
        </p:nvSpPr>
        <p:spPr>
          <a:xfrm>
            <a:off x="548640" y="1371600"/>
            <a:ext cx="6400800" cy="1188720"/>
          </a:xfrm>
          <a:prstGeom prst="rect">
            <a:avLst/>
          </a:prstGeom>
          <a:noFill/>
          <a:ln/>
        </p:spPr>
        <p:txBody>
          <a:bodyPr wrap="square" lIns="0" tIns="0" rIns="0" bIns="0" rtlCol="0" anchor="t"/>
          <a:lstStyle/>
          <a:p>
            <a:pPr marL="0" indent="0">
              <a:buNone/>
            </a:pPr>
            <a:r>
              <a:rPr lang="en-US" sz="1800" dirty="0">
                <a:solidFill>
                  <a:srgbClr val="1A1A1A"/>
                </a:solidFill>
                <a:latin typeface="Calibri" pitchFamily="34" charset="0"/>
                <a:ea typeface="Calibri" pitchFamily="34" charset="-122"/>
                <a:cs typeface="Calibri" pitchFamily="34" charset="-120"/>
              </a:rPr>
              <a:t>This project uses the CHB-MIT Scalp EEG Database, a public dataset of EEG recordings from pediatric epilepsy patients, hosted on PhysioNet.</a:t>
            </a:r>
            <a:endParaRPr lang="en-US" sz="1800" dirty="0"/>
          </a:p>
        </p:txBody>
      </p:sp>
      <p:sp>
        <p:nvSpPr>
          <p:cNvPr id="4" name="Text 2"/>
          <p:cNvSpPr/>
          <p:nvPr/>
        </p:nvSpPr>
        <p:spPr>
          <a:xfrm>
            <a:off x="548640" y="2651760"/>
            <a:ext cx="6400800" cy="1463040"/>
          </a:xfrm>
          <a:prstGeom prst="rect">
            <a:avLst/>
          </a:prstGeom>
          <a:noFill/>
          <a:ln/>
        </p:spPr>
        <p:txBody>
          <a:bodyPr wrap="square" lIns="0" tIns="0" rIns="0" bIns="0" rtlCol="0" anchor="t"/>
          <a:lstStyle/>
          <a:p>
            <a:pPr marL="0" indent="0">
              <a:buNone/>
            </a:pPr>
            <a:r>
              <a:rPr lang="en-US" sz="1800" dirty="0">
                <a:solidFill>
                  <a:srgbClr val="1A1A1A"/>
                </a:solidFill>
                <a:latin typeface="Calibri" pitchFamily="34" charset="0"/>
                <a:ea typeface="Calibri" pitchFamily="34" charset="-122"/>
                <a:cs typeface="Calibri" pitchFamily="34" charset="-120"/>
              </a:rPr>
              <a:t>From this dataset, two patient cases and four EEG files were used, giving eight 20-second EEG windows — four during a labeled seizure, four during normal activity.</a:t>
            </a:r>
            <a:endParaRPr lang="en-US" sz="1800" dirty="0"/>
          </a:p>
        </p:txBody>
      </p:sp>
      <p:sp>
        <p:nvSpPr>
          <p:cNvPr id="5" name="Shape 3"/>
          <p:cNvSpPr/>
          <p:nvPr/>
        </p:nvSpPr>
        <p:spPr>
          <a:xfrm>
            <a:off x="7589520" y="1371600"/>
            <a:ext cx="1371600" cy="1371600"/>
          </a:xfrm>
          <a:prstGeom prst="ellipse">
            <a:avLst/>
          </a:prstGeom>
          <a:solidFill>
            <a:srgbClr val="065A82"/>
          </a:solidFill>
          <a:ln/>
        </p:spPr>
      </p:sp>
      <p:sp>
        <p:nvSpPr>
          <p:cNvPr id="6" name="Text 4"/>
          <p:cNvSpPr/>
          <p:nvPr/>
        </p:nvSpPr>
        <p:spPr>
          <a:xfrm>
            <a:off x="7589520" y="1563624"/>
            <a:ext cx="1371600" cy="68580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7" name="Text 5"/>
          <p:cNvSpPr/>
          <p:nvPr/>
        </p:nvSpPr>
        <p:spPr>
          <a:xfrm>
            <a:off x="7315200" y="2221992"/>
            <a:ext cx="1920240" cy="457200"/>
          </a:xfrm>
          <a:prstGeom prst="rect">
            <a:avLst/>
          </a:prstGeom>
          <a:noFill/>
          <a:ln/>
        </p:spPr>
        <p:txBody>
          <a:bodyPr wrap="square" lIns="0" tIns="0" rIns="0" bIns="0" rtlCol="0" anchor="t"/>
          <a:lstStyle/>
          <a:p>
            <a:pPr marL="0" indent="0" algn="ctr">
              <a:buNone/>
            </a:pPr>
            <a:r>
              <a:rPr lang="en-US" sz="1100" dirty="0">
                <a:solidFill>
                  <a:srgbClr val="1A1A1A"/>
                </a:solidFill>
                <a:latin typeface="Calibri" pitchFamily="34" charset="0"/>
                <a:ea typeface="Calibri" pitchFamily="34" charset="-122"/>
                <a:cs typeface="Calibri" pitchFamily="34" charset="-120"/>
              </a:rPr>
              <a:t>patients</a:t>
            </a:r>
            <a:endParaRPr lang="en-US" sz="1100" dirty="0"/>
          </a:p>
        </p:txBody>
      </p:sp>
      <p:sp>
        <p:nvSpPr>
          <p:cNvPr id="8" name="Shape 6"/>
          <p:cNvSpPr/>
          <p:nvPr/>
        </p:nvSpPr>
        <p:spPr>
          <a:xfrm>
            <a:off x="9235440" y="1371600"/>
            <a:ext cx="1371600" cy="1371600"/>
          </a:xfrm>
          <a:prstGeom prst="ellipse">
            <a:avLst/>
          </a:prstGeom>
          <a:solidFill>
            <a:srgbClr val="1C7293"/>
          </a:solidFill>
          <a:ln/>
        </p:spPr>
      </p:sp>
      <p:sp>
        <p:nvSpPr>
          <p:cNvPr id="9" name="Text 7"/>
          <p:cNvSpPr/>
          <p:nvPr/>
        </p:nvSpPr>
        <p:spPr>
          <a:xfrm>
            <a:off x="9235440" y="1563624"/>
            <a:ext cx="1371600" cy="68580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4</a:t>
            </a:r>
            <a:endParaRPr lang="en-US" sz="3000" dirty="0"/>
          </a:p>
        </p:txBody>
      </p:sp>
      <p:sp>
        <p:nvSpPr>
          <p:cNvPr id="10" name="Text 8"/>
          <p:cNvSpPr/>
          <p:nvPr/>
        </p:nvSpPr>
        <p:spPr>
          <a:xfrm>
            <a:off x="8961120" y="2221992"/>
            <a:ext cx="1920240" cy="457200"/>
          </a:xfrm>
          <a:prstGeom prst="rect">
            <a:avLst/>
          </a:prstGeom>
          <a:noFill/>
          <a:ln/>
        </p:spPr>
        <p:txBody>
          <a:bodyPr wrap="square" lIns="0" tIns="0" rIns="0" bIns="0" rtlCol="0" anchor="t"/>
          <a:lstStyle/>
          <a:p>
            <a:pPr marL="0" indent="0" algn="ctr">
              <a:buNone/>
            </a:pPr>
            <a:r>
              <a:rPr lang="en-US" sz="1100" dirty="0">
                <a:solidFill>
                  <a:srgbClr val="1A1A1A"/>
                </a:solidFill>
                <a:latin typeface="Calibri" pitchFamily="34" charset="0"/>
                <a:ea typeface="Calibri" pitchFamily="34" charset="-122"/>
                <a:cs typeface="Calibri" pitchFamily="34" charset="-120"/>
              </a:rPr>
              <a:t>EEG files</a:t>
            </a:r>
            <a:endParaRPr lang="en-US" sz="1100" dirty="0"/>
          </a:p>
        </p:txBody>
      </p:sp>
      <p:sp>
        <p:nvSpPr>
          <p:cNvPr id="11" name="Shape 9"/>
          <p:cNvSpPr/>
          <p:nvPr/>
        </p:nvSpPr>
        <p:spPr>
          <a:xfrm>
            <a:off x="7589520" y="3108960"/>
            <a:ext cx="1371600" cy="1371600"/>
          </a:xfrm>
          <a:prstGeom prst="ellipse">
            <a:avLst/>
          </a:prstGeom>
          <a:solidFill>
            <a:srgbClr val="02C39A"/>
          </a:solidFill>
          <a:ln/>
        </p:spPr>
      </p:sp>
      <p:sp>
        <p:nvSpPr>
          <p:cNvPr id="12" name="Text 10"/>
          <p:cNvSpPr/>
          <p:nvPr/>
        </p:nvSpPr>
        <p:spPr>
          <a:xfrm>
            <a:off x="7589520" y="3300984"/>
            <a:ext cx="1371600" cy="68580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8</a:t>
            </a:r>
            <a:endParaRPr lang="en-US" sz="3000" dirty="0"/>
          </a:p>
        </p:txBody>
      </p:sp>
      <p:sp>
        <p:nvSpPr>
          <p:cNvPr id="13" name="Text 11"/>
          <p:cNvSpPr/>
          <p:nvPr/>
        </p:nvSpPr>
        <p:spPr>
          <a:xfrm>
            <a:off x="7315200" y="3959352"/>
            <a:ext cx="1920240" cy="457200"/>
          </a:xfrm>
          <a:prstGeom prst="rect">
            <a:avLst/>
          </a:prstGeom>
          <a:noFill/>
          <a:ln/>
        </p:spPr>
        <p:txBody>
          <a:bodyPr wrap="square" lIns="0" tIns="0" rIns="0" bIns="0" rtlCol="0" anchor="t"/>
          <a:lstStyle/>
          <a:p>
            <a:pPr marL="0" indent="0" algn="ctr">
              <a:buNone/>
            </a:pPr>
            <a:r>
              <a:rPr lang="en-US" sz="1100" dirty="0">
                <a:solidFill>
                  <a:srgbClr val="1A1A1A"/>
                </a:solidFill>
                <a:latin typeface="Calibri" pitchFamily="34" charset="0"/>
                <a:ea typeface="Calibri" pitchFamily="34" charset="-122"/>
                <a:cs typeface="Calibri" pitchFamily="34" charset="-120"/>
              </a:rPr>
              <a:t>windows</a:t>
            </a:r>
            <a:endParaRPr lang="en-US" sz="1100" dirty="0"/>
          </a:p>
        </p:txBody>
      </p:sp>
      <p:sp>
        <p:nvSpPr>
          <p:cNvPr id="14" name="Shape 12"/>
          <p:cNvSpPr/>
          <p:nvPr/>
        </p:nvSpPr>
        <p:spPr>
          <a:xfrm>
            <a:off x="9235440" y="3108960"/>
            <a:ext cx="1371600" cy="1371600"/>
          </a:xfrm>
          <a:prstGeom prst="ellipse">
            <a:avLst/>
          </a:prstGeom>
          <a:solidFill>
            <a:srgbClr val="21295C"/>
          </a:solidFill>
          <a:ln/>
        </p:spPr>
      </p:sp>
      <p:sp>
        <p:nvSpPr>
          <p:cNvPr id="15" name="Text 13"/>
          <p:cNvSpPr/>
          <p:nvPr/>
        </p:nvSpPr>
        <p:spPr>
          <a:xfrm>
            <a:off x="9235440" y="3300984"/>
            <a:ext cx="1371600" cy="68580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256Hz</a:t>
            </a:r>
            <a:endParaRPr lang="en-US" sz="3000" dirty="0"/>
          </a:p>
        </p:txBody>
      </p:sp>
      <p:sp>
        <p:nvSpPr>
          <p:cNvPr id="16" name="Text 14"/>
          <p:cNvSpPr/>
          <p:nvPr/>
        </p:nvSpPr>
        <p:spPr>
          <a:xfrm>
            <a:off x="8961120" y="3959352"/>
            <a:ext cx="1920240" cy="457200"/>
          </a:xfrm>
          <a:prstGeom prst="rect">
            <a:avLst/>
          </a:prstGeom>
          <a:noFill/>
          <a:ln/>
        </p:spPr>
        <p:txBody>
          <a:bodyPr wrap="square" lIns="0" tIns="0" rIns="0" bIns="0" rtlCol="0" anchor="t"/>
          <a:lstStyle/>
          <a:p>
            <a:pPr marL="0" indent="0" algn="ctr">
              <a:buNone/>
            </a:pPr>
            <a:r>
              <a:rPr lang="en-US" sz="1100" dirty="0">
                <a:solidFill>
                  <a:srgbClr val="1A1A1A"/>
                </a:solidFill>
                <a:latin typeface="Calibri" pitchFamily="34" charset="0"/>
                <a:ea typeface="Calibri" pitchFamily="34" charset="-122"/>
                <a:cs typeface="Calibri" pitchFamily="34" charset="-120"/>
              </a:rPr>
              <a:t>sample rate</a:t>
            </a:r>
            <a:endParaRPr lang="en-US" sz="1100" dirty="0"/>
          </a:p>
        </p:txBody>
      </p:sp>
      <p:sp>
        <p:nvSpPr>
          <p:cNvPr id="17" name="Text 15"/>
          <p:cNvSpPr/>
          <p:nvPr/>
        </p:nvSpPr>
        <p:spPr>
          <a:xfrm>
            <a:off x="11521440" y="6446520"/>
            <a:ext cx="457200" cy="320040"/>
          </a:xfrm>
          <a:prstGeom prst="rect">
            <a:avLst/>
          </a:prstGeom>
          <a:noFill/>
          <a:ln/>
        </p:spPr>
        <p:txBody>
          <a:bodyPr wrap="square" lIns="0" tIns="0" rIns="0" bIns="0" rtlCol="0" anchor="ctr"/>
          <a:lstStyle/>
          <a:p>
            <a:pPr marL="0" indent="0" algn="r">
              <a:buNone/>
            </a:pPr>
            <a:r>
              <a:rPr lang="en-US" sz="1000" dirty="0">
                <a:solidFill>
                  <a:srgbClr val="5A6B7A"/>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822960"/>
          </a:xfrm>
          <a:prstGeom prst="rect">
            <a:avLst/>
          </a:prstGeom>
          <a:noFill/>
          <a:ln/>
        </p:spPr>
        <p:txBody>
          <a:bodyPr wrap="square" lIns="0" tIns="0" rIns="0" bIns="0" rtlCol="0" anchor="ctr"/>
          <a:lstStyle/>
          <a:p>
            <a:pPr marL="0" indent="0" algn="l">
              <a:buNone/>
            </a:pPr>
            <a:r>
              <a:rPr lang="en-US" sz="3200" b="1" dirty="0">
                <a:solidFill>
                  <a:srgbClr val="21295C"/>
                </a:solidFill>
                <a:latin typeface="Cambria" pitchFamily="34" charset="0"/>
                <a:ea typeface="Cambria" pitchFamily="34" charset="-122"/>
                <a:cs typeface="Cambria" pitchFamily="34" charset="-120"/>
              </a:rPr>
              <a:t>How It Works</a:t>
            </a:r>
            <a:endParaRPr lang="en-US" sz="3200" dirty="0"/>
          </a:p>
        </p:txBody>
      </p:sp>
      <p:pic>
        <p:nvPicPr>
          <p:cNvPr id="3" name="Image 0" descr="/home/claude/report_assets/figure1_workflow.png"/>
          <p:cNvPicPr>
            <a:picLocks noChangeAspect="1"/>
          </p:cNvPicPr>
          <p:nvPr/>
        </p:nvPicPr>
        <p:blipFill>
          <a:blip r:embed="rId3"/>
          <a:stretch>
            <a:fillRect/>
          </a:stretch>
        </p:blipFill>
        <p:spPr>
          <a:xfrm>
            <a:off x="3703320" y="809650"/>
            <a:ext cx="6147121" cy="5499710"/>
          </a:xfrm>
          <a:prstGeom prst="rect">
            <a:avLst/>
          </a:prstGeom>
        </p:spPr>
      </p:pic>
      <p:sp>
        <p:nvSpPr>
          <p:cNvPr id="4" name="Text 1"/>
          <p:cNvSpPr/>
          <p:nvPr/>
        </p:nvSpPr>
        <p:spPr>
          <a:xfrm>
            <a:off x="548640" y="2011680"/>
            <a:ext cx="2926080" cy="3657600"/>
          </a:xfrm>
          <a:prstGeom prst="rect">
            <a:avLst/>
          </a:prstGeom>
          <a:noFill/>
          <a:ln/>
        </p:spPr>
        <p:txBody>
          <a:bodyPr wrap="square" lIns="0" tIns="0" rIns="0" bIns="0" rtlCol="0" anchor="t"/>
          <a:lstStyle/>
          <a:p>
            <a:pPr marL="0" indent="0">
              <a:buNone/>
            </a:pPr>
            <a:r>
              <a:rPr lang="en-US" sz="1500" dirty="0">
                <a:solidFill>
                  <a:srgbClr val="1A1A1A"/>
                </a:solidFill>
                <a:latin typeface="Calibri" pitchFamily="34" charset="0"/>
                <a:ea typeface="Calibri" pitchFamily="34" charset="-122"/>
                <a:cs typeface="Calibri" pitchFamily="34" charset="-120"/>
              </a:rPr>
              <a:t>Raw EEG signal is converted into a plain-text summary of frequency patterns, matched against a small reference library, then reviewed independently by the three specialist agents before the moderator summarizes the discussion.</a:t>
            </a:r>
            <a:endParaRPr lang="en-US" sz="1500" dirty="0"/>
          </a:p>
        </p:txBody>
      </p:sp>
      <p:sp>
        <p:nvSpPr>
          <p:cNvPr id="5" name="Text 2"/>
          <p:cNvSpPr/>
          <p:nvPr/>
        </p:nvSpPr>
        <p:spPr>
          <a:xfrm>
            <a:off x="11521440" y="6446520"/>
            <a:ext cx="457200" cy="320040"/>
          </a:xfrm>
          <a:prstGeom prst="rect">
            <a:avLst/>
          </a:prstGeom>
          <a:noFill/>
          <a:ln/>
        </p:spPr>
        <p:txBody>
          <a:bodyPr wrap="square" lIns="0" tIns="0" rIns="0" bIns="0" rtlCol="0" anchor="ctr"/>
          <a:lstStyle/>
          <a:p>
            <a:pPr marL="0" indent="0" algn="r">
              <a:buNone/>
            </a:pPr>
            <a:r>
              <a:rPr lang="en-US" sz="1000" dirty="0">
                <a:solidFill>
                  <a:srgbClr val="5A6B7A"/>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822960"/>
          </a:xfrm>
          <a:prstGeom prst="rect">
            <a:avLst/>
          </a:prstGeom>
          <a:noFill/>
          <a:ln/>
        </p:spPr>
        <p:txBody>
          <a:bodyPr wrap="square" lIns="0" tIns="0" rIns="0" bIns="0" rtlCol="0" anchor="ctr"/>
          <a:lstStyle/>
          <a:p>
            <a:pPr marL="0" indent="0" algn="l">
              <a:buNone/>
            </a:pPr>
            <a:r>
              <a:rPr lang="en-US" sz="3200" b="1" dirty="0">
                <a:solidFill>
                  <a:srgbClr val="21295C"/>
                </a:solidFill>
                <a:latin typeface="Cambria" pitchFamily="34" charset="0"/>
                <a:ea typeface="Cambria" pitchFamily="34" charset="-122"/>
                <a:cs typeface="Cambria" pitchFamily="34" charset="-120"/>
              </a:rPr>
              <a:t>A Simple Comparison Point</a:t>
            </a:r>
            <a:endParaRPr lang="en-US" sz="3200" dirty="0"/>
          </a:p>
        </p:txBody>
      </p:sp>
      <p:sp>
        <p:nvSpPr>
          <p:cNvPr id="3" name="Text 1"/>
          <p:cNvSpPr/>
          <p:nvPr/>
        </p:nvSpPr>
        <p:spPr>
          <a:xfrm>
            <a:off x="548640" y="1371600"/>
            <a:ext cx="6400800" cy="1188720"/>
          </a:xfrm>
          <a:prstGeom prst="rect">
            <a:avLst/>
          </a:prstGeom>
          <a:noFill/>
          <a:ln/>
        </p:spPr>
        <p:txBody>
          <a:bodyPr wrap="square" lIns="0" tIns="0" rIns="0" bIns="0" rtlCol="0" anchor="t"/>
          <a:lstStyle/>
          <a:p>
            <a:pPr marL="0" indent="0">
              <a:buNone/>
            </a:pPr>
            <a:r>
              <a:rPr lang="en-US" sz="1800" dirty="0">
                <a:solidFill>
                  <a:srgbClr val="1A1A1A"/>
                </a:solidFill>
                <a:latin typeface="Calibri" pitchFamily="34" charset="0"/>
                <a:ea typeface="Calibri" pitchFamily="34" charset="-122"/>
                <a:cs typeface="Calibri" pitchFamily="34" charset="-120"/>
              </a:rPr>
              <a:t>Before trusting a complex multi-agent system, it's worth asking: how far can a simple classical model get using the same inputs?</a:t>
            </a:r>
            <a:endParaRPr lang="en-US" sz="1800" dirty="0"/>
          </a:p>
        </p:txBody>
      </p:sp>
      <p:sp>
        <p:nvSpPr>
          <p:cNvPr id="4" name="Text 2"/>
          <p:cNvSpPr/>
          <p:nvPr/>
        </p:nvSpPr>
        <p:spPr>
          <a:xfrm>
            <a:off x="548640" y="2651760"/>
            <a:ext cx="6400800" cy="1645920"/>
          </a:xfrm>
          <a:prstGeom prst="rect">
            <a:avLst/>
          </a:prstGeom>
          <a:noFill/>
          <a:ln/>
        </p:spPr>
        <p:txBody>
          <a:bodyPr wrap="square" lIns="0" tIns="0" rIns="0" bIns="0" rtlCol="0" anchor="t"/>
          <a:lstStyle/>
          <a:p>
            <a:pPr marL="0" indent="0">
              <a:buNone/>
            </a:pPr>
            <a:r>
              <a:rPr lang="en-US" sz="1800" dirty="0">
                <a:solidFill>
                  <a:srgbClr val="1A1A1A"/>
                </a:solidFill>
                <a:latin typeface="Calibri"/>
                <a:ea typeface="Calibri"/>
                <a:cs typeface="Calibri"/>
              </a:rPr>
              <a:t>A logistic regression model was trained on the same five frequency-band numbers the AI agents </a:t>
            </a:r>
            <a:r>
              <a:rPr lang="en-US" sz="1800">
                <a:solidFill>
                  <a:srgbClr val="1A1A1A"/>
                </a:solidFill>
                <a:latin typeface="Calibri"/>
                <a:ea typeface="Calibri"/>
                <a:cs typeface="Calibri"/>
              </a:rPr>
              <a:t>see.</a:t>
            </a:r>
            <a:endParaRPr lang="en-US" sz="1800">
              <a:latin typeface="Calibri"/>
              <a:ea typeface="Calibri"/>
              <a:cs typeface="Calibri"/>
            </a:endParaRPr>
          </a:p>
        </p:txBody>
      </p:sp>
      <p:sp>
        <p:nvSpPr>
          <p:cNvPr id="5" name="Shape 3"/>
          <p:cNvSpPr/>
          <p:nvPr/>
        </p:nvSpPr>
        <p:spPr>
          <a:xfrm>
            <a:off x="8046720" y="2011680"/>
            <a:ext cx="2743200" cy="2743200"/>
          </a:xfrm>
          <a:prstGeom prst="ellipse">
            <a:avLst/>
          </a:prstGeom>
          <a:solidFill>
            <a:srgbClr val="065A82"/>
          </a:solidFill>
          <a:ln/>
        </p:spPr>
      </p:sp>
      <p:sp>
        <p:nvSpPr>
          <p:cNvPr id="6" name="Text 4"/>
          <p:cNvSpPr/>
          <p:nvPr/>
        </p:nvSpPr>
        <p:spPr>
          <a:xfrm>
            <a:off x="8046720" y="2395728"/>
            <a:ext cx="2743200" cy="137160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75%</a:t>
            </a:r>
          </a:p>
          <a:p>
            <a:pPr algn="ctr"/>
            <a:r>
              <a:rPr lang="en-US" sz="3000" b="1">
                <a:solidFill>
                  <a:srgbClr val="FFFFFF"/>
                </a:solidFill>
                <a:latin typeface="Cambria"/>
                <a:ea typeface="Cambria"/>
              </a:rPr>
              <a:t>Accuracy</a:t>
            </a:r>
            <a:endParaRPr lang="en-US" sz="3000" b="1" dirty="0">
              <a:solidFill>
                <a:srgbClr val="FFFFFF"/>
              </a:solidFill>
              <a:latin typeface="Cambria"/>
              <a:ea typeface="Cambria"/>
            </a:endParaRPr>
          </a:p>
        </p:txBody>
      </p:sp>
      <p:sp>
        <p:nvSpPr>
          <p:cNvPr id="7" name="Text 5"/>
          <p:cNvSpPr/>
          <p:nvPr/>
        </p:nvSpPr>
        <p:spPr>
          <a:xfrm>
            <a:off x="7772400" y="3712464"/>
            <a:ext cx="3291840" cy="457200"/>
          </a:xfrm>
          <a:prstGeom prst="rect">
            <a:avLst/>
          </a:prstGeom>
          <a:noFill/>
          <a:ln/>
        </p:spPr>
        <p:txBody>
          <a:bodyPr wrap="square" lIns="0" tIns="0" rIns="0" bIns="0" rtlCol="0" anchor="t"/>
          <a:lstStyle/>
          <a:p>
            <a:pPr marL="0" indent="0" algn="ctr">
              <a:buNone/>
            </a:pPr>
            <a:endParaRPr lang="en-US" sz="1100" dirty="0">
              <a:solidFill>
                <a:srgbClr val="1A1A1A"/>
              </a:solidFill>
              <a:latin typeface="Calibri"/>
              <a:ea typeface="Calibri"/>
              <a:cs typeface="Calibri"/>
            </a:endParaRPr>
          </a:p>
        </p:txBody>
      </p:sp>
      <p:sp>
        <p:nvSpPr>
          <p:cNvPr id="8" name="Text 6"/>
          <p:cNvSpPr/>
          <p:nvPr/>
        </p:nvSpPr>
        <p:spPr>
          <a:xfrm>
            <a:off x="11521440" y="6446520"/>
            <a:ext cx="457200" cy="320040"/>
          </a:xfrm>
          <a:prstGeom prst="rect">
            <a:avLst/>
          </a:prstGeom>
          <a:noFill/>
          <a:ln/>
        </p:spPr>
        <p:txBody>
          <a:bodyPr wrap="square" lIns="0" tIns="0" rIns="0" bIns="0" rtlCol="0" anchor="ctr"/>
          <a:lstStyle/>
          <a:p>
            <a:pPr marL="0" indent="0" algn="r">
              <a:buNone/>
            </a:pPr>
            <a:r>
              <a:rPr lang="en-US" sz="1000" dirty="0">
                <a:solidFill>
                  <a:srgbClr val="5A6B7A"/>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EAF2F8"/>
          </a:solidFill>
          <a:ln/>
        </p:spPr>
      </p:sp>
      <p:sp>
        <p:nvSpPr>
          <p:cNvPr id="3" name="Text 1"/>
          <p:cNvSpPr/>
          <p:nvPr/>
        </p:nvSpPr>
        <p:spPr>
          <a:xfrm>
            <a:off x="548640" y="411480"/>
            <a:ext cx="11064240" cy="822960"/>
          </a:xfrm>
          <a:prstGeom prst="rect">
            <a:avLst/>
          </a:prstGeom>
          <a:noFill/>
          <a:ln/>
        </p:spPr>
        <p:txBody>
          <a:bodyPr wrap="square" lIns="0" tIns="0" rIns="0" bIns="0" rtlCol="0" anchor="ctr"/>
          <a:lstStyle/>
          <a:p>
            <a:pPr marL="0" indent="0" algn="l">
              <a:buNone/>
            </a:pPr>
            <a:r>
              <a:rPr lang="en-US" sz="3200" b="1" dirty="0">
                <a:solidFill>
                  <a:srgbClr val="21295C"/>
                </a:solidFill>
                <a:latin typeface="Cambria" pitchFamily="34" charset="0"/>
                <a:ea typeface="Cambria" pitchFamily="34" charset="-122"/>
                <a:cs typeface="Cambria" pitchFamily="34" charset="-120"/>
              </a:rPr>
              <a:t>Key Finding: A Shared Blind Spot</a:t>
            </a:r>
            <a:endParaRPr lang="en-US" sz="3200" dirty="0"/>
          </a:p>
        </p:txBody>
      </p:sp>
      <p:sp>
        <p:nvSpPr>
          <p:cNvPr id="4" name="Text 2"/>
          <p:cNvSpPr/>
          <p:nvPr/>
        </p:nvSpPr>
        <p:spPr>
          <a:xfrm>
            <a:off x="548640" y="1234440"/>
            <a:ext cx="10972800" cy="548640"/>
          </a:xfrm>
          <a:prstGeom prst="rect">
            <a:avLst/>
          </a:prstGeom>
          <a:noFill/>
          <a:ln/>
        </p:spPr>
        <p:txBody>
          <a:bodyPr wrap="square" lIns="0" tIns="0" rIns="0" bIns="0" rtlCol="0" anchor="ctr"/>
          <a:lstStyle/>
          <a:p>
            <a:pPr marL="0" indent="0">
              <a:buNone/>
            </a:pPr>
            <a:r>
              <a:rPr lang="en-US" sz="1700" i="1" dirty="0">
                <a:solidFill>
                  <a:srgbClr val="21295C"/>
                </a:solidFill>
                <a:latin typeface="Calibri" pitchFamily="34" charset="0"/>
                <a:ea typeface="Calibri" pitchFamily="34" charset="-122"/>
                <a:cs typeface="Calibri" pitchFamily="34" charset="-120"/>
              </a:rPr>
              <a:t>One EEG window was mislabeled by two very different methods — for the same likely reason.</a:t>
            </a:r>
            <a:endParaRPr lang="en-US" sz="1700" dirty="0"/>
          </a:p>
        </p:txBody>
      </p:sp>
      <p:sp>
        <p:nvSpPr>
          <p:cNvPr id="5" name="Shape 3"/>
          <p:cNvSpPr/>
          <p:nvPr/>
        </p:nvSpPr>
        <p:spPr>
          <a:xfrm>
            <a:off x="548640" y="1965960"/>
            <a:ext cx="5394960" cy="3108960"/>
          </a:xfrm>
          <a:prstGeom prst="roundRect">
            <a:avLst>
              <a:gd name="adj" fmla="val 2353"/>
            </a:avLst>
          </a:prstGeom>
          <a:solidFill>
            <a:srgbClr val="FFFFFF"/>
          </a:solidFill>
          <a:ln/>
        </p:spPr>
      </p:sp>
      <p:sp>
        <p:nvSpPr>
          <p:cNvPr id="6" name="Text 4"/>
          <p:cNvSpPr/>
          <p:nvPr/>
        </p:nvSpPr>
        <p:spPr>
          <a:xfrm>
            <a:off x="822960" y="2148840"/>
            <a:ext cx="4846320" cy="457200"/>
          </a:xfrm>
          <a:prstGeom prst="rect">
            <a:avLst/>
          </a:prstGeom>
          <a:noFill/>
          <a:ln/>
        </p:spPr>
        <p:txBody>
          <a:bodyPr wrap="square" lIns="0" tIns="0" rIns="0" bIns="0" rtlCol="0" anchor="ctr"/>
          <a:lstStyle/>
          <a:p>
            <a:pPr marL="0" indent="0">
              <a:buNone/>
            </a:pPr>
            <a:r>
              <a:rPr lang="en-US" sz="1800" b="1" dirty="0">
                <a:solidFill>
                  <a:srgbClr val="065A82"/>
                </a:solidFill>
                <a:latin typeface="Cambria" pitchFamily="34" charset="0"/>
                <a:ea typeface="Cambria" pitchFamily="34" charset="-122"/>
                <a:cs typeface="Cambria" pitchFamily="34" charset="-120"/>
              </a:rPr>
              <a:t>The Baseline Model</a:t>
            </a:r>
            <a:endParaRPr lang="en-US" sz="1800" dirty="0"/>
          </a:p>
        </p:txBody>
      </p:sp>
      <p:sp>
        <p:nvSpPr>
          <p:cNvPr id="7" name="Text 5"/>
          <p:cNvSpPr/>
          <p:nvPr/>
        </p:nvSpPr>
        <p:spPr>
          <a:xfrm>
            <a:off x="822960" y="2697480"/>
            <a:ext cx="4846320" cy="1280160"/>
          </a:xfrm>
          <a:prstGeom prst="rect">
            <a:avLst/>
          </a:prstGeom>
          <a:noFill/>
          <a:ln/>
        </p:spPr>
        <p:txBody>
          <a:bodyPr wrap="square" lIns="0" tIns="0" rIns="0" bIns="0" rtlCol="0" anchor="t"/>
          <a:lstStyle/>
          <a:p>
            <a:pPr marL="0" indent="0">
              <a:buNone/>
            </a:pPr>
            <a:r>
              <a:rPr lang="en-US" sz="1500" dirty="0">
                <a:solidFill>
                  <a:srgbClr val="1A1A1A"/>
                </a:solidFill>
                <a:latin typeface="Calibri" pitchFamily="34" charset="0"/>
                <a:ea typeface="Calibri" pitchFamily="34" charset="-122"/>
                <a:cs typeface="Calibri" pitchFamily="34" charset="-120"/>
              </a:rPr>
              <a:t>On a non-seizure window, the logistic regression baseline incorrectly predicted “seizure.”</a:t>
            </a:r>
            <a:endParaRPr lang="en-US" sz="1500" dirty="0"/>
          </a:p>
        </p:txBody>
      </p:sp>
      <p:sp>
        <p:nvSpPr>
          <p:cNvPr id="8" name="Shape 6"/>
          <p:cNvSpPr/>
          <p:nvPr/>
        </p:nvSpPr>
        <p:spPr>
          <a:xfrm>
            <a:off x="6263640" y="1965960"/>
            <a:ext cx="5394960" cy="3108960"/>
          </a:xfrm>
          <a:prstGeom prst="roundRect">
            <a:avLst>
              <a:gd name="adj" fmla="val 2353"/>
            </a:avLst>
          </a:prstGeom>
          <a:solidFill>
            <a:srgbClr val="FFFFFF"/>
          </a:solidFill>
          <a:ln/>
        </p:spPr>
      </p:sp>
      <p:sp>
        <p:nvSpPr>
          <p:cNvPr id="9" name="Text 7"/>
          <p:cNvSpPr/>
          <p:nvPr/>
        </p:nvSpPr>
        <p:spPr>
          <a:xfrm>
            <a:off x="6537960" y="2148840"/>
            <a:ext cx="4846320" cy="457200"/>
          </a:xfrm>
          <a:prstGeom prst="rect">
            <a:avLst/>
          </a:prstGeom>
          <a:noFill/>
          <a:ln/>
        </p:spPr>
        <p:txBody>
          <a:bodyPr wrap="square" lIns="0" tIns="0" rIns="0" bIns="0" rtlCol="0" anchor="ctr"/>
          <a:lstStyle/>
          <a:p>
            <a:pPr marL="0" indent="0">
              <a:buNone/>
            </a:pPr>
            <a:r>
              <a:rPr lang="en-US" sz="1800" b="1" dirty="0">
                <a:solidFill>
                  <a:srgbClr val="1C7293"/>
                </a:solidFill>
                <a:latin typeface="Cambria" pitchFamily="34" charset="0"/>
                <a:ea typeface="Cambria" pitchFamily="34" charset="-122"/>
                <a:cs typeface="Cambria" pitchFamily="34" charset="-120"/>
              </a:rPr>
              <a:t>The Epileptologist Agent</a:t>
            </a:r>
            <a:endParaRPr lang="en-US" sz="1800" dirty="0"/>
          </a:p>
        </p:txBody>
      </p:sp>
      <p:sp>
        <p:nvSpPr>
          <p:cNvPr id="10" name="Text 8"/>
          <p:cNvSpPr/>
          <p:nvPr/>
        </p:nvSpPr>
        <p:spPr>
          <a:xfrm>
            <a:off x="6537960" y="2697480"/>
            <a:ext cx="4846320" cy="1554480"/>
          </a:xfrm>
          <a:prstGeom prst="rect">
            <a:avLst/>
          </a:prstGeom>
          <a:noFill/>
          <a:ln/>
        </p:spPr>
        <p:txBody>
          <a:bodyPr wrap="square" lIns="0" tIns="0" rIns="0" bIns="0" rtlCol="0" anchor="t"/>
          <a:lstStyle/>
          <a:p>
            <a:pPr marL="0" indent="0">
              <a:buNone/>
            </a:pPr>
            <a:r>
              <a:rPr lang="en-US" sz="1500" dirty="0">
                <a:solidFill>
                  <a:srgbClr val="1A1A1A"/>
                </a:solidFill>
                <a:latin typeface="Calibri" pitchFamily="34" charset="0"/>
                <a:ea typeface="Calibri" pitchFamily="34" charset="-122"/>
                <a:cs typeface="Calibri" pitchFamily="34" charset="-120"/>
              </a:rPr>
              <a:t>On the same window, the epileptologist agent independently leaned toward “possible ictal activity” at medium confidence — the same wrong direction.</a:t>
            </a:r>
            <a:endParaRPr lang="en-US" sz="1500" dirty="0"/>
          </a:p>
        </p:txBody>
      </p:sp>
      <p:sp>
        <p:nvSpPr>
          <p:cNvPr id="11" name="Text 9"/>
          <p:cNvSpPr/>
          <p:nvPr/>
        </p:nvSpPr>
        <p:spPr>
          <a:xfrm>
            <a:off x="822960" y="5349240"/>
            <a:ext cx="10515600" cy="914400"/>
          </a:xfrm>
          <a:prstGeom prst="rect">
            <a:avLst/>
          </a:prstGeom>
          <a:noFill/>
          <a:ln/>
        </p:spPr>
        <p:txBody>
          <a:bodyPr wrap="square" lIns="0" tIns="0" rIns="0" bIns="0" rtlCol="0" anchor="t"/>
          <a:lstStyle/>
          <a:p>
            <a:pPr marL="0" indent="0">
              <a:buNone/>
            </a:pPr>
            <a:r>
              <a:rPr lang="en-US" sz="1400" dirty="0">
                <a:solidFill>
                  <a:srgbClr val="5A6B7A"/>
                </a:solidFill>
                <a:latin typeface="Calibri"/>
                <a:ea typeface="Calibri"/>
                <a:cs typeface="Calibri"/>
              </a:rPr>
              <a:t>This points to a real limitation in the input features, not a random error: the window likely reflects natural sleep activity, which looks similar to seizure activity.</a:t>
            </a:r>
            <a:endParaRPr lang="en-US" sz="1400" dirty="0">
              <a:latin typeface="Calibri"/>
              <a:ea typeface="Calibri"/>
              <a:cs typeface="Calibri"/>
            </a:endParaRPr>
          </a:p>
        </p:txBody>
      </p:sp>
      <p:sp>
        <p:nvSpPr>
          <p:cNvPr id="12" name="Text 10"/>
          <p:cNvSpPr/>
          <p:nvPr/>
        </p:nvSpPr>
        <p:spPr>
          <a:xfrm>
            <a:off x="11521440" y="6446520"/>
            <a:ext cx="457200" cy="320040"/>
          </a:xfrm>
          <a:prstGeom prst="rect">
            <a:avLst/>
          </a:prstGeom>
          <a:noFill/>
          <a:ln/>
        </p:spPr>
        <p:txBody>
          <a:bodyPr wrap="square" lIns="0" tIns="0" rIns="0" bIns="0" rtlCol="0" anchor="ctr"/>
          <a:lstStyle/>
          <a:p>
            <a:pPr marL="0" indent="0" algn="r">
              <a:buNone/>
            </a:pPr>
            <a:r>
              <a:rPr lang="en-US" sz="1000" dirty="0">
                <a:solidFill>
                  <a:srgbClr val="5A6B7A"/>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822960"/>
          </a:xfrm>
          <a:prstGeom prst="rect">
            <a:avLst/>
          </a:prstGeom>
          <a:noFill/>
          <a:ln/>
        </p:spPr>
        <p:txBody>
          <a:bodyPr wrap="square" lIns="0" tIns="0" rIns="0" bIns="0" rtlCol="0" anchor="ctr"/>
          <a:lstStyle/>
          <a:p>
            <a:pPr marL="0" indent="0" algn="l">
              <a:buNone/>
            </a:pPr>
            <a:r>
              <a:rPr lang="en-US" sz="3200" b="1" dirty="0">
                <a:solidFill>
                  <a:srgbClr val="21295C"/>
                </a:solidFill>
                <a:latin typeface="Cambria" pitchFamily="34" charset="0"/>
                <a:ea typeface="Cambria" pitchFamily="34" charset="-122"/>
                <a:cs typeface="Cambria" pitchFamily="34" charset="-120"/>
              </a:rPr>
              <a:t>What This Tells Us</a:t>
            </a:r>
            <a:endParaRPr lang="en-US" sz="3200" dirty="0"/>
          </a:p>
        </p:txBody>
      </p:sp>
      <p:sp>
        <p:nvSpPr>
          <p:cNvPr id="3" name="Text 1"/>
          <p:cNvSpPr/>
          <p:nvPr/>
        </p:nvSpPr>
        <p:spPr>
          <a:xfrm>
            <a:off x="548640" y="1371600"/>
            <a:ext cx="10972800" cy="1188720"/>
          </a:xfrm>
          <a:prstGeom prst="rect">
            <a:avLst/>
          </a:prstGeom>
          <a:noFill/>
          <a:ln/>
        </p:spPr>
        <p:txBody>
          <a:bodyPr wrap="square" lIns="0" tIns="0" rIns="0" bIns="0" rtlCol="0" anchor="t"/>
          <a:lstStyle/>
          <a:p>
            <a:pPr marL="0" indent="0">
              <a:buNone/>
            </a:pPr>
            <a:r>
              <a:rPr lang="en-US" sz="1800">
                <a:solidFill>
                  <a:srgbClr val="1A1A1A"/>
                </a:solidFill>
                <a:latin typeface="Calibri"/>
                <a:ea typeface="Calibri"/>
                <a:cs typeface="Calibri"/>
              </a:rPr>
              <a:t>Across all eight windows, the three AI specialists didn't always agree </a:t>
            </a:r>
            <a:r>
              <a:rPr lang="en-US">
                <a:solidFill>
                  <a:srgbClr val="1A1A1A"/>
                </a:solidFill>
                <a:latin typeface="Calibri"/>
                <a:ea typeface="Calibri"/>
                <a:cs typeface="Calibri"/>
              </a:rPr>
              <a:t>-</a:t>
            </a:r>
            <a:r>
              <a:rPr lang="en-US" sz="1800">
                <a:solidFill>
                  <a:srgbClr val="1A1A1A"/>
                </a:solidFill>
                <a:latin typeface="Calibri"/>
                <a:ea typeface="Calibri"/>
                <a:cs typeface="Calibri"/>
              </a:rPr>
              <a:t> and the moderator consistently pointed to a </a:t>
            </a:r>
            <a:r>
              <a:rPr lang="en-US" sz="1800" dirty="0">
                <a:solidFill>
                  <a:srgbClr val="1A1A1A"/>
                </a:solidFill>
                <a:latin typeface="Calibri"/>
                <a:ea typeface="Calibri"/>
                <a:cs typeface="Calibri"/>
              </a:rPr>
              <a:t>specific, identifiable reason: whether strong slow-wave activity should be read as sleep or as seizure.</a:t>
            </a:r>
            <a:endParaRPr lang="en-US" sz="1800" dirty="0">
              <a:latin typeface="Calibri"/>
              <a:ea typeface="Calibri"/>
              <a:cs typeface="Calibri"/>
            </a:endParaRPr>
          </a:p>
        </p:txBody>
      </p:sp>
      <p:sp>
        <p:nvSpPr>
          <p:cNvPr id="4" name="Shape 2"/>
          <p:cNvSpPr/>
          <p:nvPr/>
        </p:nvSpPr>
        <p:spPr>
          <a:xfrm>
            <a:off x="914400" y="914400"/>
            <a:ext cx="914400" cy="914400"/>
          </a:xfrm>
          <a:prstGeom prst="line">
            <a:avLst/>
          </a:prstGeom>
          <a:noFill/>
          <a:ln w="12700">
            <a:solidFill>
              <a:srgbClr val="D0D8E0"/>
            </a:solidFill>
            <a:prstDash val="solid"/>
          </a:ln>
        </p:spPr>
      </p:sp>
      <p:sp>
        <p:nvSpPr>
          <p:cNvPr id="5" name="Text 3"/>
          <p:cNvSpPr/>
          <p:nvPr/>
        </p:nvSpPr>
        <p:spPr>
          <a:xfrm>
            <a:off x="548640" y="3017520"/>
            <a:ext cx="5486400" cy="457200"/>
          </a:xfrm>
          <a:prstGeom prst="rect">
            <a:avLst/>
          </a:prstGeom>
          <a:noFill/>
          <a:ln/>
        </p:spPr>
        <p:txBody>
          <a:bodyPr wrap="square" lIns="0" tIns="0" rIns="0" bIns="0" rtlCol="0" anchor="ctr"/>
          <a:lstStyle/>
          <a:p>
            <a:pPr marL="0" indent="0">
              <a:buNone/>
            </a:pPr>
            <a:r>
              <a:rPr lang="en-US" sz="1800" b="1">
                <a:solidFill>
                  <a:srgbClr val="21295C"/>
                </a:solidFill>
                <a:latin typeface="Cambria"/>
                <a:ea typeface="Cambria"/>
                <a:cs typeface="Cambria" pitchFamily="34" charset="-120"/>
              </a:rPr>
              <a:t>Limitations</a:t>
            </a:r>
            <a:endParaRPr lang="en-US" sz="1800" dirty="0">
              <a:latin typeface="Calibri" panose="020F0502020204030204"/>
              <a:ea typeface="Calibri" panose="020F0502020204030204"/>
              <a:cs typeface="Calibri" panose="020F0502020204030204"/>
            </a:endParaRPr>
          </a:p>
        </p:txBody>
      </p:sp>
      <p:sp>
        <p:nvSpPr>
          <p:cNvPr id="6" name="Text 4"/>
          <p:cNvSpPr/>
          <p:nvPr/>
        </p:nvSpPr>
        <p:spPr>
          <a:xfrm>
            <a:off x="548640" y="3611880"/>
            <a:ext cx="10972800" cy="502920"/>
          </a:xfrm>
          <a:prstGeom prst="rect">
            <a:avLst/>
          </a:prstGeom>
          <a:noFill/>
          <a:ln/>
        </p:spPr>
        <p:txBody>
          <a:bodyPr wrap="square" lIns="0" tIns="0" rIns="0" bIns="0" rtlCol="0" anchor="ctr"/>
          <a:lstStyle/>
          <a:p>
            <a:pPr marL="342900" indent="-342900">
              <a:buSzPct val="100000"/>
              <a:buChar char="•"/>
            </a:pPr>
            <a:r>
              <a:rPr lang="en-US" sz="1500" dirty="0">
                <a:solidFill>
                  <a:srgbClr val="1A1A1A"/>
                </a:solidFill>
                <a:latin typeface="Calibri" pitchFamily="34" charset="0"/>
                <a:ea typeface="Calibri" pitchFamily="34" charset="-122"/>
                <a:cs typeface="Calibri" pitchFamily="34" charset="-120"/>
              </a:rPr>
              <a:t>All three agents use models from the same company</a:t>
            </a:r>
            <a:endParaRPr lang="en-US" sz="1500" dirty="0"/>
          </a:p>
        </p:txBody>
      </p:sp>
      <p:sp>
        <p:nvSpPr>
          <p:cNvPr id="7" name="Text 5"/>
          <p:cNvSpPr/>
          <p:nvPr/>
        </p:nvSpPr>
        <p:spPr>
          <a:xfrm>
            <a:off x="548640" y="4178808"/>
            <a:ext cx="10972800" cy="502920"/>
          </a:xfrm>
          <a:prstGeom prst="rect">
            <a:avLst/>
          </a:prstGeom>
          <a:noFill/>
          <a:ln/>
        </p:spPr>
        <p:txBody>
          <a:bodyPr wrap="square" lIns="0" tIns="0" rIns="0" bIns="0" rtlCol="0" anchor="ctr"/>
          <a:lstStyle/>
          <a:p>
            <a:pPr marL="342900" indent="-342900">
              <a:buSzPct val="100000"/>
              <a:buChar char="•"/>
            </a:pPr>
            <a:r>
              <a:rPr lang="en-US" sz="1500">
                <a:solidFill>
                  <a:srgbClr val="1A1A1A"/>
                </a:solidFill>
                <a:latin typeface="Calibri"/>
                <a:ea typeface="Calibri"/>
                <a:cs typeface="Calibri"/>
              </a:rPr>
              <a:t>No seizure-type labels yet - detection only</a:t>
            </a:r>
            <a:endParaRPr lang="en-US" sz="1500">
              <a:latin typeface="Calibri"/>
              <a:ea typeface="Calibri"/>
              <a:cs typeface="Calibri"/>
            </a:endParaRPr>
          </a:p>
        </p:txBody>
      </p:sp>
      <p:sp>
        <p:nvSpPr>
          <p:cNvPr id="8" name="Text 6"/>
          <p:cNvSpPr/>
          <p:nvPr/>
        </p:nvSpPr>
        <p:spPr>
          <a:xfrm>
            <a:off x="548640" y="4745736"/>
            <a:ext cx="10972800" cy="502920"/>
          </a:xfrm>
          <a:prstGeom prst="rect">
            <a:avLst/>
          </a:prstGeom>
          <a:noFill/>
          <a:ln/>
        </p:spPr>
        <p:txBody>
          <a:bodyPr wrap="square" lIns="0" tIns="0" rIns="0" bIns="0" rtlCol="0" anchor="ctr"/>
          <a:lstStyle/>
          <a:p>
            <a:pPr marL="342900" indent="-342900">
              <a:buSzPct val="100000"/>
              <a:buChar char="•"/>
            </a:pPr>
            <a:r>
              <a:rPr lang="en-US" sz="1500">
                <a:solidFill>
                  <a:srgbClr val="1A1A1A"/>
                </a:solidFill>
                <a:latin typeface="Calibri"/>
                <a:ea typeface="Calibri"/>
                <a:cs typeface="Calibri"/>
              </a:rPr>
              <a:t>Only 2 patients, 8 windows - illustrative, not validated</a:t>
            </a:r>
            <a:endParaRPr lang="en-US" sz="1500">
              <a:latin typeface="Calibri"/>
              <a:ea typeface="Calibri"/>
              <a:cs typeface="Calibri"/>
            </a:endParaRPr>
          </a:p>
        </p:txBody>
      </p:sp>
      <p:sp>
        <p:nvSpPr>
          <p:cNvPr id="9" name="Text 7"/>
          <p:cNvSpPr/>
          <p:nvPr/>
        </p:nvSpPr>
        <p:spPr>
          <a:xfrm>
            <a:off x="548640" y="5312664"/>
            <a:ext cx="10972800" cy="502920"/>
          </a:xfrm>
          <a:prstGeom prst="rect">
            <a:avLst/>
          </a:prstGeom>
          <a:noFill/>
          <a:ln/>
        </p:spPr>
        <p:txBody>
          <a:bodyPr wrap="square" lIns="0" tIns="0" rIns="0" bIns="0" rtlCol="0" anchor="ctr"/>
          <a:lstStyle/>
          <a:p>
            <a:pPr marL="342900" indent="-342900">
              <a:buSzPct val="100000"/>
              <a:buChar char="•"/>
            </a:pPr>
            <a:r>
              <a:rPr lang="en-US" sz="1500" dirty="0">
                <a:solidFill>
                  <a:srgbClr val="1A1A1A"/>
                </a:solidFill>
                <a:latin typeface="Calibri" pitchFamily="34" charset="0"/>
                <a:ea typeface="Calibri" pitchFamily="34" charset="-122"/>
                <a:cs typeface="Calibri" pitchFamily="34" charset="-120"/>
              </a:rPr>
              <a:t>No clinician has reviewed the outputs</a:t>
            </a:r>
            <a:endParaRPr lang="en-US" sz="1500" dirty="0"/>
          </a:p>
        </p:txBody>
      </p:sp>
      <p:sp>
        <p:nvSpPr>
          <p:cNvPr id="10" name="Text 8"/>
          <p:cNvSpPr/>
          <p:nvPr/>
        </p:nvSpPr>
        <p:spPr>
          <a:xfrm>
            <a:off x="11521440" y="6446520"/>
            <a:ext cx="457200" cy="320040"/>
          </a:xfrm>
          <a:prstGeom prst="rect">
            <a:avLst/>
          </a:prstGeom>
          <a:noFill/>
          <a:ln/>
        </p:spPr>
        <p:txBody>
          <a:bodyPr wrap="square" lIns="0" tIns="0" rIns="0" bIns="0" rtlCol="0" anchor="ctr"/>
          <a:lstStyle/>
          <a:p>
            <a:pPr marL="0" indent="0" algn="r">
              <a:buNone/>
            </a:pPr>
            <a:r>
              <a:rPr lang="en-US" sz="1000" dirty="0">
                <a:solidFill>
                  <a:srgbClr val="5A6B7A"/>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822960"/>
          </a:xfrm>
          <a:prstGeom prst="rect">
            <a:avLst/>
          </a:prstGeom>
          <a:noFill/>
          <a:ln/>
        </p:spPr>
        <p:txBody>
          <a:bodyPr wrap="square" lIns="0" tIns="0" rIns="0" bIns="0" rtlCol="0" anchor="ctr"/>
          <a:lstStyle/>
          <a:p>
            <a:pPr marL="0" indent="0" algn="l">
              <a:buNone/>
            </a:pPr>
            <a:r>
              <a:rPr lang="en-US" sz="3200" b="1" dirty="0">
                <a:solidFill>
                  <a:srgbClr val="21295C"/>
                </a:solidFill>
                <a:latin typeface="Cambria" pitchFamily="34" charset="0"/>
                <a:ea typeface="Cambria" pitchFamily="34" charset="-122"/>
                <a:cs typeface="Cambria" pitchFamily="34" charset="-120"/>
              </a:rPr>
              <a:t>Future Directions</a:t>
            </a:r>
            <a:endParaRPr lang="en-US" sz="3200" dirty="0"/>
          </a:p>
        </p:txBody>
      </p:sp>
      <p:sp>
        <p:nvSpPr>
          <p:cNvPr id="3" name="Shape 1"/>
          <p:cNvSpPr/>
          <p:nvPr/>
        </p:nvSpPr>
        <p:spPr>
          <a:xfrm>
            <a:off x="548640" y="1463040"/>
            <a:ext cx="5303520" cy="2103120"/>
          </a:xfrm>
          <a:prstGeom prst="roundRect">
            <a:avLst>
              <a:gd name="adj" fmla="val 3478"/>
            </a:avLst>
          </a:prstGeom>
          <a:solidFill>
            <a:srgbClr val="F7FAFC"/>
          </a:solidFill>
          <a:ln/>
        </p:spPr>
      </p:sp>
      <p:sp>
        <p:nvSpPr>
          <p:cNvPr id="4" name="Text 2"/>
          <p:cNvSpPr/>
          <p:nvPr/>
        </p:nvSpPr>
        <p:spPr>
          <a:xfrm>
            <a:off x="822960" y="1645920"/>
            <a:ext cx="4754880" cy="457200"/>
          </a:xfrm>
          <a:prstGeom prst="rect">
            <a:avLst/>
          </a:prstGeom>
          <a:noFill/>
          <a:ln/>
        </p:spPr>
        <p:txBody>
          <a:bodyPr wrap="square" lIns="0" tIns="0" rIns="0" bIns="0" rtlCol="0" anchor="ctr"/>
          <a:lstStyle/>
          <a:p>
            <a:pPr marL="0" indent="0">
              <a:buNone/>
            </a:pPr>
            <a:r>
              <a:rPr lang="en-US" sz="1700" b="1" dirty="0">
                <a:solidFill>
                  <a:srgbClr val="065A82"/>
                </a:solidFill>
                <a:latin typeface="Cambria" pitchFamily="34" charset="0"/>
                <a:ea typeface="Cambria" pitchFamily="34" charset="-122"/>
                <a:cs typeface="Cambria" pitchFamily="34" charset="-120"/>
              </a:rPr>
              <a:t>Real seizure-type labels</a:t>
            </a:r>
            <a:endParaRPr lang="en-US" sz="1700" dirty="0"/>
          </a:p>
        </p:txBody>
      </p:sp>
      <p:sp>
        <p:nvSpPr>
          <p:cNvPr id="5" name="Text 3"/>
          <p:cNvSpPr/>
          <p:nvPr/>
        </p:nvSpPr>
        <p:spPr>
          <a:xfrm>
            <a:off x="822960" y="2148840"/>
            <a:ext cx="4754880" cy="1280160"/>
          </a:xfrm>
          <a:prstGeom prst="rect">
            <a:avLst/>
          </a:prstGeom>
          <a:noFill/>
          <a:ln/>
        </p:spPr>
        <p:txBody>
          <a:bodyPr wrap="square" lIns="0" tIns="0" rIns="0" bIns="0" rtlCol="0" anchor="t"/>
          <a:lstStyle/>
          <a:p>
            <a:pPr marL="0" indent="0">
              <a:buNone/>
            </a:pPr>
            <a:r>
              <a:rPr lang="en-US" sz="1350" dirty="0">
                <a:solidFill>
                  <a:srgbClr val="1A1A1A"/>
                </a:solidFill>
                <a:latin typeface="Calibri" pitchFamily="34" charset="0"/>
                <a:ea typeface="Calibri" pitchFamily="34" charset="-122"/>
                <a:cs typeface="Calibri" pitchFamily="34" charset="-120"/>
              </a:rPr>
              <a:t>Use a dataset like Siena or TUSZ, which have real clinician-diagnosed seizure types, not just detection labels.</a:t>
            </a:r>
            <a:endParaRPr lang="en-US" sz="1350" dirty="0"/>
          </a:p>
        </p:txBody>
      </p:sp>
      <p:sp>
        <p:nvSpPr>
          <p:cNvPr id="6" name="Shape 4"/>
          <p:cNvSpPr/>
          <p:nvPr/>
        </p:nvSpPr>
        <p:spPr>
          <a:xfrm>
            <a:off x="6217920" y="1463040"/>
            <a:ext cx="5303520" cy="2103120"/>
          </a:xfrm>
          <a:prstGeom prst="roundRect">
            <a:avLst>
              <a:gd name="adj" fmla="val 3478"/>
            </a:avLst>
          </a:prstGeom>
          <a:solidFill>
            <a:srgbClr val="F7FAFC"/>
          </a:solidFill>
          <a:ln/>
        </p:spPr>
      </p:sp>
      <p:sp>
        <p:nvSpPr>
          <p:cNvPr id="7" name="Text 5"/>
          <p:cNvSpPr/>
          <p:nvPr/>
        </p:nvSpPr>
        <p:spPr>
          <a:xfrm>
            <a:off x="6492240" y="1645920"/>
            <a:ext cx="4754880" cy="457200"/>
          </a:xfrm>
          <a:prstGeom prst="rect">
            <a:avLst/>
          </a:prstGeom>
          <a:noFill/>
          <a:ln/>
        </p:spPr>
        <p:txBody>
          <a:bodyPr wrap="square" lIns="0" tIns="0" rIns="0" bIns="0" rtlCol="0" anchor="ctr"/>
          <a:lstStyle/>
          <a:p>
            <a:pPr marL="0" indent="0">
              <a:buNone/>
            </a:pPr>
            <a:r>
              <a:rPr lang="en-US" sz="1700" b="1" dirty="0">
                <a:solidFill>
                  <a:srgbClr val="065A82"/>
                </a:solidFill>
                <a:latin typeface="Cambria" pitchFamily="34" charset="0"/>
                <a:ea typeface="Cambria" pitchFamily="34" charset="-122"/>
                <a:cs typeface="Cambria" pitchFamily="34" charset="-120"/>
              </a:rPr>
              <a:t>True model diversity</a:t>
            </a:r>
            <a:endParaRPr lang="en-US" sz="1700" dirty="0"/>
          </a:p>
        </p:txBody>
      </p:sp>
      <p:sp>
        <p:nvSpPr>
          <p:cNvPr id="8" name="Text 6"/>
          <p:cNvSpPr/>
          <p:nvPr/>
        </p:nvSpPr>
        <p:spPr>
          <a:xfrm>
            <a:off x="6492240" y="2148840"/>
            <a:ext cx="4754880" cy="1280160"/>
          </a:xfrm>
          <a:prstGeom prst="rect">
            <a:avLst/>
          </a:prstGeom>
          <a:noFill/>
          <a:ln/>
        </p:spPr>
        <p:txBody>
          <a:bodyPr wrap="square" lIns="0" tIns="0" rIns="0" bIns="0" rtlCol="0" anchor="t"/>
          <a:lstStyle/>
          <a:p>
            <a:pPr marL="0" indent="0">
              <a:buNone/>
            </a:pPr>
            <a:r>
              <a:rPr lang="en-US" sz="1350" dirty="0">
                <a:solidFill>
                  <a:srgbClr val="1A1A1A"/>
                </a:solidFill>
                <a:latin typeface="Calibri" pitchFamily="34" charset="0"/>
                <a:ea typeface="Calibri" pitchFamily="34" charset="-122"/>
                <a:cs typeface="Calibri" pitchFamily="34" charset="-120"/>
              </a:rPr>
              <a:t>Add agents built on models from more than one company for genuinely independent opinions.</a:t>
            </a:r>
            <a:endParaRPr lang="en-US" sz="1350" dirty="0"/>
          </a:p>
        </p:txBody>
      </p:sp>
      <p:sp>
        <p:nvSpPr>
          <p:cNvPr id="9" name="Shape 7"/>
          <p:cNvSpPr/>
          <p:nvPr/>
        </p:nvSpPr>
        <p:spPr>
          <a:xfrm>
            <a:off x="548640" y="3840480"/>
            <a:ext cx="5303520" cy="2103120"/>
          </a:xfrm>
          <a:prstGeom prst="roundRect">
            <a:avLst>
              <a:gd name="adj" fmla="val 3478"/>
            </a:avLst>
          </a:prstGeom>
          <a:solidFill>
            <a:srgbClr val="F7FAFC"/>
          </a:solidFill>
          <a:ln/>
        </p:spPr>
      </p:sp>
      <p:sp>
        <p:nvSpPr>
          <p:cNvPr id="10" name="Text 8"/>
          <p:cNvSpPr/>
          <p:nvPr/>
        </p:nvSpPr>
        <p:spPr>
          <a:xfrm>
            <a:off x="822960" y="4023360"/>
            <a:ext cx="4754880" cy="457200"/>
          </a:xfrm>
          <a:prstGeom prst="rect">
            <a:avLst/>
          </a:prstGeom>
          <a:noFill/>
          <a:ln/>
        </p:spPr>
        <p:txBody>
          <a:bodyPr wrap="square" lIns="0" tIns="0" rIns="0" bIns="0" rtlCol="0" anchor="ctr"/>
          <a:lstStyle/>
          <a:p>
            <a:pPr marL="0" indent="0">
              <a:buNone/>
            </a:pPr>
            <a:r>
              <a:rPr lang="en-US" sz="1700" b="1" dirty="0">
                <a:solidFill>
                  <a:srgbClr val="065A82"/>
                </a:solidFill>
                <a:latin typeface="Cambria" pitchFamily="34" charset="0"/>
                <a:ea typeface="Cambria" pitchFamily="34" charset="-122"/>
                <a:cs typeface="Cambria" pitchFamily="34" charset="-120"/>
              </a:rPr>
              <a:t>A medication agent</a:t>
            </a:r>
            <a:endParaRPr lang="en-US" sz="1700" dirty="0"/>
          </a:p>
        </p:txBody>
      </p:sp>
      <p:sp>
        <p:nvSpPr>
          <p:cNvPr id="11" name="Text 9"/>
          <p:cNvSpPr/>
          <p:nvPr/>
        </p:nvSpPr>
        <p:spPr>
          <a:xfrm>
            <a:off x="822960" y="4526280"/>
            <a:ext cx="4754880" cy="1280160"/>
          </a:xfrm>
          <a:prstGeom prst="rect">
            <a:avLst/>
          </a:prstGeom>
          <a:noFill/>
          <a:ln/>
        </p:spPr>
        <p:txBody>
          <a:bodyPr wrap="square" lIns="0" tIns="0" rIns="0" bIns="0" rtlCol="0" anchor="t"/>
          <a:lstStyle/>
          <a:p>
            <a:pPr marL="0" indent="0">
              <a:buNone/>
            </a:pPr>
            <a:r>
              <a:rPr lang="en-US" sz="1350" dirty="0">
                <a:solidFill>
                  <a:srgbClr val="1A1A1A"/>
                </a:solidFill>
                <a:latin typeface="Calibri" pitchFamily="34" charset="0"/>
                <a:ea typeface="Calibri" pitchFamily="34" charset="-122"/>
                <a:cs typeface="Calibri" pitchFamily="34" charset="-120"/>
              </a:rPr>
              <a:t>A fourth agent grounded in published treatment guidelines, once seizure type is known.</a:t>
            </a:r>
            <a:endParaRPr lang="en-US" sz="1350" dirty="0"/>
          </a:p>
        </p:txBody>
      </p:sp>
      <p:sp>
        <p:nvSpPr>
          <p:cNvPr id="12" name="Shape 10"/>
          <p:cNvSpPr/>
          <p:nvPr/>
        </p:nvSpPr>
        <p:spPr>
          <a:xfrm>
            <a:off x="6217920" y="3840480"/>
            <a:ext cx="5303520" cy="2103120"/>
          </a:xfrm>
          <a:prstGeom prst="roundRect">
            <a:avLst>
              <a:gd name="adj" fmla="val 3478"/>
            </a:avLst>
          </a:prstGeom>
          <a:solidFill>
            <a:srgbClr val="F7FAFC"/>
          </a:solidFill>
          <a:ln/>
        </p:spPr>
      </p:sp>
      <p:sp>
        <p:nvSpPr>
          <p:cNvPr id="13" name="Text 11"/>
          <p:cNvSpPr/>
          <p:nvPr/>
        </p:nvSpPr>
        <p:spPr>
          <a:xfrm>
            <a:off x="6492240" y="4023360"/>
            <a:ext cx="4754880" cy="457200"/>
          </a:xfrm>
          <a:prstGeom prst="rect">
            <a:avLst/>
          </a:prstGeom>
          <a:noFill/>
          <a:ln/>
        </p:spPr>
        <p:txBody>
          <a:bodyPr wrap="square" lIns="0" tIns="0" rIns="0" bIns="0" rtlCol="0" anchor="ctr"/>
          <a:lstStyle/>
          <a:p>
            <a:r>
              <a:rPr lang="en-US" sz="1700" b="1" dirty="0">
                <a:solidFill>
                  <a:srgbClr val="065A82"/>
                </a:solidFill>
                <a:latin typeface="Cambria"/>
                <a:ea typeface="Cambria"/>
                <a:cs typeface="Cambria" pitchFamily="34" charset="-120"/>
              </a:rPr>
              <a:t>Rebuild with </a:t>
            </a:r>
            <a:r>
              <a:rPr lang="en-US" sz="1700" b="1">
                <a:solidFill>
                  <a:srgbClr val="065A82"/>
                </a:solidFill>
                <a:latin typeface="Cambria"/>
                <a:ea typeface="Cambria"/>
                <a:cs typeface="Cambria" pitchFamily="34" charset="-120"/>
              </a:rPr>
              <a:t>Agent </a:t>
            </a:r>
            <a:r>
              <a:rPr lang="en-US" sz="1700" b="1" dirty="0">
                <a:solidFill>
                  <a:srgbClr val="065A82"/>
                </a:solidFill>
                <a:latin typeface="Cambria"/>
                <a:ea typeface="Cambria"/>
                <a:cs typeface="Cambria" pitchFamily="34" charset="-120"/>
              </a:rPr>
              <a:t>framework</a:t>
            </a:r>
            <a:endParaRPr lang="en-US" sz="1700" dirty="0"/>
          </a:p>
        </p:txBody>
      </p:sp>
      <p:sp>
        <p:nvSpPr>
          <p:cNvPr id="14" name="Text 12"/>
          <p:cNvSpPr/>
          <p:nvPr/>
        </p:nvSpPr>
        <p:spPr>
          <a:xfrm>
            <a:off x="6492240" y="4526280"/>
            <a:ext cx="4754880" cy="1280160"/>
          </a:xfrm>
          <a:prstGeom prst="rect">
            <a:avLst/>
          </a:prstGeom>
          <a:noFill/>
          <a:ln/>
        </p:spPr>
        <p:txBody>
          <a:bodyPr wrap="square" lIns="0" tIns="0" rIns="0" bIns="0" rtlCol="0" anchor="t"/>
          <a:lstStyle/>
          <a:p>
            <a:r>
              <a:rPr lang="en-US" sz="1350" dirty="0">
                <a:solidFill>
                  <a:srgbClr val="1A1A1A"/>
                </a:solidFill>
                <a:latin typeface="Calibri"/>
                <a:ea typeface="Calibri"/>
                <a:cs typeface="Calibri"/>
              </a:rPr>
              <a:t>Use a framework built specifically for multi-agent conversation instead of orchestration in </a:t>
            </a:r>
            <a:r>
              <a:rPr lang="en-US" sz="1350">
                <a:solidFill>
                  <a:srgbClr val="1A1A1A"/>
                </a:solidFill>
                <a:latin typeface="Calibri"/>
                <a:ea typeface="Calibri"/>
                <a:cs typeface="Calibri"/>
              </a:rPr>
              <a:t>the code.</a:t>
            </a:r>
            <a:endParaRPr lang="en-US" sz="1350" dirty="0">
              <a:latin typeface="Calibri"/>
              <a:ea typeface="Calibri"/>
              <a:cs typeface="Calibri"/>
            </a:endParaRPr>
          </a:p>
        </p:txBody>
      </p:sp>
      <p:sp>
        <p:nvSpPr>
          <p:cNvPr id="15" name="Text 13"/>
          <p:cNvSpPr/>
          <p:nvPr/>
        </p:nvSpPr>
        <p:spPr>
          <a:xfrm>
            <a:off x="11521440" y="6446520"/>
            <a:ext cx="457200" cy="320040"/>
          </a:xfrm>
          <a:prstGeom prst="rect">
            <a:avLst/>
          </a:prstGeom>
          <a:noFill/>
          <a:ln/>
        </p:spPr>
        <p:txBody>
          <a:bodyPr wrap="square" lIns="0" tIns="0" rIns="0" bIns="0" rtlCol="0" anchor="ctr"/>
          <a:lstStyle/>
          <a:p>
            <a:pPr marL="0" indent="0" algn="r">
              <a:buNone/>
            </a:pPr>
            <a:r>
              <a:rPr lang="en-US" sz="1000" dirty="0">
                <a:solidFill>
                  <a:srgbClr val="5A6B7A"/>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1295C"/>
        </a:solidFill>
        <a:effectLst/>
      </p:bgPr>
    </p:bg>
    <p:spTree>
      <p:nvGrpSpPr>
        <p:cNvPr id="1" name=""/>
        <p:cNvGrpSpPr/>
        <p:nvPr/>
      </p:nvGrpSpPr>
      <p:grpSpPr>
        <a:xfrm>
          <a:off x="0" y="0"/>
          <a:ext cx="0" cy="0"/>
          <a:chOff x="0" y="0"/>
          <a:chExt cx="0" cy="0"/>
        </a:xfrm>
      </p:grpSpPr>
      <p:sp>
        <p:nvSpPr>
          <p:cNvPr id="2" name="Text 0"/>
          <p:cNvSpPr/>
          <p:nvPr/>
        </p:nvSpPr>
        <p:spPr>
          <a:xfrm>
            <a:off x="731520" y="731520"/>
            <a:ext cx="10698480" cy="73152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Conclusion</a:t>
            </a:r>
            <a:endParaRPr lang="en-US" sz="3400" dirty="0"/>
          </a:p>
        </p:txBody>
      </p:sp>
      <p:sp>
        <p:nvSpPr>
          <p:cNvPr id="3" name="Text 1"/>
          <p:cNvSpPr/>
          <p:nvPr/>
        </p:nvSpPr>
        <p:spPr>
          <a:xfrm>
            <a:off x="1371600" y="2194560"/>
            <a:ext cx="9418320" cy="1645920"/>
          </a:xfrm>
          <a:prstGeom prst="rect">
            <a:avLst/>
          </a:prstGeom>
          <a:noFill/>
          <a:ln/>
        </p:spPr>
        <p:txBody>
          <a:bodyPr wrap="square" lIns="0" tIns="0" rIns="0" bIns="0" rtlCol="0" anchor="t"/>
          <a:lstStyle/>
          <a:p>
            <a:pPr algn="ctr"/>
            <a:r>
              <a:rPr lang="en-US" sz="1900" err="1">
                <a:solidFill>
                  <a:srgbClr val="CADCFC"/>
                </a:solidFill>
                <a:latin typeface="Calibri"/>
                <a:ea typeface="Calibri"/>
                <a:cs typeface="Calibri"/>
              </a:rPr>
              <a:t>NeuroAgent</a:t>
            </a:r>
            <a:r>
              <a:rPr lang="en-US" sz="1900" dirty="0">
                <a:solidFill>
                  <a:srgbClr val="CADCFC"/>
                </a:solidFill>
                <a:latin typeface="Calibri"/>
                <a:ea typeface="Calibri"/>
                <a:cs typeface="Calibri"/>
              </a:rPr>
              <a:t> shows that a small team of AI specialists can surface genuine, explainable </a:t>
            </a:r>
            <a:r>
              <a:rPr lang="en-US" sz="1900">
                <a:solidFill>
                  <a:srgbClr val="CADCFC"/>
                </a:solidFill>
                <a:latin typeface="Calibri"/>
                <a:ea typeface="Calibri"/>
                <a:cs typeface="Calibri"/>
              </a:rPr>
              <a:t>disagreement in EEG review - and that a shared blind spot between an AI agent and a classical </a:t>
            </a:r>
            <a:r>
              <a:rPr lang="en-US" sz="1900" dirty="0">
                <a:solidFill>
                  <a:srgbClr val="CADCFC"/>
                </a:solidFill>
                <a:latin typeface="Calibri"/>
                <a:ea typeface="Calibri"/>
                <a:cs typeface="Calibri"/>
              </a:rPr>
              <a:t>model can point to a real gap in the data, not just noise.</a:t>
            </a:r>
            <a:endParaRPr lang="en-US" sz="1900" dirty="0">
              <a:latin typeface="Calibri"/>
              <a:ea typeface="Calibri"/>
              <a:cs typeface="Calibri"/>
            </a:endParaRPr>
          </a:p>
        </p:txBody>
      </p:sp>
      <p:sp>
        <p:nvSpPr>
          <p:cNvPr id="4" name="Text 2"/>
          <p:cNvSpPr/>
          <p:nvPr/>
        </p:nvSpPr>
        <p:spPr>
          <a:xfrm>
            <a:off x="1371600" y="4023360"/>
            <a:ext cx="9418320" cy="731520"/>
          </a:xfrm>
          <a:prstGeom prst="rect">
            <a:avLst/>
          </a:prstGeom>
          <a:noFill/>
          <a:ln/>
        </p:spPr>
        <p:txBody>
          <a:bodyPr wrap="square" lIns="0" tIns="0" rIns="0" bIns="0" rtlCol="0" anchor="ctr"/>
          <a:lstStyle/>
          <a:p>
            <a:pPr algn="ctr"/>
            <a:r>
              <a:rPr lang="en-US" sz="1500" i="1">
                <a:solidFill>
                  <a:srgbClr val="9FB3D9"/>
                </a:solidFill>
                <a:latin typeface="Calibri"/>
                <a:ea typeface="Calibri"/>
                <a:cs typeface="Calibri"/>
              </a:rPr>
              <a:t>It's a research prototype,  and not a replacement for a real doctor's judgment.</a:t>
            </a:r>
            <a:endParaRPr lang="en-US" sz="1500">
              <a:latin typeface="Calibri"/>
              <a:ea typeface="Calibri"/>
              <a:cs typeface="Calibri"/>
            </a:endParaRPr>
          </a:p>
        </p:txBody>
      </p:sp>
      <p:sp>
        <p:nvSpPr>
          <p:cNvPr id="5" name="Text 3"/>
          <p:cNvSpPr/>
          <p:nvPr/>
        </p:nvSpPr>
        <p:spPr>
          <a:xfrm>
            <a:off x="1371600" y="5303520"/>
            <a:ext cx="9418320" cy="457200"/>
          </a:xfrm>
          <a:prstGeom prst="rect">
            <a:avLst/>
          </a:prstGeom>
          <a:noFill/>
          <a:ln/>
        </p:spPr>
        <p:txBody>
          <a:bodyPr wrap="square" lIns="0" tIns="0" rIns="0" bIns="0" rtlCol="0" anchor="ctr"/>
          <a:lstStyle/>
          <a:p>
            <a:pPr marL="0" indent="0" algn="ctr">
              <a:buNone/>
            </a:pPr>
            <a:r>
              <a:rPr lang="en-US" sz="1400" dirty="0">
                <a:solidFill>
                  <a:srgbClr val="9FB3D9"/>
                </a:solidFill>
                <a:latin typeface="Calibri" pitchFamily="34" charset="0"/>
                <a:ea typeface="Calibri" pitchFamily="34" charset="-122"/>
                <a:cs typeface="Calibri" pitchFamily="34" charset="-120"/>
              </a:rPr>
              <a:t>Code submitted as a Colab notebook alongside this presentation</a:t>
            </a:r>
            <a:endParaRPr lang="en-US" sz="1400" dirty="0"/>
          </a:p>
        </p:txBody>
      </p:sp>
      <p:sp>
        <p:nvSpPr>
          <p:cNvPr id="6" name="Text 4"/>
          <p:cNvSpPr/>
          <p:nvPr/>
        </p:nvSpPr>
        <p:spPr>
          <a:xfrm>
            <a:off x="1371600" y="5852160"/>
            <a:ext cx="941832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Thank you</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29</cp:revision>
  <dcterms:created xsi:type="dcterms:W3CDTF">2026-08-02T14:55:34Z</dcterms:created>
  <dcterms:modified xsi:type="dcterms:W3CDTF">2026-08-03T00:21:46Z</dcterms:modified>
</cp:coreProperties>
</file>